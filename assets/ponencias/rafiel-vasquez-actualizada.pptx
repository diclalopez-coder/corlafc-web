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78" r:id="rId2"/>
  </p:sldMasterIdLst>
  <p:notesMasterIdLst>
    <p:notesMasterId r:id="rId16"/>
  </p:notesMasterIdLst>
  <p:sldIdLst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5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8EC40-3FAC-47B6-A48A-3602DB2A62D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30713-BD76-4EE1-91D5-7B1AEACEDD0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337499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al congreso. Presentarse: Asesora Técnica con 18 años en el sector. Mencionar que la presentación conecta la transparencia operativa con la interoperabilidad institucional como herramientas concretas de prevención.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0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brevemente la agenda. Destacar que el hilo conductor es la interoperabilidad al final como solución sistémica.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de apertura fuerte. El fraude no es incidental — es sistémico cuando falta trazabilidad. En RD no tenemos aún un repositorio centralizado de alertas de fraude, a diferencia de mercados como España, Colombia o Brasil.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80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ancla el argumento en cifras concretas dominicanas. La estimación de RD$10,000MM aplica el benchmark IAIS (10% de primas) a los datos reales de la SIS. Fuentes: SIS Informe Estadístico 2023, UAF Informe Estadístico 2023. 148 corredores capacitados muestra voluntad del sector — pero la capacitación sin infraestructura compartida es insuficiente.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07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la Ley 155-17 ya obliga a las aseguradoras como sujetos obligados. El anteproyecto de nueva ley eleva significativamente las obligaciones de gobierno corporativo y sanciones. La combinación de ambos marcos crea una arquitectura normativa sólida — si se aplica con trazabilidad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27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5 etapas del ciclo de vida de la póliza son los puntos críticos de control. Cada una requiere registros auditables, identificación del beneficiario final y vinculación con sistemas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73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trazabilidad no es burocracia — es evidencia. Un expediente sin trazabilidad no puede investigarse eficientemente. En mercados maduros como UK y Australia, la trazabilidad digital redujo el fraude en reclamaciones en más de un 20% en 3 años.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14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argumento central: la trazabilidad interna de cada aseguradora no es suficiente. En reclamaciones de autos: la denuncia ante DIGESETT y la Policía Nacional debe cruzarse con el expediente del siniestro. En incendios y riesgos generales: el informe del Cuerpo de Bomberos es evidencia clave que hoy no fluye al regulador. El anteproyecto de ley y la Ley 155-17 crean el mandato — la interoperabilidad digital es la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90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trazabilidad no puede ser solo obligación regulatoria — debe ser un proyecto de industria. Proponer la creación de un comité técnico sectorial con la UAF como punto focal y la SIS como árbitro.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576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hoja de ruta es la propuesta concreta. Puede adaptarse al Plan Estratégico de la Superintendencia 2026–2029. La Fase 1 es ejecutable bajo el marco actual — no requiere esperar la nueva 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32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fuerte. Invitar a la reflexión: ¿Qué compromiso concreto podemos asumir hoy como sector? Mencionar la disposición de la Superintendencia a liderar el espacio de coordinación interinstitucional.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63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espacio para preguntas. Mencionar disposición a compartir la presentación y profundizar en los mecanismos técnicos de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08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4EB91-2E12-4A97-997A-60FFCC33D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92B27-4AE2-41C8-9BCE-D800E7F23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20A37D-FC77-4621-A4EC-3B81F562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6CCE30-820D-4B95-A8D3-94E65983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9E0C3-CF29-44D1-8083-78E04AC0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3480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711DB-F755-4765-BC34-3B32CF6F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BE829F-3BC6-4AEF-B03F-B5B935BD0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2206F-8EF6-4947-9745-CBD33E5C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808C6C-1A48-47DB-A770-AD47D1D8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A6FBF5-5C0C-471D-B986-A5CB053A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10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0D390-FED5-424A-8281-465994CA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268403-9DEC-42E9-9C7D-7310F0623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E6FD0C-DD09-4695-8977-DBE7989A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A7DE09-3487-4513-BA08-2B710215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F940-DF1D-44C1-B57A-2BAD012D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6538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569D3-C7A8-4F50-8BCD-165453BA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F8B53F-60FD-417B-AC70-1B1282386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D004CA-A039-4FD3-86CC-699AC9865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12C2D-DC3A-4430-B006-CCB051AF5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76AB33-22BD-4E8D-92A8-EC03E3374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817BE8-AFED-4491-AA5E-74100D5E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27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1A8D4-3850-4EF3-AEFA-1C0F8213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F9BA6-CF3F-4DC2-AA07-CD1646A70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C395B1-256D-4121-89AA-428368B8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25DFF3-9B11-4363-97C3-D1D93BF0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1552BC-FE28-4A2B-9CA5-5D22F539B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B2751F-8387-47A6-BEF5-66CBCC28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A318CDE-F8AB-4079-9359-8CB593A1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268172-5472-4CEF-B3FB-0A5977FB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26145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461DE-B172-4324-AF2B-A5A89A7D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30B0CC-D593-4A07-99C4-4022EEDB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D65562-5A63-4AEA-8BA6-ED8D66CA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6664D6-F2AE-4F56-B820-D0E91496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9921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5EBE64-AD53-48EB-B163-82EDD2B2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FBE285-64BE-4231-8019-46378F8B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DD714-26FC-4843-AFDA-3BC85D95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4735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1B005-1DE8-4C19-ADD8-6EE2E1EF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2B76A2-B1BA-452F-BF80-EEEADD4F3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4530B2-DCDD-465B-A96B-8385F7DF1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50F191-9C61-4F14-9BC2-E2D42340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0BB4C6-2807-4F09-9E91-0F2B8939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465DC2-6423-4C03-A0D0-F4F266A3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3000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FE87B-77DB-4742-B3D6-68BC51D7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FD0159B-9BC1-4668-A649-2B5B6944A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D070C6-6E26-4C7B-87AE-A43F99B3C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74CAFF-1D1E-4FFB-B3E5-B0A34D05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6073CA-8B3B-43D2-920F-9243FD01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9E799A-F809-4DC3-BCDC-FF7B8B11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2689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94B4E-7580-469D-882D-761B0B50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BDD7BB-C529-4F83-9E57-9C03244E1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66B8C2-A473-4F26-BF9C-738DB0B3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D2DD5-8941-4667-8DCA-08B88981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431671-FAD4-45DF-BDD0-857B5572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1788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D970D5-569A-4F16-8F2F-D22B88B7F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EF8F10-B96F-483C-BC8F-193F82F31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52D0C-DCC1-40B4-8A1F-8E2BC3AD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A0B6A8-D5AA-411C-B354-7C378376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AF0435-9F3B-44DE-AF60-2D09D66D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64201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55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5EBE64-AD53-48EB-B163-82EDD2B2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FBE285-64BE-4231-8019-46378F8B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DD714-26FC-4843-AFDA-3BC85D95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1232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3DD8E9-6452-49EB-B6BD-99798A8F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CEA81-30BC-4163-8835-5565F2F3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08B0ED-D486-4D81-81CA-79B2B1202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85D30E-914D-410E-8090-5DB0DA895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6D81C1-66CA-46E1-9A6E-986EBA4B7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5EAB9D-1EC8-4FFE-BF0A-E74AAAA8E6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3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85EAB9D-1EC8-4FFE-BF0A-E74AAAA8E6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5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AF1DD4-A4C4-44C0-841D-78740B067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0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8585775" y="1355888"/>
            <a:ext cx="3554849" cy="3556734"/>
          </a:xfrm>
          <a:prstGeom prst="ellipse">
            <a:avLst/>
          </a:prstGeom>
          <a:solidFill>
            <a:srgbClr val="1E4DB7">
              <a:alpha val="30000"/>
            </a:srgbClr>
          </a:solidFill>
          <a:ln w="19050">
            <a:solidFill>
              <a:srgbClr val="3B72D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967089" y="1638285"/>
            <a:ext cx="2792219" cy="3028518"/>
          </a:xfrm>
          <a:prstGeom prst="ellipse">
            <a:avLst/>
          </a:prstGeom>
          <a:solidFill>
            <a:srgbClr val="0B7A75">
              <a:alpha val="2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70560" y="426720"/>
            <a:ext cx="9144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67" dirty="0">
                <a:solidFill>
                  <a:srgbClr val="C9A84C"/>
                </a:solidFill>
              </a:rPr>
              <a:t>CONGRESO REGIONAL CONTRA LAVADO DE ACTIVOS, FRAUDE Y CORRUPCIÓN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0560" y="1158240"/>
            <a:ext cx="9509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Transparencia y Trazabilidad</a:t>
            </a:r>
            <a:endParaRPr lang="en-US" sz="4533" dirty="0"/>
          </a:p>
          <a:p>
            <a:r>
              <a:rPr lang="en-US" sz="4533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en las Operaciones de Seguros</a:t>
            </a:r>
            <a:endParaRPr lang="en-US" sz="4533" dirty="0"/>
          </a:p>
        </p:txBody>
      </p:sp>
      <p:sp>
        <p:nvSpPr>
          <p:cNvPr id="8" name="Text 6"/>
          <p:cNvSpPr/>
          <p:nvPr/>
        </p:nvSpPr>
        <p:spPr>
          <a:xfrm>
            <a:off x="670560" y="3368511"/>
            <a:ext cx="9144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en la Prevención del Fraude y la Corrupción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70560" y="4169664"/>
            <a:ext cx="79248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70560" y="4389120"/>
            <a:ext cx="9144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C9A84C"/>
                </a:solidFill>
              </a:rPr>
              <a:t>Asesora Técnica</a:t>
            </a:r>
            <a:endParaRPr lang="en-US" sz="1467" dirty="0"/>
          </a:p>
          <a:p>
            <a:r>
              <a:rPr lang="en-US" sz="1600" dirty="0">
                <a:solidFill>
                  <a:srgbClr val="FFFFFF"/>
                </a:solidFill>
              </a:rPr>
              <a:t>Superintendencia de Seguros de la República Dominicana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10363200" y="6027499"/>
            <a:ext cx="1584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b="1" dirty="0">
                <a:solidFill>
                  <a:srgbClr val="C9A84C"/>
                </a:solidFill>
              </a:rPr>
              <a:t>SIS — RD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7059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01440" cy="68580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0218" y="487680"/>
            <a:ext cx="2493818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kern="0" spc="400" dirty="0">
                <a:solidFill>
                  <a:srgbClr val="C9A84C"/>
                </a:solidFill>
              </a:rPr>
              <a:t>AGENDA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084320" y="7924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084320" y="792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01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4754880" y="1018771"/>
            <a:ext cx="71932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y corrupción en el sector asegurador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084320" y="1792224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084320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02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4815840" y="2075688"/>
            <a:ext cx="7010400" cy="172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ALA/CFT y nueva Ley de Seguros y Fianzas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084320" y="279196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084320" y="2791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03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4724400" y="2991197"/>
            <a:ext cx="71932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clave y puntos de riesgo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084320" y="3791712"/>
            <a:ext cx="548640" cy="548640"/>
          </a:xfrm>
          <a:prstGeom prst="ellipse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084320" y="3791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04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754880" y="3993804"/>
            <a:ext cx="71932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central de control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084320" y="4791456"/>
            <a:ext cx="548640" cy="548640"/>
          </a:xfrm>
          <a:prstGeom prst="ellipse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4084320" y="4791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05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4724400" y="4974336"/>
            <a:ext cx="71932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sistema regulatorio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084320" y="5791200"/>
            <a:ext cx="548640" cy="548640"/>
          </a:xfrm>
          <a:prstGeom prst="ellipse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4084320" y="5791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06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4754880" y="5577840"/>
            <a:ext cx="71932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54880" y="5870448"/>
            <a:ext cx="71932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acción concreta</a:t>
            </a:r>
            <a:endParaRPr lang="en-US" sz="2000" dirty="0"/>
          </a:p>
        </p:txBody>
      </p:sp>
      <p:sp>
        <p:nvSpPr>
          <p:cNvPr id="29" name="Text 5"/>
          <p:cNvSpPr/>
          <p:nvPr/>
        </p:nvSpPr>
        <p:spPr>
          <a:xfrm>
            <a:off x="4754880" y="615696"/>
            <a:ext cx="71932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000" dirty="0"/>
          </a:p>
        </p:txBody>
      </p:sp>
      <p:sp>
        <p:nvSpPr>
          <p:cNvPr id="30" name="Text 9"/>
          <p:cNvSpPr/>
          <p:nvPr/>
        </p:nvSpPr>
        <p:spPr>
          <a:xfrm>
            <a:off x="4754880" y="1615440"/>
            <a:ext cx="71932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</a:t>
            </a:r>
            <a:endParaRPr lang="en-US" sz="2000" dirty="0"/>
          </a:p>
        </p:txBody>
      </p:sp>
      <p:sp>
        <p:nvSpPr>
          <p:cNvPr id="31" name="Text 13"/>
          <p:cNvSpPr/>
          <p:nvPr/>
        </p:nvSpPr>
        <p:spPr>
          <a:xfrm>
            <a:off x="4724400" y="2649407"/>
            <a:ext cx="71932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2000" dirty="0"/>
          </a:p>
        </p:txBody>
      </p:sp>
      <p:sp>
        <p:nvSpPr>
          <p:cNvPr id="32" name="Text 17"/>
          <p:cNvSpPr/>
          <p:nvPr/>
        </p:nvSpPr>
        <p:spPr>
          <a:xfrm>
            <a:off x="4754880" y="3639497"/>
            <a:ext cx="71932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2000" dirty="0"/>
          </a:p>
        </p:txBody>
      </p:sp>
      <p:sp>
        <p:nvSpPr>
          <p:cNvPr id="33" name="Text 21"/>
          <p:cNvSpPr/>
          <p:nvPr/>
        </p:nvSpPr>
        <p:spPr>
          <a:xfrm>
            <a:off x="4724400" y="4645152"/>
            <a:ext cx="71932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0862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341376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enfrentamos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87680" y="1584960"/>
            <a:ext cx="3596640" cy="2438400"/>
          </a:xfrm>
          <a:prstGeom prst="roundRect">
            <a:avLst>
              <a:gd name="adj" fmla="val 5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87680" y="1767840"/>
            <a:ext cx="35966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10%–15%</a:t>
            </a:r>
            <a:endParaRPr lang="en-US" sz="4533" dirty="0"/>
          </a:p>
        </p:txBody>
      </p:sp>
      <p:sp>
        <p:nvSpPr>
          <p:cNvPr id="6" name="Text 4"/>
          <p:cNvSpPr/>
          <p:nvPr/>
        </p:nvSpPr>
        <p:spPr>
          <a:xfrm>
            <a:off x="487680" y="2584704"/>
            <a:ext cx="3596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E4DB7"/>
                </a:solidFill>
              </a:rPr>
              <a:t>de las primas globales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7680" y="2926080"/>
            <a:ext cx="359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5E6B84"/>
                </a:solidFill>
              </a:rPr>
              <a:t>se pierden por fraude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5E6B84"/>
                </a:solidFill>
              </a:rPr>
              <a:t>cada año (IAIS, 2024)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07408" y="1706880"/>
            <a:ext cx="3596640" cy="2438400"/>
          </a:xfrm>
          <a:prstGeom prst="roundRect">
            <a:avLst>
              <a:gd name="adj" fmla="val 5000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389120" y="1621536"/>
            <a:ext cx="35966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</a:t>
            </a:r>
            <a:endParaRPr lang="en-US" sz="4533" dirty="0"/>
          </a:p>
        </p:txBody>
      </p:sp>
      <p:sp>
        <p:nvSpPr>
          <p:cNvPr id="10" name="Text 8"/>
          <p:cNvSpPr/>
          <p:nvPr/>
        </p:nvSpPr>
        <p:spPr>
          <a:xfrm>
            <a:off x="4370832" y="2412907"/>
            <a:ext cx="3596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sector dominicano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2926080"/>
            <a:ext cx="359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A8B8D8"/>
                </a:solidFill>
              </a:rPr>
              <a:t>sin mecanismo centralizado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A8B8D8"/>
                </a:solidFill>
              </a:rPr>
              <a:t>de reporte de fraude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90560" y="1584960"/>
            <a:ext cx="3596640" cy="2438400"/>
          </a:xfrm>
          <a:prstGeom prst="roundRect">
            <a:avLst>
              <a:gd name="adj" fmla="val 5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8290560" y="1767840"/>
            <a:ext cx="35966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4533" dirty="0"/>
          </a:p>
        </p:txBody>
      </p:sp>
      <p:sp>
        <p:nvSpPr>
          <p:cNvPr id="14" name="Text 12"/>
          <p:cNvSpPr/>
          <p:nvPr/>
        </p:nvSpPr>
        <p:spPr>
          <a:xfrm>
            <a:off x="8290560" y="2583595"/>
            <a:ext cx="3596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E4DB7"/>
                </a:solidFill>
              </a:rPr>
              <a:t>mayor riesgo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90560" y="2926080"/>
            <a:ext cx="359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5E6B84"/>
                </a:solidFill>
              </a:rPr>
              <a:t>en seguros de vida y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5E6B84"/>
                </a:solidFill>
              </a:rPr>
              <a:t>salud sin trazabilidad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056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A2B5F"/>
                </a:solidFill>
              </a:rPr>
              <a:t>Modalidades más frecuentes en el sector asegurador regional: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426720" y="4657344"/>
            <a:ext cx="3718560" cy="1988552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D0D7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573024" y="48158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4DB7"/>
                </a:solidFill>
              </a:rPr>
              <a:t>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73024" y="5242560"/>
            <a:ext cx="341376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1A2B5F"/>
                </a:solidFill>
              </a:rPr>
              <a:t>Fraude en reclamaciones (siniestros inflados o simulados)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352544" y="4657343"/>
            <a:ext cx="3718560" cy="1988553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D0D7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498848" y="48158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4DB7"/>
                </a:solidFill>
              </a:rPr>
              <a:t>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498848" y="5242560"/>
            <a:ext cx="341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1A2B5F"/>
                </a:solidFill>
              </a:rPr>
              <a:t>Corrupción en intermediación (comisiones irregulares)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278368" y="4647917"/>
            <a:ext cx="3718560" cy="1997980"/>
          </a:xfrm>
          <a:prstGeom prst="roundRect">
            <a:avLst>
              <a:gd name="adj" fmla="val 5161"/>
            </a:avLst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424672" y="48158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D97706"/>
                </a:solidFill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424672" y="5242560"/>
            <a:ext cx="341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1A2B5F"/>
                </a:solidFill>
              </a:rPr>
              <a:t>Lavado de activos vía pólizas de vida y rentas (LD/FT)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569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3702"/>
            <a:ext cx="12192000" cy="1028375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304800"/>
            <a:ext cx="10972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sector que debemos proteger — y lo que está en riesgo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323088" y="1149745"/>
            <a:ext cx="5547360" cy="5120640"/>
          </a:xfrm>
          <a:prstGeom prst="roundRect">
            <a:avLst>
              <a:gd name="adj" fmla="val 2857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1584960"/>
            <a:ext cx="5059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C9A84C"/>
                </a:solidFill>
              </a:rPr>
              <a:t>Peso económico del sector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2097024"/>
            <a:ext cx="4876800" cy="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48640" y="2126767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RD$104,249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2746897"/>
            <a:ext cx="52425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A8B8D8"/>
                </a:solidFill>
              </a:rPr>
              <a:t>millones en primas netas cobradas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A8B8D8"/>
                </a:solidFill>
              </a:rPr>
              <a:t>(enero-noviembre 2023, SIS)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53440" y="3681984"/>
            <a:ext cx="4328160" cy="0"/>
          </a:xfrm>
          <a:prstGeom prst="line">
            <a:avLst/>
          </a:prstGeom>
          <a:noFill/>
          <a:ln w="12700">
            <a:solidFill>
              <a:srgbClr val="3B52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548640" y="3330818"/>
            <a:ext cx="5242560" cy="558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4523232"/>
            <a:ext cx="524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A8B8D8"/>
                </a:solidFill>
              </a:rPr>
              <a:t>del PIB dominicano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A8B8D8"/>
                </a:solidFill>
              </a:rPr>
              <a:t>(Superintendencia de Seguros, 2023)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53440" y="4998720"/>
            <a:ext cx="4328160" cy="0"/>
          </a:xfrm>
          <a:prstGeom prst="line">
            <a:avLst/>
          </a:prstGeom>
          <a:noFill/>
          <a:ln w="12700">
            <a:solidFill>
              <a:srgbClr val="3B52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85216" y="5096256"/>
            <a:ext cx="5023104" cy="1072896"/>
          </a:xfrm>
          <a:prstGeom prst="roundRect">
            <a:avLst>
              <a:gd name="adj" fmla="val 7955"/>
            </a:avLst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07136" y="5157216"/>
            <a:ext cx="4779264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C9A84C"/>
                </a:solidFill>
              </a:rPr>
              <a:t>&gt;RD$10,000MM  </a:t>
            </a:r>
            <a:r>
              <a:rPr lang="en-US" sz="1133" dirty="0">
                <a:solidFill>
                  <a:srgbClr val="FFFFFF"/>
                </a:solidFill>
              </a:rPr>
              <a:t>en exposición estimada al fraude anual</a:t>
            </a:r>
            <a:endParaRPr lang="en-US" sz="1733" dirty="0"/>
          </a:p>
          <a:p>
            <a:r>
              <a:rPr lang="en-US" sz="1133" dirty="0">
                <a:solidFill>
                  <a:srgbClr val="FFFFFF"/>
                </a:solidFill>
              </a:rPr>
              <a:t>(benchmark IAIS: 10% de primas)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6010656" y="1166551"/>
            <a:ext cx="5547360" cy="512064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 w="12700">
            <a:solidFill>
              <a:srgbClr val="D0D9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486144" y="1584960"/>
            <a:ext cx="5059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7A75"/>
                </a:solidFill>
              </a:rPr>
              <a:t>Lo que la UAF reporta del sector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86144" y="2097024"/>
            <a:ext cx="4876800" cy="0"/>
          </a:xfrm>
          <a:prstGeom prst="line">
            <a:avLst/>
          </a:prstGeom>
          <a:noFill/>
          <a:ln w="12700">
            <a:solidFill>
              <a:srgbClr val="0B7A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278880" y="2218944"/>
            <a:ext cx="55473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1A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6,043</a:t>
            </a:r>
            <a:endParaRPr lang="en-US" sz="4533" dirty="0"/>
          </a:p>
        </p:txBody>
      </p:sp>
      <p:sp>
        <p:nvSpPr>
          <p:cNvPr id="20" name="Shape 18"/>
          <p:cNvSpPr/>
          <p:nvPr/>
        </p:nvSpPr>
        <p:spPr>
          <a:xfrm>
            <a:off x="6644640" y="3535680"/>
            <a:ext cx="4754880" cy="0"/>
          </a:xfrm>
          <a:prstGeom prst="line">
            <a:avLst/>
          </a:prstGeom>
          <a:noFill/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278880" y="3621024"/>
            <a:ext cx="55473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1E4D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608</a:t>
            </a:r>
            <a:endParaRPr lang="en-US" sz="4267" dirty="0"/>
          </a:p>
        </p:txBody>
      </p:sp>
      <p:sp>
        <p:nvSpPr>
          <p:cNvPr id="22" name="Text 20"/>
          <p:cNvSpPr/>
          <p:nvPr/>
        </p:nvSpPr>
        <p:spPr>
          <a:xfrm>
            <a:off x="6278880" y="4230624"/>
            <a:ext cx="554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5E6B84"/>
                </a:solidFill>
              </a:rPr>
              <a:t>RAS recibidos en 2023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5E6B84"/>
                </a:solidFill>
              </a:rPr>
              <a:t>aumento del 2.53% respecto al año anterior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644640" y="4864608"/>
            <a:ext cx="4754880" cy="0"/>
          </a:xfrm>
          <a:prstGeom prst="line">
            <a:avLst/>
          </a:prstGeom>
          <a:noFill/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6461760" y="4998720"/>
            <a:ext cx="5120640" cy="1170432"/>
          </a:xfrm>
          <a:prstGeom prst="roundRect">
            <a:avLst>
              <a:gd name="adj" fmla="val 7292"/>
            </a:avLst>
          </a:prstGeom>
          <a:solidFill>
            <a:srgbClr val="EEF1F7"/>
          </a:solidFill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608064" y="5059680"/>
            <a:ext cx="481584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B7A75"/>
                </a:solidFill>
              </a:rPr>
              <a:t>148 corredores de seguros  </a:t>
            </a:r>
            <a:r>
              <a:rPr lang="en-US" sz="1600" dirty="0">
                <a:solidFill>
                  <a:srgbClr val="1A2B5F"/>
                </a:solidFill>
              </a:rPr>
              <a:t>capacitados por la UAF en 2023</a:t>
            </a:r>
            <a:endParaRPr lang="en-US" sz="1600" dirty="0"/>
          </a:p>
          <a:p>
            <a:r>
              <a:rPr lang="en-US" sz="1600" dirty="0">
                <a:solidFill>
                  <a:srgbClr val="1A2B5F"/>
                </a:solidFill>
              </a:rPr>
              <a:t>3er grupo más activo del sector financiero.</a:t>
            </a:r>
            <a:endParaRPr lang="en-US" sz="1600" dirty="0"/>
          </a:p>
          <a:p>
            <a:r>
              <a:rPr lang="en-US" sz="1600" dirty="0">
                <a:solidFill>
                  <a:srgbClr val="1A2B5F"/>
                </a:solidFill>
              </a:rPr>
              <a:t>El sector se mueve. La infraestructura de datos aún no.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22764" y="6339840"/>
            <a:ext cx="8248072" cy="463296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2022764" y="6376416"/>
            <a:ext cx="7998691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A2B5F"/>
                </a:solidFill>
              </a:rPr>
              <a:t>Un sector de RD$104,000MM sin trazabilidad centralizada es una vulnerabilidad sistémica — y una oportunidad de liderazgo regional para República Dominicana.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548640" y="3950763"/>
            <a:ext cx="5242560" cy="492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A8B8D8"/>
                </a:solidFill>
              </a:rPr>
              <a:t>del PIB dominicano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A8B8D8"/>
                </a:solidFill>
              </a:rPr>
              <a:t>(</a:t>
            </a:r>
            <a:r>
              <a:rPr lang="en-US" sz="2000" dirty="0">
                <a:solidFill>
                  <a:srgbClr val="A8B8D8"/>
                </a:solidFill>
              </a:rPr>
              <a:t>Superintendencia</a:t>
            </a:r>
            <a:r>
              <a:rPr lang="en-US" sz="2400" dirty="0">
                <a:solidFill>
                  <a:srgbClr val="A8B8D8"/>
                </a:solidFill>
              </a:rPr>
              <a:t> de Seguros, 2023)</a:t>
            </a:r>
            <a:endParaRPr lang="en-US" sz="2400" dirty="0"/>
          </a:p>
        </p:txBody>
      </p:sp>
      <p:sp>
        <p:nvSpPr>
          <p:cNvPr id="29" name="Shape 11"/>
          <p:cNvSpPr/>
          <p:nvPr/>
        </p:nvSpPr>
        <p:spPr>
          <a:xfrm>
            <a:off x="463296" y="5230368"/>
            <a:ext cx="5023104" cy="1072896"/>
          </a:xfrm>
          <a:prstGeom prst="roundRect">
            <a:avLst>
              <a:gd name="adj" fmla="val 7955"/>
            </a:avLst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30" name="Text 17"/>
          <p:cNvSpPr/>
          <p:nvPr/>
        </p:nvSpPr>
        <p:spPr>
          <a:xfrm>
            <a:off x="6096000" y="2950464"/>
            <a:ext cx="5547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5E6B84"/>
                </a:solidFill>
              </a:rPr>
              <a:t>ROS recibidos por la UAF en 2023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5E6B84"/>
                </a:solidFill>
              </a:rPr>
              <a:t>(sector financiero total, incl. seguros)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5995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840" y="499620"/>
            <a:ext cx="12000323" cy="841499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43866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marco normativo que nos respalda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76368" y="1524000"/>
            <a:ext cx="5547360" cy="481081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0D9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26720" y="1524000"/>
            <a:ext cx="5547360" cy="670560"/>
          </a:xfrm>
          <a:prstGeom prst="roundRect">
            <a:avLst>
              <a:gd name="adj" fmla="val 18182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5849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Ley 155-17 ALA/CFT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0560" y="2316480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B5F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Debida diligencia al cliente (DDC) obligatoria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0560" y="3072384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B5F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Monitoreo de operaciones inusuales o sospechosas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0560" y="3828288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B5F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Reporte de Operaciones Sospechosas (ROS) a la UAF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0560" y="4584192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B5F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Conozca a su cliente (KYC) en contratación de pólizas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0560" y="5340096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B5F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Conservación de registros por 10 años mínimo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524000"/>
            <a:ext cx="5547360" cy="481081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0D9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400800" y="1524000"/>
            <a:ext cx="5547360" cy="670560"/>
          </a:xfrm>
          <a:prstGeom prst="roundRect">
            <a:avLst>
              <a:gd name="adj" fmla="val 18182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583680" y="15849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Nueva Ley de Seguros y Fianzas (Anteproyecto)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4640" y="2316480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B7A75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Régimen sancionador reforzado: multas hasta RD$5MM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44640" y="3072384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B7A75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Responsabilidad personal de directivos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44640" y="3828288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B7A75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Función de cumplimiento como gobernanza obligatoria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44640" y="4584192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B7A75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Plazo de indemnización: 45 días hábiles (infracción grave)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4640" y="5340096"/>
            <a:ext cx="5059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B7A75"/>
                </a:solidFill>
              </a:rPr>
              <a:t>✓  </a:t>
            </a:r>
            <a:r>
              <a:rPr lang="en-US" sz="1400" dirty="0">
                <a:solidFill>
                  <a:srgbClr val="1A2B5F"/>
                </a:solidFill>
              </a:rPr>
              <a:t>Nuevas figuras: seguros paramétricos e inclusivos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3680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341376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Transparencia: las operaciones que debemos vigilar</a:t>
            </a:r>
            <a:endParaRPr lang="en-US" sz="3067" dirty="0"/>
          </a:p>
        </p:txBody>
      </p:sp>
      <p:sp>
        <p:nvSpPr>
          <p:cNvPr id="4" name="Shape 2"/>
          <p:cNvSpPr/>
          <p:nvPr/>
        </p:nvSpPr>
        <p:spPr>
          <a:xfrm>
            <a:off x="304800" y="1584960"/>
            <a:ext cx="2133600" cy="4693920"/>
          </a:xfrm>
          <a:prstGeom prst="roundRect">
            <a:avLst>
              <a:gd name="adj" fmla="val 5714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04800" y="170688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67" dirty="0"/>
          </a:p>
        </p:txBody>
      </p:sp>
      <p:sp>
        <p:nvSpPr>
          <p:cNvPr id="6" name="Text 4"/>
          <p:cNvSpPr/>
          <p:nvPr/>
        </p:nvSpPr>
        <p:spPr>
          <a:xfrm>
            <a:off x="304800" y="22555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Suscripción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548640" y="2779776"/>
            <a:ext cx="1645920" cy="0"/>
          </a:xfrm>
          <a:prstGeom prst="line">
            <a:avLst/>
          </a:prstGeom>
          <a:noFill/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26720" y="298704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KYC/DDC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6720" y="3499104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Origen de fondos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6720" y="4011168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Beneficiarios finales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45664" y="1584960"/>
            <a:ext cx="2133600" cy="4693920"/>
          </a:xfrm>
          <a:prstGeom prst="roundRect">
            <a:avLst>
              <a:gd name="adj" fmla="val 5714"/>
            </a:avLst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2645664" y="170688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67" dirty="0"/>
          </a:p>
        </p:txBody>
      </p:sp>
      <p:sp>
        <p:nvSpPr>
          <p:cNvPr id="13" name="Text 11"/>
          <p:cNvSpPr/>
          <p:nvPr/>
        </p:nvSpPr>
        <p:spPr>
          <a:xfrm>
            <a:off x="2645664" y="22555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Prima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2889504" y="2779776"/>
            <a:ext cx="1645920" cy="0"/>
          </a:xfrm>
          <a:prstGeom prst="line">
            <a:avLst/>
          </a:prstGeom>
          <a:noFill/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2767584" y="298704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Medio de pago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67584" y="3499104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Pagos en efectivo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67584" y="4011168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Terceros pagadores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6528" y="1584960"/>
            <a:ext cx="2133600" cy="4693920"/>
          </a:xfrm>
          <a:prstGeom prst="roundRect">
            <a:avLst>
              <a:gd name="adj" fmla="val 5714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986528" y="170688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67" dirty="0"/>
          </a:p>
        </p:txBody>
      </p:sp>
      <p:sp>
        <p:nvSpPr>
          <p:cNvPr id="20" name="Text 18"/>
          <p:cNvSpPr/>
          <p:nvPr/>
        </p:nvSpPr>
        <p:spPr>
          <a:xfrm>
            <a:off x="4986528" y="22555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Reclamación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5230368" y="2779776"/>
            <a:ext cx="1645920" cy="0"/>
          </a:xfrm>
          <a:prstGeom prst="line">
            <a:avLst/>
          </a:prstGeom>
          <a:noFill/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5108448" y="298704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Documentación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08448" y="3499104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Valuación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08448" y="4011168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Aprobación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27392" y="1584960"/>
            <a:ext cx="2133600" cy="4693920"/>
          </a:xfrm>
          <a:prstGeom prst="roundRect">
            <a:avLst>
              <a:gd name="adj" fmla="val 5714"/>
            </a:avLst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7327392" y="170688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67" dirty="0"/>
          </a:p>
        </p:txBody>
      </p:sp>
      <p:sp>
        <p:nvSpPr>
          <p:cNvPr id="27" name="Text 25"/>
          <p:cNvSpPr/>
          <p:nvPr/>
        </p:nvSpPr>
        <p:spPr>
          <a:xfrm>
            <a:off x="7327392" y="22555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Liquidación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7571232" y="2779776"/>
            <a:ext cx="1645920" cy="0"/>
          </a:xfrm>
          <a:prstGeom prst="line">
            <a:avLst/>
          </a:prstGeom>
          <a:noFill/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7449312" y="298704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Destino del pago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49312" y="3499104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Concentración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49312" y="4011168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Rescates masivos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68256" y="1584960"/>
            <a:ext cx="2133600" cy="4693920"/>
          </a:xfrm>
          <a:prstGeom prst="roundRect">
            <a:avLst>
              <a:gd name="adj" fmla="val 5714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9668256" y="1706880"/>
            <a:ext cx="213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67" dirty="0"/>
          </a:p>
        </p:txBody>
      </p:sp>
      <p:sp>
        <p:nvSpPr>
          <p:cNvPr id="34" name="Text 32"/>
          <p:cNvSpPr/>
          <p:nvPr/>
        </p:nvSpPr>
        <p:spPr>
          <a:xfrm>
            <a:off x="9668256" y="2255520"/>
            <a:ext cx="213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Intermediación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9912096" y="2779776"/>
            <a:ext cx="1645920" cy="0"/>
          </a:xfrm>
          <a:prstGeom prst="line">
            <a:avLst/>
          </a:prstGeom>
          <a:noFill/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9790176" y="298704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Comisiones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90176" y="3499104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Conflictos interés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90176" y="4011168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8D4EC"/>
                </a:solidFill>
              </a:rPr>
              <a:t>Red de distribución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4800" y="6364224"/>
            <a:ext cx="11582400" cy="463296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609600" y="6400800"/>
            <a:ext cx="10972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1A2B5F"/>
                </a:solidFill>
              </a:rPr>
              <a:t>⚠  Cada etapa es un punto de entrada potencial para fraude, lavado de activos o corrupción si no existe trazabilidad documental.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32227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341376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Trazabilidad: el registro que no miente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26720" y="1524000"/>
            <a:ext cx="5364480" cy="4848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0D9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1682496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B7A75"/>
                </a:solidFill>
              </a:rPr>
              <a:t>¿Qué es trazabilidad en seguros?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609600" y="2218944"/>
            <a:ext cx="499872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2B5F"/>
                </a:solidFill>
              </a:rPr>
              <a:t>La capacidad de registrar, identificar y reconstruir el historial completo de toda operación aseguradora — desde la contratación hasta la liquidación — con marcas de tiempo, responsables y vinculación a fuentes verificables.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3718560"/>
            <a:ext cx="4876800" cy="731520"/>
          </a:xfrm>
          <a:prstGeom prst="roundRect">
            <a:avLst>
              <a:gd name="adj" fmla="val 11667"/>
            </a:avLst>
          </a:prstGeom>
          <a:solidFill>
            <a:srgbClr val="EEF1F7"/>
          </a:solidFill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92480" y="3816096"/>
            <a:ext cx="451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0B7A75"/>
                </a:solidFill>
              </a:rPr>
              <a:t>Inmutabilidad  </a:t>
            </a:r>
            <a:r>
              <a:rPr lang="en-US" sz="1267" dirty="0">
                <a:solidFill>
                  <a:srgbClr val="5E6B84"/>
                </a:solidFill>
              </a:rPr>
              <a:t>Registro que no puede alterarse sin auditoría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609600" y="4632960"/>
            <a:ext cx="4876800" cy="731520"/>
          </a:xfrm>
          <a:prstGeom prst="roundRect">
            <a:avLst>
              <a:gd name="adj" fmla="val 11667"/>
            </a:avLst>
          </a:prstGeom>
          <a:solidFill>
            <a:srgbClr val="EEF1F7"/>
          </a:solidFill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792480" y="4730496"/>
            <a:ext cx="451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0B7A75"/>
                </a:solidFill>
              </a:rPr>
              <a:t>Temporalidad  </a:t>
            </a:r>
            <a:r>
              <a:rPr lang="en-US" sz="1267" dirty="0">
                <a:solidFill>
                  <a:srgbClr val="5E6B84"/>
                </a:solidFill>
              </a:rPr>
              <a:t>Marca de tiempo en cada paso del proceso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609600" y="5547360"/>
            <a:ext cx="4876800" cy="731520"/>
          </a:xfrm>
          <a:prstGeom prst="roundRect">
            <a:avLst>
              <a:gd name="adj" fmla="val 11667"/>
            </a:avLst>
          </a:prstGeom>
          <a:solidFill>
            <a:srgbClr val="EEF1F7"/>
          </a:solidFill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92480" y="5644896"/>
            <a:ext cx="451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0B7A75"/>
                </a:solidFill>
              </a:rPr>
              <a:t>Trazabilidad de personas  </a:t>
            </a:r>
            <a:r>
              <a:rPr lang="en-US" sz="1267" dirty="0">
                <a:solidFill>
                  <a:srgbClr val="5E6B84"/>
                </a:solidFill>
              </a:rPr>
              <a:t>Beneficiario final siempre identificado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6278880" y="1524000"/>
            <a:ext cx="5486400" cy="4848520"/>
          </a:xfrm>
          <a:prstGeom prst="roundRect">
            <a:avLst>
              <a:gd name="adj" fmla="val 2927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461760" y="1682496"/>
            <a:ext cx="5059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C9A84C"/>
                </a:solidFill>
              </a:rPr>
              <a:t>Lo que la trazabilidad hace posible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6461760" y="2316480"/>
            <a:ext cx="4998720" cy="707136"/>
          </a:xfrm>
          <a:prstGeom prst="roundRect">
            <a:avLst>
              <a:gd name="adj" fmla="val 12069"/>
            </a:avLst>
          </a:prstGeom>
          <a:solidFill>
            <a:srgbClr val="1E4DB7">
              <a:alpha val="70000"/>
            </a:srgbClr>
          </a:solidFill>
          <a:ln w="12700">
            <a:solidFill>
              <a:srgbClr val="3B72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644640" y="2414016"/>
            <a:ext cx="463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9A84C"/>
                </a:solidFill>
              </a:rPr>
              <a:t>Detección temprana  </a:t>
            </a:r>
            <a:r>
              <a:rPr lang="en-US" sz="1267" dirty="0">
                <a:solidFill>
                  <a:srgbClr val="C8D4EC"/>
                </a:solidFill>
              </a:rPr>
              <a:t>Alertas automáticas por patrones inusuales</a:t>
            </a:r>
            <a:endParaRPr lang="en-US" sz="1267" dirty="0"/>
          </a:p>
        </p:txBody>
      </p:sp>
      <p:sp>
        <p:nvSpPr>
          <p:cNvPr id="17" name="Shape 15"/>
          <p:cNvSpPr/>
          <p:nvPr/>
        </p:nvSpPr>
        <p:spPr>
          <a:xfrm>
            <a:off x="6461760" y="3133344"/>
            <a:ext cx="4998720" cy="707136"/>
          </a:xfrm>
          <a:prstGeom prst="roundRect">
            <a:avLst>
              <a:gd name="adj" fmla="val 12069"/>
            </a:avLst>
          </a:prstGeom>
          <a:solidFill>
            <a:srgbClr val="1E4DB7">
              <a:alpha val="70000"/>
            </a:srgbClr>
          </a:solidFill>
          <a:ln w="12700">
            <a:solidFill>
              <a:srgbClr val="3B72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644640" y="3230880"/>
            <a:ext cx="463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9A84C"/>
                </a:solidFill>
              </a:rPr>
              <a:t>Auditoría retroactiva  </a:t>
            </a:r>
            <a:r>
              <a:rPr lang="en-US" sz="1267" dirty="0">
                <a:solidFill>
                  <a:srgbClr val="C8D4EC"/>
                </a:solidFill>
              </a:rPr>
              <a:t>Reconstruir cualquier expediente sin lagunas</a:t>
            </a:r>
            <a:endParaRPr lang="en-US" sz="1267" dirty="0"/>
          </a:p>
        </p:txBody>
      </p:sp>
      <p:sp>
        <p:nvSpPr>
          <p:cNvPr id="19" name="Shape 17"/>
          <p:cNvSpPr/>
          <p:nvPr/>
        </p:nvSpPr>
        <p:spPr>
          <a:xfrm>
            <a:off x="6461760" y="3950208"/>
            <a:ext cx="4998720" cy="707136"/>
          </a:xfrm>
          <a:prstGeom prst="roundRect">
            <a:avLst>
              <a:gd name="adj" fmla="val 12069"/>
            </a:avLst>
          </a:prstGeom>
          <a:solidFill>
            <a:srgbClr val="1E4DB7">
              <a:alpha val="70000"/>
            </a:srgbClr>
          </a:solidFill>
          <a:ln w="12700">
            <a:solidFill>
              <a:srgbClr val="3B72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644640" y="4047744"/>
            <a:ext cx="463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9A84C"/>
                </a:solidFill>
              </a:rPr>
              <a:t>Cadena de responsabilidades  </a:t>
            </a:r>
            <a:r>
              <a:rPr lang="en-US" sz="1267" dirty="0">
                <a:solidFill>
                  <a:srgbClr val="C8D4EC"/>
                </a:solidFill>
              </a:rPr>
              <a:t>Quién autorizó qué y cuándo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6461760" y="4767072"/>
            <a:ext cx="4998720" cy="707136"/>
          </a:xfrm>
          <a:prstGeom prst="roundRect">
            <a:avLst>
              <a:gd name="adj" fmla="val 12069"/>
            </a:avLst>
          </a:prstGeom>
          <a:solidFill>
            <a:srgbClr val="1E4DB7">
              <a:alpha val="70000"/>
            </a:srgbClr>
          </a:solidFill>
          <a:ln w="12700">
            <a:solidFill>
              <a:srgbClr val="3B72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644640" y="4864608"/>
            <a:ext cx="463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9A84C"/>
                </a:solidFill>
              </a:rPr>
              <a:t>Prueba en procesos legales  </a:t>
            </a:r>
            <a:r>
              <a:rPr lang="en-US" sz="1267" dirty="0">
                <a:solidFill>
                  <a:srgbClr val="C8D4EC"/>
                </a:solidFill>
              </a:rPr>
              <a:t>Evidencia admisible ante el Ministerio Público</a:t>
            </a:r>
            <a:endParaRPr lang="en-US" sz="1267" dirty="0"/>
          </a:p>
        </p:txBody>
      </p:sp>
      <p:sp>
        <p:nvSpPr>
          <p:cNvPr id="23" name="Shape 21"/>
          <p:cNvSpPr/>
          <p:nvPr/>
        </p:nvSpPr>
        <p:spPr>
          <a:xfrm>
            <a:off x="6461760" y="5583936"/>
            <a:ext cx="4998720" cy="707136"/>
          </a:xfrm>
          <a:prstGeom prst="roundRect">
            <a:avLst>
              <a:gd name="adj" fmla="val 12069"/>
            </a:avLst>
          </a:prstGeom>
          <a:solidFill>
            <a:srgbClr val="1E4DB7">
              <a:alpha val="70000"/>
            </a:srgbClr>
          </a:solidFill>
          <a:ln w="12700">
            <a:solidFill>
              <a:srgbClr val="3B72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644640" y="5681472"/>
            <a:ext cx="463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9A84C"/>
                </a:solidFill>
              </a:rPr>
              <a:t>Rendición de cuentas  </a:t>
            </a:r>
            <a:r>
              <a:rPr lang="en-US" sz="1267" dirty="0">
                <a:solidFill>
                  <a:srgbClr val="C8D4EC"/>
                </a:solidFill>
              </a:rPr>
              <a:t>Transparencia ante el regulador y el asegurado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285637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670560" y="268224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Interoperabilidad: la trazabilidad requiere conexión institucional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693920" y="1889760"/>
            <a:ext cx="2804160" cy="2804160"/>
          </a:xfrm>
          <a:prstGeom prst="ellipse">
            <a:avLst/>
          </a:prstGeom>
          <a:solidFill>
            <a:srgbClr val="1A2B5F"/>
          </a:solidFill>
          <a:ln w="25400">
            <a:solidFill>
              <a:srgbClr val="C9A84C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693920" y="2072640"/>
            <a:ext cx="280416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Sistema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Integrado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de Seguros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(SIS)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55767" y="5019594"/>
            <a:ext cx="7680960" cy="731520"/>
          </a:xfrm>
          <a:prstGeom prst="roundRect">
            <a:avLst>
              <a:gd name="adj" fmla="val 13333"/>
            </a:avLst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2338647" y="5108817"/>
            <a:ext cx="7315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A2B5F"/>
                </a:solidFill>
              </a:rPr>
              <a:t>Levantamiento de denuncias y siniestros: DIGESETT (accidentes viales) · Policía Nacional · Cuerpo de Bomberos (incendios)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1920" y="1828800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121920" y="1865376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UAF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(Unidad ALA/CFT)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1920" y="2901696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121920" y="2938272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BCRD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(Banco Central)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1920" y="3974592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3B72D9"/>
          </a:solidFill>
          <a:ln w="12700">
            <a:solidFill>
              <a:srgbClr val="3B72D9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121920" y="4011168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SIB (Banca)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1920" y="5047488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121920" y="5084064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Policía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Nacional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180320" y="1828800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10180320" y="1865376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Ministerio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Público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180320" y="2901696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10180320" y="2938272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DGII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(Tributario)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180320" y="3974592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10180320" y="4011168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JCE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(Registro Civil)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80320" y="5047488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10180320" y="5084064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Cuerpo de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Bomberos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950464" y="1402080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2950464" y="1438656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Aseguradoras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&amp; Corredores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51776" y="1402080"/>
            <a:ext cx="1889760" cy="829056"/>
          </a:xfrm>
          <a:prstGeom prst="roundRect">
            <a:avLst>
              <a:gd name="adj" fmla="val 11765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7351776" y="1438656"/>
            <a:ext cx="188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DIGESETT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</a:rPr>
              <a:t>(Tránsito)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699491" y="5936949"/>
            <a:ext cx="8480830" cy="545686"/>
          </a:xfrm>
          <a:prstGeom prst="roundRect">
            <a:avLst>
              <a:gd name="adj" fmla="val 15789"/>
            </a:avLst>
          </a:prstGeom>
          <a:solidFill>
            <a:srgbClr val="EEF1F7"/>
          </a:solidFill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597890" y="5909610"/>
            <a:ext cx="8709891" cy="539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1A2B5F"/>
                </a:solidFill>
              </a:rPr>
              <a:t>La trazabilidad aislada no es suficiente. La prevención del fraude y del lavado exige que todos los nodos del sistema compartan información en tiempo real.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607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341376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unión del sector: condición necesaria para la trazabilidad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463040"/>
            <a:ext cx="11216640" cy="1280160"/>
          </a:xfrm>
          <a:prstGeom prst="roundRect">
            <a:avLst>
              <a:gd name="adj" fmla="val 9524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1584960"/>
            <a:ext cx="104851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"Ninguna aseguradora puede combatir el fraude en solitario. El fraude migra entre compañías si el sector no comparte alertas."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6720" y="2950464"/>
            <a:ext cx="5364480" cy="14630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D9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646176" y="3352800"/>
            <a:ext cx="609600" cy="609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46176" y="3352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26464" y="3096768"/>
            <a:ext cx="41452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</a:rPr>
              <a:t>Base de datos compartida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26464" y="3511296"/>
            <a:ext cx="414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</a:rPr>
              <a:t>Repositorio sectorial de alertas de fraude, con acceso controlado por la SIS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78880" y="2950464"/>
            <a:ext cx="5364480" cy="14630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D9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2" name="Shape 10"/>
          <p:cNvSpPr/>
          <p:nvPr/>
        </p:nvSpPr>
        <p:spPr>
          <a:xfrm>
            <a:off x="6498336" y="3352800"/>
            <a:ext cx="609600" cy="609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6498336" y="335280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78624" y="3096768"/>
            <a:ext cx="41452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</a:rPr>
              <a:t>Protocolos comunes de DDC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78624" y="3511296"/>
            <a:ext cx="414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</a:rPr>
              <a:t>KYC estandarizado entre aseguradoras para evitar arbitraje regulatorio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6720" y="4596384"/>
            <a:ext cx="5364480" cy="14630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D9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646176" y="4998720"/>
            <a:ext cx="609600" cy="609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646176" y="499872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26464" y="4742688"/>
            <a:ext cx="41452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</a:rPr>
              <a:t>Comité sectorial 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26464" y="5157216"/>
            <a:ext cx="414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</a:rPr>
              <a:t>Mesa técnica permanente: SIS + aseguradoras + UAF + BCRD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78880" y="4596384"/>
            <a:ext cx="5364480" cy="14630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D9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2" name="Shape 20"/>
          <p:cNvSpPr/>
          <p:nvPr/>
        </p:nvSpPr>
        <p:spPr>
          <a:xfrm>
            <a:off x="6498336" y="4998720"/>
            <a:ext cx="609600" cy="609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6498336" y="499872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78624" y="4742688"/>
            <a:ext cx="41452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B5F"/>
                </a:solidFill>
              </a:rPr>
              <a:t>Reporte unificado de siniestros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78624" y="5157216"/>
            <a:ext cx="414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E6B84"/>
                </a:solidFill>
              </a:rPr>
              <a:t>Plataforma única de reclamaciones que cruza información histórica por asegurado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8254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341376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ruta: de la norma a la práctica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365760" y="1487424"/>
            <a:ext cx="3718560" cy="633984"/>
          </a:xfrm>
          <a:prstGeom prst="roundRect">
            <a:avLst>
              <a:gd name="adj" fmla="val 15385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87680" y="1560576"/>
            <a:ext cx="347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Fase 1 — Inmediata (0–6 meses)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170176"/>
            <a:ext cx="3718560" cy="4136356"/>
          </a:xfrm>
          <a:prstGeom prst="roundRect">
            <a:avLst>
              <a:gd name="adj" fmla="val 2623"/>
            </a:avLst>
          </a:prstGeom>
          <a:solidFill>
            <a:srgbClr val="EEF1F7"/>
          </a:solidFill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036320" y="2316480"/>
            <a:ext cx="29260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2B5F"/>
                </a:solidFill>
              </a:rPr>
              <a:t>Auditoría de brechas en DDC/KYC en todas las aseguradoras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718560"/>
            <a:ext cx="365760" cy="36576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036320" y="3657600"/>
            <a:ext cx="29260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2B5F"/>
                </a:solidFill>
              </a:rPr>
              <a:t>Formalización del Comité Sectorial  con SIS y UAF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5059680"/>
            <a:ext cx="365760" cy="36576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036320" y="4998720"/>
            <a:ext cx="29260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2B5F"/>
                </a:solidFill>
              </a:rPr>
              <a:t>Digitalización de expedientes de siniestros y contratación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91584" y="1487424"/>
            <a:ext cx="3718560" cy="633984"/>
          </a:xfrm>
          <a:prstGeom prst="roundRect">
            <a:avLst>
              <a:gd name="adj" fmla="val 15385"/>
            </a:avLst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413504" y="1560576"/>
            <a:ext cx="347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Fase 2 — Corto plazo (6–18 meses)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91584" y="2170176"/>
            <a:ext cx="3718560" cy="4136356"/>
          </a:xfrm>
          <a:prstGeom prst="roundRect">
            <a:avLst>
              <a:gd name="adj" fmla="val 2623"/>
            </a:avLst>
          </a:prstGeom>
          <a:solidFill>
            <a:srgbClr val="EEF1F7"/>
          </a:solidFill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Shape 14"/>
          <p:cNvSpPr/>
          <p:nvPr/>
        </p:nvSpPr>
        <p:spPr>
          <a:xfrm>
            <a:off x="4474464" y="2377440"/>
            <a:ext cx="365760" cy="365760"/>
          </a:xfrm>
          <a:prstGeom prst="ellipse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4962144" y="2316480"/>
            <a:ext cx="29260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2B5F"/>
                </a:solidFill>
              </a:rPr>
              <a:t>Implementación de plataforma de alertas sectoriales compartidas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474464" y="3718560"/>
            <a:ext cx="365760" cy="365760"/>
          </a:xfrm>
          <a:prstGeom prst="ellipse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4962144" y="3657600"/>
            <a:ext cx="29260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2B5F"/>
                </a:solidFill>
              </a:rPr>
              <a:t>Interconexión SIS–UAF–BCRD–DGII vía API regulatoria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474464" y="5059680"/>
            <a:ext cx="365760" cy="365760"/>
          </a:xfrm>
          <a:prstGeom prst="ellipse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4962144" y="4998720"/>
            <a:ext cx="29260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2B5F"/>
                </a:solidFill>
              </a:rPr>
              <a:t>Capacitación obligatoria en ALA/CFT a intermediarios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217408" y="1487424"/>
            <a:ext cx="3718560" cy="633984"/>
          </a:xfrm>
          <a:prstGeom prst="roundRect">
            <a:avLst>
              <a:gd name="adj" fmla="val 15385"/>
            </a:avLst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8339328" y="1560576"/>
            <a:ext cx="347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Fase 3 — Mediano plazo (18–36 meses)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17408" y="2170176"/>
            <a:ext cx="3718560" cy="4136356"/>
          </a:xfrm>
          <a:prstGeom prst="roundRect">
            <a:avLst>
              <a:gd name="adj" fmla="val 2623"/>
            </a:avLst>
          </a:prstGeom>
          <a:solidFill>
            <a:srgbClr val="EEF1F7"/>
          </a:solidFill>
          <a:ln w="12700">
            <a:solidFill>
              <a:srgbClr val="D0D9E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" name="Shape 23"/>
          <p:cNvSpPr/>
          <p:nvPr/>
        </p:nvSpPr>
        <p:spPr>
          <a:xfrm>
            <a:off x="8400288" y="2377440"/>
            <a:ext cx="365760" cy="36576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8887968" y="2316480"/>
            <a:ext cx="29260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2B5F"/>
                </a:solidFill>
              </a:rPr>
              <a:t>Repositorio nacional de pólizas y siniestros (bajo nueva ley)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400288" y="3718560"/>
            <a:ext cx="365760" cy="36576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8887968" y="3657600"/>
            <a:ext cx="29260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2B5F"/>
                </a:solidFill>
              </a:rPr>
              <a:t>Dashboard regulatorio en tiempo real para la SIS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400288" y="5059680"/>
            <a:ext cx="365760" cy="36576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0" name="Text 28"/>
          <p:cNvSpPr/>
          <p:nvPr/>
        </p:nvSpPr>
        <p:spPr>
          <a:xfrm>
            <a:off x="8887968" y="4998720"/>
            <a:ext cx="29260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2B5F"/>
                </a:solidFill>
              </a:rPr>
              <a:t>Evaluación de adopción de tecnologías RegTech / blockchain para trazabilidad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084320" y="1804416"/>
            <a:ext cx="268224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2" name="Shape 30"/>
          <p:cNvSpPr/>
          <p:nvPr/>
        </p:nvSpPr>
        <p:spPr>
          <a:xfrm>
            <a:off x="8010144" y="1804416"/>
            <a:ext cx="268224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84793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7056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0560" y="1072896"/>
            <a:ext cx="10972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i="1" dirty="0"/>
              <a:t>Lo que nos llevamos de esta disertación</a:t>
            </a:r>
            <a:r>
              <a:rPr lang="en-US" sz="2400" i="1" dirty="0">
                <a:solidFill>
                  <a:srgbClr val="C9A84C"/>
                </a:solidFill>
              </a:rPr>
              <a:t>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9600" y="1767840"/>
            <a:ext cx="463296" cy="4632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09600" y="1767840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A2B5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52955" y="1804416"/>
            <a:ext cx="9859108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 smtClean="0"/>
              <a:t>— </a:t>
            </a:r>
            <a:r>
              <a:rPr lang="en-US" sz="2400" dirty="0"/>
              <a:t>Son </a:t>
            </a:r>
            <a:r>
              <a:rPr lang="en-US" sz="2400" dirty="0"/>
              <a:t>consecuencia de ausencia de trazabilidad y supervisión efectiva.</a:t>
            </a:r>
          </a:p>
        </p:txBody>
      </p:sp>
      <p:sp>
        <p:nvSpPr>
          <p:cNvPr id="9" name="Shape 7"/>
          <p:cNvSpPr/>
          <p:nvPr/>
        </p:nvSpPr>
        <p:spPr>
          <a:xfrm>
            <a:off x="609600" y="2779776"/>
            <a:ext cx="463296" cy="4632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2779776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A2B5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52955" y="2676144"/>
            <a:ext cx="10171528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60363" indent="-360363"/>
            <a:r>
              <a:rPr lang="en-US" sz="2400" dirty="0" smtClean="0"/>
              <a:t>— La Ley </a:t>
            </a:r>
            <a:r>
              <a:rPr lang="en-US" sz="2400" dirty="0"/>
              <a:t>155-17 + </a:t>
            </a:r>
            <a:r>
              <a:rPr lang="en-US" sz="2400" dirty="0"/>
              <a:t>nueva Ley de Seguros crean el mandato. La ejecución es</a:t>
            </a:r>
            <a:r>
              <a:rPr lang="en-US" sz="2400" dirty="0"/>
              <a:t> el </a:t>
            </a:r>
            <a:r>
              <a:rPr lang="en-US" sz="2400" dirty="0" err="1" smtClean="0"/>
              <a:t>reto</a:t>
            </a:r>
            <a:r>
              <a:rPr lang="en-US" sz="2400" dirty="0"/>
              <a:t>.</a:t>
            </a:r>
          </a:p>
        </p:txBody>
      </p:sp>
      <p:sp>
        <p:nvSpPr>
          <p:cNvPr id="12" name="Shape 10"/>
          <p:cNvSpPr/>
          <p:nvPr/>
        </p:nvSpPr>
        <p:spPr>
          <a:xfrm>
            <a:off x="609600" y="3791712"/>
            <a:ext cx="463296" cy="4632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09600" y="3791712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A2B5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52955" y="3667298"/>
            <a:ext cx="9859107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534988" indent="-534988"/>
            <a:r>
              <a:rPr lang="en-US" sz="2400" dirty="0" smtClean="0"/>
              <a:t>— Los </a:t>
            </a:r>
            <a:r>
              <a:rPr lang="en-US" sz="2400" dirty="0"/>
              <a:t>Registros auditables, marcas de tiempo e identificación del beneficiario</a:t>
            </a:r>
            <a:r>
              <a:rPr lang="en-US" sz="2400" dirty="0"/>
              <a:t> final </a:t>
            </a:r>
            <a:r>
              <a:rPr lang="en-US" sz="2400" dirty="0" smtClean="0"/>
              <a:t>son </a:t>
            </a:r>
            <a:r>
              <a:rPr lang="en-US" sz="2400" dirty="0"/>
              <a:t>innegociables.</a:t>
            </a:r>
          </a:p>
        </p:txBody>
      </p:sp>
      <p:sp>
        <p:nvSpPr>
          <p:cNvPr id="15" name="Shape 13"/>
          <p:cNvSpPr/>
          <p:nvPr/>
        </p:nvSpPr>
        <p:spPr>
          <a:xfrm>
            <a:off x="609600" y="4803648"/>
            <a:ext cx="463296" cy="4632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09600" y="4803648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A2B5F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45672" y="4681728"/>
            <a:ext cx="9836727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indent="-628650"/>
            <a:r>
              <a:rPr lang="en-US" sz="2400" dirty="0" smtClean="0"/>
              <a:t>— </a:t>
            </a:r>
            <a:r>
              <a:rPr lang="en-US" sz="2400" dirty="0"/>
              <a:t>Un sector </a:t>
            </a:r>
            <a:r>
              <a:rPr lang="en-US" sz="2400" dirty="0"/>
              <a:t>conectado con UAF, BCRD y DGII detecta lo que uno solo no puede ver.</a:t>
            </a:r>
          </a:p>
        </p:txBody>
      </p:sp>
      <p:sp>
        <p:nvSpPr>
          <p:cNvPr id="18" name="Shape 16"/>
          <p:cNvSpPr/>
          <p:nvPr/>
        </p:nvSpPr>
        <p:spPr>
          <a:xfrm>
            <a:off x="609600" y="5815584"/>
            <a:ext cx="463296" cy="4632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09600" y="5815584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A2B5F"/>
                </a:solidFill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80160" y="5693664"/>
            <a:ext cx="103022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720725" indent="-720725"/>
            <a:r>
              <a:rPr lang="en-US" sz="2400" b="1" dirty="0" smtClean="0">
                <a:solidFill>
                  <a:srgbClr val="FFFFFF"/>
                </a:solidFill>
              </a:rPr>
              <a:t>L   </a:t>
            </a:r>
            <a:r>
              <a:rPr lang="en-US" sz="2400" dirty="0">
                <a:solidFill>
                  <a:srgbClr val="A8B8D8"/>
                </a:solidFill>
              </a:rPr>
              <a:t>— </a:t>
            </a:r>
            <a:r>
              <a:rPr lang="en-US" sz="2400" dirty="0"/>
              <a:t>Las </a:t>
            </a:r>
            <a:r>
              <a:rPr lang="en-US" sz="2400" dirty="0"/>
              <a:t>aseguradoras que colaboran en transparencia ganan en reputación y sostenibilidad.</a:t>
            </a:r>
          </a:p>
        </p:txBody>
      </p:sp>
    </p:spTree>
    <p:extLst>
      <p:ext uri="{BB962C8B-B14F-4D97-AF65-F5344CB8AC3E}">
        <p14:creationId xmlns:p14="http://schemas.microsoft.com/office/powerpoint/2010/main" val="351475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7764827" y="-548640"/>
            <a:ext cx="6705600" cy="6705600"/>
          </a:xfrm>
          <a:prstGeom prst="ellipse">
            <a:avLst/>
          </a:prstGeom>
          <a:solidFill>
            <a:srgbClr val="1E4DB7">
              <a:alpha val="20000"/>
            </a:srgbClr>
          </a:solidFill>
          <a:ln w="12700">
            <a:solidFill>
              <a:srgbClr val="1E4DB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13411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853440" y="2552559"/>
            <a:ext cx="48768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53440" y="2910699"/>
            <a:ext cx="97536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"La transparencia no debilita al sector asegurador.</a:t>
            </a:r>
            <a:endParaRPr lang="en-US" sz="2400" dirty="0"/>
          </a:p>
          <a:p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2400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fortalece</a:t>
            </a:r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.“</a:t>
            </a:r>
          </a:p>
          <a:p>
            <a:endParaRPr lang="en-US" sz="2400" i="1" dirty="0">
              <a:solidFill>
                <a:srgbClr val="0D9488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“Un sector de </a:t>
            </a:r>
            <a:r>
              <a:rPr lang="en-US" sz="2400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este</a:t>
            </a:r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400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tamaño</a:t>
            </a:r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 sin </a:t>
            </a:r>
            <a:r>
              <a:rPr lang="en-US" sz="2400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trazabilidad</a:t>
            </a:r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400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centralizada</a:t>
            </a:r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 es </a:t>
            </a:r>
            <a:r>
              <a:rPr lang="en-US" sz="2400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una</a:t>
            </a:r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400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vulnerabilidad</a:t>
            </a:r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400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sistémica</a:t>
            </a:r>
            <a:r>
              <a:rPr lang="en-US" sz="24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</a:rPr>
              <a:t>"</a:t>
            </a:r>
          </a:p>
        </p:txBody>
      </p:sp>
      <p:sp>
        <p:nvSpPr>
          <p:cNvPr id="8" name="Text 6"/>
          <p:cNvSpPr/>
          <p:nvPr/>
        </p:nvSpPr>
        <p:spPr>
          <a:xfrm>
            <a:off x="853440" y="4242676"/>
            <a:ext cx="8534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C9A84C"/>
                </a:solidFill>
              </a:rPr>
              <a:t>Asesora Técnica</a:t>
            </a:r>
            <a:endParaRPr lang="en-US" sz="1600" dirty="0"/>
          </a:p>
          <a:p>
            <a:r>
              <a:rPr lang="en-US" sz="1467" dirty="0">
                <a:solidFill>
                  <a:srgbClr val="FFFFFF"/>
                </a:solidFill>
              </a:rPr>
              <a:t>Superintendencia de Seguros de la República Dominicana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1920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894B.tm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ppt94D4.tmp</Template>
  <TotalTime>85</TotalTime>
  <Words>1545</Words>
  <Application>Microsoft Office PowerPoint</Application>
  <PresentationFormat>Panorámica</PresentationFormat>
  <Paragraphs>217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Diseño personalizado</vt:lpstr>
      <vt:lpstr>ppt894B.tmp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Amin Montero Vicente</cp:lastModifiedBy>
  <cp:revision>26</cp:revision>
  <dcterms:created xsi:type="dcterms:W3CDTF">2026-06-24T19:50:37Z</dcterms:created>
  <dcterms:modified xsi:type="dcterms:W3CDTF">2026-06-26T17:13:02Z</dcterms:modified>
</cp:coreProperties>
</file>