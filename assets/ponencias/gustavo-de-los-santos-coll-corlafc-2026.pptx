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5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333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suministrada por el expositor. No modificar rostro ni composición.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Narrar el caso en tono conversacional, sin leer el contenido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la secuencia general y mantener el ritmo.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la figura llega por convergencia de anticorrupción, lavado, fraude y gobernanza.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derecho penal clásico con criminalidad corporativa moderna.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Subrayar que el artículo 8 abre un modelo de prevención penal corporativa más amplio.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ejemplos cotidianos: aprobación de pagos, proveedores, licencias y uso de intermediarios.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Distinguir entre programa escrito y programa en ejecución.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complementariedad funcional, no sustitución automática.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la prevención penal es una arquitectura de gobernanza.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Subrayar que una matriz genérica no cumple su función.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Vincular prevención penal con corrupción y lavado sin convertir la exposición en curso de LA/FT.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Útil ante empresas importadoras, zonas francas, agroindustrias y contratistas.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el ejemplo con el deber de supervisión.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el manual debe estar conectado a la matriz.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la implementación como producto auditable y adaptable.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Núcleo comercial de la conferencia: prevención penal como activo de defensa.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Finalizar con pausa después de la pregunta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Puede mantenerse en PDF como respaldo.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IMERA PAGINA CORLAFC. 20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LANTILLA. CORLAFC 20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59436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749808" y="850392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 smtClean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</a:t>
            </a:r>
            <a:r>
              <a:rPr lang="en-US" sz="2600" b="1" dirty="0" err="1" smtClean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Cuando</a:t>
            </a:r>
            <a:r>
              <a:rPr lang="en-US" sz="2600" b="1" dirty="0" smtClean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6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 papeles no </a:t>
            </a:r>
            <a:r>
              <a:rPr lang="en-US" sz="2600" b="1" dirty="0" err="1" smtClean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bastan</a:t>
            </a:r>
            <a:r>
              <a:rPr lang="en-US" sz="2600" b="1" dirty="0" smtClean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749808" y="1499616"/>
            <a:ext cx="10652760" cy="0"/>
          </a:xfrm>
          <a:prstGeom prst="line">
            <a:avLst/>
          </a:prstGeom>
          <a:noFill/>
          <a:ln w="14605">
            <a:solidFill>
              <a:srgbClr val="E4C987">
                <a:alpha val="96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210544" y="620877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FA8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024128" y="1856232"/>
            <a:ext cx="101498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 smtClean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“La </a:t>
            </a:r>
            <a:r>
              <a:rPr lang="en-US" sz="225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prevención penal corporativa comienza cuando la empresa puede probar que dirigió, controló y supervisó el riesgo.”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960120" y="2907791"/>
            <a:ext cx="3154680" cy="1899339"/>
          </a:xfrm>
          <a:prstGeom prst="roundRect">
            <a:avLst>
              <a:gd name="adj" fmla="val 5455"/>
            </a:avLst>
          </a:prstGeom>
          <a:solidFill>
            <a:srgbClr val="E2F0F0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24712" y="3044952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Escenario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124712" y="3383280"/>
            <a:ext cx="282549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buNone/>
            </a:pPr>
            <a:r>
              <a:rPr lang="en-US" sz="16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Empresa formal con RNC, contratos, auditoría, manual y oficial designado. Todo parece correcto hasta que un pago a un intermediario queda bajo investigación.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498848" y="2907792"/>
            <a:ext cx="3154680" cy="1899338"/>
          </a:xfrm>
          <a:prstGeom prst="roundRect">
            <a:avLst>
              <a:gd name="adj" fmla="val 5455"/>
            </a:avLst>
          </a:prstGeom>
          <a:solidFill>
            <a:srgbClr val="FBF5E8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3440" y="3044952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Punto crítico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663440" y="3383280"/>
            <a:ext cx="282549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buNone/>
            </a:pPr>
            <a:r>
              <a:rPr lang="en-US" sz="16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 genérica, servicio poco verificable, aprobación rápida y ausencia de soporte suficiente para explicar la racionalidad económica del pago.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037576" y="2907792"/>
            <a:ext cx="3136392" cy="1899338"/>
          </a:xfrm>
          <a:prstGeom prst="roundRect">
            <a:avLst>
              <a:gd name="adj" fmla="val 5455"/>
            </a:avLst>
          </a:prstGeom>
          <a:solidFill>
            <a:srgbClr val="E2F0F0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02168" y="3044952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penal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202168" y="3383280"/>
            <a:ext cx="282549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buNone/>
            </a:pPr>
            <a:r>
              <a:rPr lang="en-US" sz="16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basta saber quién firmó. Hay que demostrar qué controles existían, quién supervisó, qué alerta se activó y qué evidencia quedó.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97280" y="5381896"/>
            <a:ext cx="10012680" cy="12279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6F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“La diferencia entre una carpeta y una </a:t>
            </a:r>
            <a:r>
              <a:rPr lang="en-US" sz="2400" b="1" dirty="0" err="1">
                <a:solidFill>
                  <a:srgbClr val="006F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defensa</a:t>
            </a:r>
            <a:r>
              <a:rPr lang="en-US" sz="2400" b="1" dirty="0">
                <a:solidFill>
                  <a:srgbClr val="006F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endParaRPr lang="en-US" sz="2400" b="1" dirty="0" smtClean="0">
              <a:solidFill>
                <a:srgbClr val="006F73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  <a:p>
            <a:pPr marL="0" indent="0" algn="ctr">
              <a:buNone/>
            </a:pPr>
            <a:r>
              <a:rPr lang="en-US" sz="2400" b="1" dirty="0" err="1" smtClean="0">
                <a:solidFill>
                  <a:srgbClr val="006F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está</a:t>
            </a:r>
            <a:r>
              <a:rPr lang="en-US" sz="2400" b="1" dirty="0" smtClean="0">
                <a:solidFill>
                  <a:srgbClr val="006F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dirty="0">
                <a:solidFill>
                  <a:srgbClr val="006F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la evidencia aplicada.”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749808" y="850392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Prevención penal corporativa: ruta conceptual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749808" y="1499616"/>
            <a:ext cx="10652760" cy="0"/>
          </a:xfrm>
          <a:prstGeom prst="line">
            <a:avLst/>
          </a:prstGeom>
          <a:noFill/>
          <a:ln w="14605">
            <a:solidFill>
              <a:srgbClr val="E4C987">
                <a:alpha val="96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210544" y="620877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FA8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143000" y="1856232"/>
            <a:ext cx="98298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6F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“Gobierno corporativo con valor probatorio.”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960120" y="2880359"/>
            <a:ext cx="3154680" cy="1587137"/>
          </a:xfrm>
          <a:prstGeom prst="roundRect">
            <a:avLst>
              <a:gd name="adj" fmla="val 6207"/>
            </a:avLst>
          </a:prstGeom>
          <a:solidFill>
            <a:srgbClr val="E2F0F0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24712" y="3017520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Procedencia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124712" y="3355848"/>
            <a:ext cx="282549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buNone/>
            </a:pPr>
            <a:r>
              <a:rPr lang="en-US" sz="16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Anticorrupción, responsabilidad de la persona jurídica, enfoque basado en riesgo y experiencia comparada.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498848" y="2880360"/>
            <a:ext cx="3154680" cy="1587136"/>
          </a:xfrm>
          <a:prstGeom prst="roundRect">
            <a:avLst>
              <a:gd name="adj" fmla="val 6207"/>
            </a:avLst>
          </a:prstGeom>
          <a:solidFill>
            <a:srgbClr val="FBF5E8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3440" y="3017520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Legislación dominicana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663440" y="3355848"/>
            <a:ext cx="282549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buNone/>
            </a:pPr>
            <a:r>
              <a:rPr lang="en-US" sz="16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Artículo 8 del nuevo Código Penal: dirección, control, supervisión y programas verificables.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037576" y="2880360"/>
            <a:ext cx="3172968" cy="1587136"/>
          </a:xfrm>
          <a:prstGeom prst="roundRect">
            <a:avLst>
              <a:gd name="adj" fmla="val 6207"/>
            </a:avLst>
          </a:prstGeom>
          <a:solidFill>
            <a:srgbClr val="E2F0F0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02168" y="3017520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Implementación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202168" y="3355848"/>
            <a:ext cx="282549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buNone/>
            </a:pPr>
            <a:r>
              <a:rPr lang="en-US" sz="16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Oficial de prevención penal, matriz de riesgos, manual, controles, capacitación, evidencia y revisión periódica.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34440" y="4864608"/>
            <a:ext cx="9646920" cy="114430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empresa no solo debe cumplir: debe estar en condiciones de explicar y probar cómo previno razonablemente sus riesgos penales.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LANTILLA. CORLAFC 20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59436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792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RESPONSABILIDAD CORPORATIVA Y ENFOQUE DE RIESGO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749808" y="850392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Procedencia internacional de la figura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749808" y="1499616"/>
            <a:ext cx="10652760" cy="0"/>
          </a:xfrm>
          <a:prstGeom prst="line">
            <a:avLst/>
          </a:prstGeom>
          <a:noFill/>
          <a:ln w="14605">
            <a:solidFill>
              <a:srgbClr val="E4C987">
                <a:alpha val="96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210544" y="620877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FA8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868680" y="1828799"/>
            <a:ext cx="2514600" cy="2029969"/>
          </a:xfrm>
          <a:prstGeom prst="roundRect">
            <a:avLst>
              <a:gd name="adj" fmla="val 6522"/>
            </a:avLst>
          </a:prstGeom>
          <a:solidFill>
            <a:srgbClr val="E2F0F0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3272" y="1965960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ONU - UNCAC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33272" y="2304288"/>
            <a:ext cx="21854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Artículo 26: responsabilidad de personas jurídicas por participación en delitos de corrupción.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3611880" y="1828800"/>
            <a:ext cx="2514600" cy="2029968"/>
          </a:xfrm>
          <a:prstGeom prst="roundRect">
            <a:avLst>
              <a:gd name="adj" fmla="val 6522"/>
            </a:avLst>
          </a:prstGeom>
          <a:solidFill>
            <a:srgbClr val="FBF5E8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76472" y="1965960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OCDE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776472" y="2304288"/>
            <a:ext cx="21854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Controles internos, ética y cumplimiento para prevenir y detectar soborno transnacional.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6355080" y="1828799"/>
            <a:ext cx="2350008" cy="2029969"/>
          </a:xfrm>
          <a:prstGeom prst="roundRect">
            <a:avLst>
              <a:gd name="adj" fmla="val 6522"/>
            </a:avLst>
          </a:prstGeom>
          <a:solidFill>
            <a:srgbClr val="E2F0F0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19672" y="1965960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GAFI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519672" y="2304288"/>
            <a:ext cx="21854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Enfoque basado en riesgo: identificar, evaluar, documentar y mitigar riesgos LA/FT/FP.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9098280" y="1828800"/>
            <a:ext cx="2093976" cy="2029968"/>
          </a:xfrm>
          <a:prstGeom prst="roundRect">
            <a:avLst>
              <a:gd name="adj" fmla="val 6522"/>
            </a:avLst>
          </a:prstGeom>
          <a:solidFill>
            <a:srgbClr val="FBF5E8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262872" y="196596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España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9262872" y="2304288"/>
            <a:ext cx="1792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buNone/>
            </a:pPr>
            <a:r>
              <a:rPr lang="en-US" sz="16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Artículo 31 bis: modelos de organización y gestión con posible efecto eximente o atenuante.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60704" y="3794759"/>
            <a:ext cx="9966960" cy="1913709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07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empresa dejó de ser solamente contexto del delito. En el derecho penal contemporáneo puede convertirse en sujeto de imputación cuando la infracción revela una falla de organización.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841248" y="6016752"/>
            <a:ext cx="10012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just">
              <a:buNone/>
            </a:pPr>
            <a:r>
              <a:rPr lang="en-US" sz="760" i="1" dirty="0">
                <a:solidFill>
                  <a:srgbClr val="6E7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Referencias: Convención de las Naciones Unidas contra la Corrupción, art. 26; Recomendaciones GAFI; OCDE Anti-Bribery Recommendation; Código Penal español, art. 31 bis.</a:t>
            </a:r>
            <a:endParaRPr lang="en-US" sz="7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LANTILLA. CORLAFC 20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59436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792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LA PERSONA FÍSICA A LA FALLA DE ORGANIZACIÓN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749808" y="850392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Cambio de paradigma penal empresarial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914400" y="1687721"/>
            <a:ext cx="10652760" cy="0"/>
          </a:xfrm>
          <a:prstGeom prst="line">
            <a:avLst/>
          </a:prstGeom>
          <a:noFill/>
          <a:ln w="14605">
            <a:solidFill>
              <a:srgbClr val="E4C987">
                <a:alpha val="96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210544" y="620877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FA8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005840" y="184708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150" b="1" dirty="0" smtClean="0">
              <a:solidFill>
                <a:srgbClr val="C7922D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  <a:p>
            <a:pPr marL="0" indent="0" algn="ctr">
              <a:buNone/>
            </a:pPr>
            <a:r>
              <a:rPr lang="en-US" sz="2150" b="1" dirty="0" err="1" smtClean="0">
                <a:solidFill>
                  <a:srgbClr val="C792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</a:t>
            </a:r>
            <a:r>
              <a:rPr lang="en-US" sz="2150" b="1" dirty="0" smtClean="0">
                <a:solidFill>
                  <a:srgbClr val="C792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150" b="1" dirty="0">
                <a:solidFill>
                  <a:srgbClr val="C792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clásico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914400" y="2395728"/>
            <a:ext cx="4480560" cy="14996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endParaRPr lang="en-US" sz="1800" dirty="0" smtClean="0">
              <a:solidFill>
                <a:srgbClr val="0A2034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just">
              <a:buNone/>
            </a:pPr>
            <a:r>
              <a:rPr lang="en-US" sz="2000" dirty="0" smtClean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</a:t>
            </a:r>
            <a:r>
              <a:rPr lang="en-US" sz="20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foco estaba en el autor individual. La empresa aparecía como escenario, víctima o beneficiaria indirecta del hecho.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897880" y="1828800"/>
            <a:ext cx="0" cy="3063240"/>
          </a:xfrm>
          <a:prstGeom prst="line">
            <a:avLst/>
          </a:prstGeom>
          <a:noFill/>
          <a:ln w="13970">
            <a:solidFill>
              <a:srgbClr val="E4C987">
                <a:alpha val="96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5080" y="18470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150" b="1" dirty="0" smtClean="0">
              <a:solidFill>
                <a:srgbClr val="C7922D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  <a:p>
            <a:pPr marL="0" indent="0" algn="ctr">
              <a:buNone/>
            </a:pPr>
            <a:r>
              <a:rPr lang="en-US" sz="2150" b="1" dirty="0" err="1" smtClean="0">
                <a:solidFill>
                  <a:srgbClr val="C792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</a:t>
            </a:r>
            <a:r>
              <a:rPr lang="en-US" sz="2150" b="1" dirty="0" smtClean="0">
                <a:solidFill>
                  <a:srgbClr val="C792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150" b="1" dirty="0">
                <a:solidFill>
                  <a:srgbClr val="C792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actual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6355080" y="2395728"/>
            <a:ext cx="4480560" cy="14996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endParaRPr lang="en-US" sz="1800" dirty="0" smtClean="0">
              <a:solidFill>
                <a:srgbClr val="0A2034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just">
              <a:buNone/>
            </a:pPr>
            <a:r>
              <a:rPr lang="en-US" sz="2000" dirty="0" smtClean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</a:t>
            </a:r>
            <a:r>
              <a:rPr lang="en-US" sz="20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examina la estructura de decisión y control. La omisión de supervisión puede comprometer a la persona jurídica.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005840" y="4718303"/>
            <a:ext cx="10104120" cy="112079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6F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“La pregunta penal se desplaza del hecho aislado al sistema que permitió o no permitió el riesgo.”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LANTILLA. CORLAFC 20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0584"/>
            <a:ext cx="121948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59436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792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RECEPCIÓN NACIONAL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749808" y="850392"/>
            <a:ext cx="10744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 err="1" smtClean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Artículo</a:t>
            </a:r>
            <a:r>
              <a:rPr lang="en-US" sz="2600" b="1" dirty="0" smtClean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6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 del nuevo Código Penal dominicano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749808" y="1499616"/>
            <a:ext cx="10652760" cy="0"/>
          </a:xfrm>
          <a:prstGeom prst="line">
            <a:avLst/>
          </a:prstGeom>
          <a:noFill/>
          <a:ln w="14605">
            <a:solidFill>
              <a:srgbClr val="E4C987">
                <a:alpha val="96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210544" y="620877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FA8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960120" y="1828800"/>
            <a:ext cx="101498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“La persona jurídica puede responder penalmente cuando el hecho deriva del incumplimiento de deberes de dirección, control o supervisión.”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96112" y="2957432"/>
            <a:ext cx="3090672" cy="1861457"/>
          </a:xfrm>
          <a:prstGeom prst="roundRect">
            <a:avLst>
              <a:gd name="adj" fmla="val 6207"/>
            </a:avLst>
          </a:prstGeom>
          <a:solidFill>
            <a:srgbClr val="E2F0F0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60704" y="32004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 smtClean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Actos </a:t>
            </a:r>
            <a:r>
              <a:rPr lang="en-US" sz="20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 omisiones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60704" y="3538727"/>
            <a:ext cx="2926080" cy="15231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Cometidos por órganos, representantes o subordinados en representación o gestión de la persona jurídica.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462272" y="3063240"/>
            <a:ext cx="3255264" cy="1861456"/>
          </a:xfrm>
          <a:prstGeom prst="roundRect">
            <a:avLst>
              <a:gd name="adj" fmla="val 6207"/>
            </a:avLst>
          </a:prstGeom>
          <a:solidFill>
            <a:srgbClr val="FBF5E8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26864" y="32004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Falla de control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626864" y="3538728"/>
            <a:ext cx="3090672" cy="1385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clave no es solo el delito base: es la omisión empresarial de dirigir, controlar o supervisar.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8028432" y="3063240"/>
            <a:ext cx="3255264" cy="1861456"/>
          </a:xfrm>
          <a:prstGeom prst="roundRect">
            <a:avLst>
              <a:gd name="adj" fmla="val 6207"/>
            </a:avLst>
          </a:prstGeom>
          <a:solidFill>
            <a:srgbClr val="E2F0F0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93024" y="32004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Responsabilidad concurrente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193024" y="3538728"/>
            <a:ext cx="3017520" cy="1385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responsabilidad de la empresa no excluye la responsabilidad penal de las personas físicas que participaron.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841248" y="6016752"/>
            <a:ext cx="10012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just">
              <a:buNone/>
            </a:pPr>
            <a:r>
              <a:rPr lang="en-US" sz="760" i="1" dirty="0">
                <a:solidFill>
                  <a:srgbClr val="6E7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normativa: Ley núm. 74-25 que instituye el Código Penal de la República Dominicana, arts. 8 y 9.</a:t>
            </a:r>
            <a:endParaRPr lang="en-US" sz="7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LANTILLA. CORLAFC 20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59436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792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TRÍADA DE IMPUTACIÓN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749808" y="850392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Dirigir, controlar y supervisar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749808" y="1499616"/>
            <a:ext cx="10652760" cy="0"/>
          </a:xfrm>
          <a:prstGeom prst="line">
            <a:avLst/>
          </a:prstGeom>
          <a:noFill/>
          <a:ln w="14605">
            <a:solidFill>
              <a:srgbClr val="E4C987">
                <a:alpha val="96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210544" y="620877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FA8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914400" y="1901952"/>
            <a:ext cx="3154680" cy="1874520"/>
          </a:xfrm>
          <a:prstGeom prst="roundRect">
            <a:avLst>
              <a:gd name="adj" fmla="val 4390"/>
            </a:avLst>
          </a:prstGeom>
          <a:solidFill>
            <a:srgbClr val="FBF5E8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" y="2039112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Dirigir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78992" y="2364377"/>
            <a:ext cx="282549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 reglas internas, responsabilidades, límites de autoridad y criterios de aprobación.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489704" y="1901952"/>
            <a:ext cx="3154680" cy="1874520"/>
          </a:xfrm>
          <a:prstGeom prst="roundRect">
            <a:avLst>
              <a:gd name="adj" fmla="val 4390"/>
            </a:avLst>
          </a:prstGeom>
          <a:solidFill>
            <a:srgbClr val="E2F0F0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54296" y="2039112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Controlar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4654296" y="2377440"/>
            <a:ext cx="282549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Verificar que las operaciones sensibles tengan trazabilidad, validación y controles preventivos.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8065008" y="1901952"/>
            <a:ext cx="3154680" cy="1874520"/>
          </a:xfrm>
          <a:prstGeom prst="roundRect">
            <a:avLst>
              <a:gd name="adj" fmla="val 4390"/>
            </a:avLst>
          </a:prstGeom>
          <a:solidFill>
            <a:srgbClr val="FBF5E8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0" y="2039112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Supervisar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8229600" y="2377440"/>
            <a:ext cx="282549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alertas, corregir brechas, sancionar incumplimientos y reportar lo que corresponda.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060704" y="4681728"/>
            <a:ext cx="1005840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fines penales, la defensa no se construye con afirmaciones: se construye con evidencia.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LANTILLA. CORLAFC 20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13063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59436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792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ARTÍCULO 8 - PÁRRAFO IV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749808" y="850392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Programa de prevención: mínimos exigibles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749808" y="1499616"/>
            <a:ext cx="10652760" cy="0"/>
          </a:xfrm>
          <a:prstGeom prst="line">
            <a:avLst/>
          </a:prstGeom>
          <a:noFill/>
          <a:ln w="14605">
            <a:solidFill>
              <a:srgbClr val="E4C987">
                <a:alpha val="96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210544" y="620877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FA8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776548" y="2011682"/>
            <a:ext cx="9132243" cy="235915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85000" lnSpcReduction="20000"/>
          </a:bodyPr>
          <a:lstStyle/>
          <a:p>
            <a:pPr marL="190500" indent="-190500">
              <a:buSzPct val="100000"/>
              <a:buChar char="•"/>
            </a:pPr>
            <a:r>
              <a:rPr lang="en-US" sz="1750" b="1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r>
              <a:rPr lang="en-US" sz="21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dentificación expresa de ámbitos de riesgo penal según la </a:t>
            </a:r>
            <a:r>
              <a:rPr lang="en-US" sz="2100" b="1" u="sng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de la </a:t>
            </a:r>
            <a:r>
              <a:rPr lang="en-US" sz="2100" b="1" u="sng" dirty="0" err="1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empresa</a:t>
            </a:r>
            <a:r>
              <a:rPr lang="en-US" sz="2100" b="1" dirty="0" smtClean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190500" indent="-190500">
              <a:buSzPct val="100000"/>
              <a:buChar char="•"/>
            </a:pPr>
            <a:endParaRPr lang="en-US" sz="2100" dirty="0"/>
          </a:p>
          <a:p>
            <a:pPr marL="190500" indent="-190500">
              <a:buSzPct val="100000"/>
              <a:buChar char="•"/>
            </a:pPr>
            <a:r>
              <a:rPr lang="en-US" sz="21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Órgano o departamento con poderes autónomos de </a:t>
            </a:r>
            <a:r>
              <a:rPr lang="en-US" sz="2100" b="1" u="sng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o </a:t>
            </a:r>
            <a:r>
              <a:rPr lang="en-US" sz="2100" b="1" u="sng" dirty="0" err="1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supervisión</a:t>
            </a:r>
            <a:r>
              <a:rPr lang="en-US" sz="2100" b="1" dirty="0" smtClean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190500" indent="-190500">
              <a:buSzPct val="100000"/>
              <a:buChar char="•"/>
            </a:pPr>
            <a:endParaRPr lang="en-US" sz="2100" dirty="0"/>
          </a:p>
          <a:p>
            <a:pPr marL="190500" indent="-190500">
              <a:buSzPct val="100000"/>
              <a:buChar char="•"/>
            </a:pPr>
            <a:r>
              <a:rPr lang="en-US" sz="21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Protocolo o procedimiento de actuación frente a </a:t>
            </a:r>
            <a:r>
              <a:rPr lang="en-US" sz="2100" b="1" u="sng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riesgos </a:t>
            </a:r>
            <a:r>
              <a:rPr lang="en-US" sz="2100" b="1" u="sng" dirty="0" err="1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detectados</a:t>
            </a:r>
            <a:r>
              <a:rPr lang="en-US" sz="2100" b="1" dirty="0" smtClean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190500" indent="-190500">
              <a:buSzPct val="100000"/>
              <a:buChar char="•"/>
            </a:pPr>
            <a:endParaRPr lang="en-US" sz="2100" dirty="0"/>
          </a:p>
          <a:p>
            <a:pPr marL="190500" indent="-190500">
              <a:buSzPct val="100000"/>
              <a:buChar char="•"/>
            </a:pPr>
            <a:r>
              <a:rPr lang="en-US" sz="21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disciplinario frente al incumplimiento de las </a:t>
            </a:r>
            <a:r>
              <a:rPr lang="en-US" sz="2100" b="1" u="sng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medidas del </a:t>
            </a:r>
            <a:r>
              <a:rPr lang="en-US" sz="2100" b="1" u="sng" dirty="0" err="1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</a:t>
            </a:r>
            <a:r>
              <a:rPr lang="en-US" sz="2100" b="1" dirty="0" smtClean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190500" indent="-190500">
              <a:buSzPct val="100000"/>
              <a:buChar char="•"/>
            </a:pPr>
            <a:endParaRPr lang="en-US" sz="2100" dirty="0"/>
          </a:p>
          <a:p>
            <a:pPr marL="190500" indent="-190500">
              <a:buSzPct val="100000"/>
              <a:buChar char="•"/>
            </a:pPr>
            <a:r>
              <a:rPr lang="en-US" sz="21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 periódica y modificación del modelo cuando </a:t>
            </a:r>
            <a:r>
              <a:rPr lang="en-US" sz="2100" b="1" u="sng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cambie la organización o el riesgo</a:t>
            </a:r>
            <a:r>
              <a:rPr lang="en-US" sz="2100" b="1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100" b="1" dirty="0"/>
          </a:p>
        </p:txBody>
      </p:sp>
      <p:sp>
        <p:nvSpPr>
          <p:cNvPr id="8" name="Text 5"/>
          <p:cNvSpPr/>
          <p:nvPr/>
        </p:nvSpPr>
        <p:spPr>
          <a:xfrm>
            <a:off x="1005840" y="4864608"/>
            <a:ext cx="100126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6F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“El programa debe ser verificable, medible y ejecutado; </a:t>
            </a:r>
            <a:endParaRPr lang="en-US" sz="2800" b="1" dirty="0" smtClean="0">
              <a:solidFill>
                <a:srgbClr val="006F73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  <a:p>
            <a:pPr marL="0" indent="0" algn="ctr">
              <a:buNone/>
            </a:pPr>
            <a:r>
              <a:rPr lang="en-US" sz="2800" b="1" dirty="0" smtClean="0">
                <a:solidFill>
                  <a:srgbClr val="006F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</a:t>
            </a:r>
            <a:r>
              <a:rPr lang="en-US" sz="2800" b="1" dirty="0">
                <a:solidFill>
                  <a:srgbClr val="006F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meramente declarado.”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41248" y="6016752"/>
            <a:ext cx="10012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just">
              <a:buNone/>
            </a:pPr>
            <a:r>
              <a:rPr lang="en-US" sz="760" i="1" dirty="0">
                <a:solidFill>
                  <a:srgbClr val="6E7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normativa: Ley núm. 74-25, art. 8, párrafos II, IV, V y VI.</a:t>
            </a:r>
            <a:endParaRPr lang="en-US" sz="7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LANTILLA. CORLAFC 20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-96664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59436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792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DIFERENCIA FUNCIONAL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749808" y="850392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Oficial de </a:t>
            </a:r>
            <a:r>
              <a:rPr lang="en-US" sz="2600" b="1" dirty="0" err="1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cumplimiento</a:t>
            </a:r>
            <a:r>
              <a:rPr lang="en-US" sz="26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600" b="1" dirty="0" smtClean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VS. </a:t>
            </a:r>
            <a:r>
              <a:rPr lang="en-US" sz="26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oficial de prevención penal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749808" y="1499616"/>
            <a:ext cx="10652760" cy="0"/>
          </a:xfrm>
          <a:prstGeom prst="line">
            <a:avLst/>
          </a:prstGeom>
          <a:noFill/>
          <a:ln w="14605">
            <a:solidFill>
              <a:srgbClr val="E4C987">
                <a:alpha val="96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210544" y="620877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FA8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960121" y="2350008"/>
            <a:ext cx="4690568" cy="2065238"/>
          </a:xfrm>
          <a:prstGeom prst="roundRect">
            <a:avLst>
              <a:gd name="adj" fmla="val 4390"/>
            </a:avLst>
          </a:prstGeom>
          <a:solidFill>
            <a:srgbClr val="FBF5E8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24712" y="2011680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 err="1" smtClean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Oficial</a:t>
            </a:r>
            <a:r>
              <a:rPr lang="en-US" sz="2400" b="1" dirty="0" smtClean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cumplimiento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124712" y="2671354"/>
            <a:ext cx="4379976" cy="967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buNone/>
            </a:pPr>
            <a:r>
              <a:rPr lang="en-US" sz="20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Foco natural: LA/FT/FP y obligaciones regulatorias. Mayor presencia en sujetos obligados. Debida diligencia, monitoreo, señales de alerta y reportes.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566764" y="2424465"/>
            <a:ext cx="4709160" cy="2024743"/>
          </a:xfrm>
          <a:prstGeom prst="roundRect">
            <a:avLst>
              <a:gd name="adj" fmla="val 4390"/>
            </a:avLst>
          </a:prstGeom>
          <a:solidFill>
            <a:srgbClr val="E2F0F0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75120" y="2011680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Oficial de prevención penal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675120" y="2779774"/>
            <a:ext cx="4379976" cy="859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buNone/>
            </a:pPr>
            <a:r>
              <a:rPr lang="en-US" sz="20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Foco: riesgo penal integral de la actividad empresarial. Matriz, manual, protocolos, evidencias, capacitación, revisión y reportes de supervisión.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080760" y="1993392"/>
            <a:ext cx="0" cy="1874520"/>
          </a:xfrm>
          <a:prstGeom prst="line">
            <a:avLst/>
          </a:prstGeom>
          <a:noFill/>
          <a:ln w="13970">
            <a:solidFill>
              <a:srgbClr val="E4C987">
                <a:alpha val="96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87552" y="4818888"/>
            <a:ext cx="10149840" cy="96795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“El primero mira una avenida crítica; </a:t>
            </a:r>
            <a:endParaRPr lang="en-US" sz="2400" b="1" dirty="0" smtClean="0">
              <a:solidFill>
                <a:srgbClr val="071B2D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  <a:p>
            <a:pPr marL="0" indent="0" algn="ctr">
              <a:buNone/>
            </a:pPr>
            <a:r>
              <a:rPr lang="en-US" sz="2400" b="1" dirty="0" smtClean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</a:t>
            </a:r>
            <a:r>
              <a:rPr lang="en-US" sz="24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segundo mira el mapa penal completo.”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LANTILLA. CORLAFC 20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59436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792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CONVIVENCIA Y GOBIERNO CORPORATIVO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749808" y="850392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práctica de prevención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49808" y="1499616"/>
            <a:ext cx="10652760" cy="0"/>
          </a:xfrm>
          <a:prstGeom prst="line">
            <a:avLst/>
          </a:prstGeom>
          <a:noFill/>
          <a:ln w="14605">
            <a:solidFill>
              <a:srgbClr val="E4C987">
                <a:alpha val="96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210544" y="620877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FA8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896112" y="1847088"/>
            <a:ext cx="3154680" cy="1325880"/>
          </a:xfrm>
          <a:prstGeom prst="roundRect">
            <a:avLst>
              <a:gd name="adj" fmla="val 6207"/>
            </a:avLst>
          </a:prstGeom>
          <a:solidFill>
            <a:srgbClr val="FBF5E8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60704" y="1984248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Consejo / órgano de administración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60704" y="2322576"/>
            <a:ext cx="282549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buNone/>
            </a:pPr>
            <a:r>
              <a:rPr lang="en-US" sz="127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Aprueba el modelo, recibe reportes, asigna recursos y exige rendición de cuentas.</a:t>
            </a:r>
            <a:endParaRPr lang="en-US" sz="1270" dirty="0"/>
          </a:p>
        </p:txBody>
      </p:sp>
      <p:sp>
        <p:nvSpPr>
          <p:cNvPr id="10" name="Shape 7"/>
          <p:cNvSpPr/>
          <p:nvPr/>
        </p:nvSpPr>
        <p:spPr>
          <a:xfrm>
            <a:off x="4507992" y="1847088"/>
            <a:ext cx="3154680" cy="1325880"/>
          </a:xfrm>
          <a:prstGeom prst="roundRect">
            <a:avLst>
              <a:gd name="adj" fmla="val 6207"/>
            </a:avLst>
          </a:prstGeom>
          <a:solidFill>
            <a:srgbClr val="E2F0F0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72584" y="1984248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Comité u órgano de prevención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4672584" y="2322576"/>
            <a:ext cx="282549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buNone/>
            </a:pPr>
            <a:r>
              <a:rPr lang="en-US" sz="127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Supervisa la implementación con autonomía funcional y eleva alertas relevantes.</a:t>
            </a:r>
            <a:endParaRPr lang="en-US" sz="1270" dirty="0"/>
          </a:p>
        </p:txBody>
      </p:sp>
      <p:sp>
        <p:nvSpPr>
          <p:cNvPr id="13" name="Shape 10"/>
          <p:cNvSpPr/>
          <p:nvPr/>
        </p:nvSpPr>
        <p:spPr>
          <a:xfrm>
            <a:off x="8119872" y="1847088"/>
            <a:ext cx="3154680" cy="1325880"/>
          </a:xfrm>
          <a:prstGeom prst="roundRect">
            <a:avLst>
              <a:gd name="adj" fmla="val 6207"/>
            </a:avLst>
          </a:prstGeom>
          <a:solidFill>
            <a:srgbClr val="FBF5E8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84464" y="1984248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Oficial de prevención penal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284464" y="2322576"/>
            <a:ext cx="282549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buNone/>
            </a:pPr>
            <a:r>
              <a:rPr lang="en-US" sz="127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 matriz, manual, capacitación, reportes, seguimiento y evidencia documental.</a:t>
            </a:r>
            <a:endParaRPr lang="en-US" sz="1270" dirty="0"/>
          </a:p>
        </p:txBody>
      </p:sp>
      <p:sp>
        <p:nvSpPr>
          <p:cNvPr id="16" name="Shape 13"/>
          <p:cNvSpPr/>
          <p:nvPr/>
        </p:nvSpPr>
        <p:spPr>
          <a:xfrm>
            <a:off x="896112" y="3721608"/>
            <a:ext cx="3154680" cy="1325880"/>
          </a:xfrm>
          <a:prstGeom prst="roundRect">
            <a:avLst>
              <a:gd name="adj" fmla="val 6207"/>
            </a:avLst>
          </a:prstGeom>
          <a:solidFill>
            <a:srgbClr val="E2F0F0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3858768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Áreas sensibles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1060704" y="4197096"/>
            <a:ext cx="282549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buNone/>
            </a:pPr>
            <a:r>
              <a:rPr lang="en-US" sz="127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Compras, ventas, finanzas, RR. HH., operaciones, ambiente, aduanas y tecnología.</a:t>
            </a:r>
            <a:endParaRPr lang="en-US" sz="1270" dirty="0"/>
          </a:p>
        </p:txBody>
      </p:sp>
      <p:sp>
        <p:nvSpPr>
          <p:cNvPr id="19" name="Shape 16"/>
          <p:cNvSpPr/>
          <p:nvPr/>
        </p:nvSpPr>
        <p:spPr>
          <a:xfrm>
            <a:off x="4507992" y="3721608"/>
            <a:ext cx="3154680" cy="1325880"/>
          </a:xfrm>
          <a:prstGeom prst="roundRect">
            <a:avLst>
              <a:gd name="adj" fmla="val 6207"/>
            </a:avLst>
          </a:prstGeom>
          <a:solidFill>
            <a:srgbClr val="FBF5E8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72584" y="3858768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Cumplimiento LA/FT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4672584" y="4197096"/>
            <a:ext cx="282549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buNone/>
            </a:pPr>
            <a:r>
              <a:rPr lang="en-US" sz="127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Mantiene su especialidad cuando la empresa es sujeto obligado o tiene exposición regulatoria.</a:t>
            </a:r>
            <a:endParaRPr lang="en-US" sz="1270" dirty="0"/>
          </a:p>
        </p:txBody>
      </p:sp>
      <p:sp>
        <p:nvSpPr>
          <p:cNvPr id="22" name="Shape 19"/>
          <p:cNvSpPr/>
          <p:nvPr/>
        </p:nvSpPr>
        <p:spPr>
          <a:xfrm>
            <a:off x="8119872" y="3721608"/>
            <a:ext cx="3154680" cy="1325880"/>
          </a:xfrm>
          <a:prstGeom prst="roundRect">
            <a:avLst>
              <a:gd name="adj" fmla="val 6207"/>
            </a:avLst>
          </a:prstGeom>
          <a:solidFill>
            <a:srgbClr val="E2F0F0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84464" y="3858768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Auditoría / asesoría externa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8284464" y="4197096"/>
            <a:ext cx="282549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buNone/>
            </a:pPr>
            <a:r>
              <a:rPr lang="en-US" sz="127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 brechas, fortalece independencia y verifica la ejecución del modelo.</a:t>
            </a:r>
            <a:endParaRPr lang="en-US" sz="1270" dirty="0"/>
          </a:p>
        </p:txBody>
      </p:sp>
      <p:sp>
        <p:nvSpPr>
          <p:cNvPr id="25" name="Text 22"/>
          <p:cNvSpPr/>
          <p:nvPr/>
        </p:nvSpPr>
        <p:spPr>
          <a:xfrm>
            <a:off x="1005840" y="5596128"/>
            <a:ext cx="101498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prevención penal no es un cargo aislado: es una arquitectura de gobierno, evidencia y seguimiento.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LANTILLA. CORLAFC 20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59436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792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DIAGNÓSTICO A LA DEFENSA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749808" y="850392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Matriz de riesgos penales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749808" y="1499616"/>
            <a:ext cx="10652760" cy="0"/>
          </a:xfrm>
          <a:prstGeom prst="line">
            <a:avLst/>
          </a:prstGeom>
          <a:noFill/>
          <a:ln w="14605">
            <a:solidFill>
              <a:srgbClr val="E4C987">
                <a:alpha val="96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210544" y="620877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FA8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005840" y="1828800"/>
            <a:ext cx="101498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matriz seria convierte la actividad </a:t>
            </a:r>
            <a:r>
              <a:rPr lang="en-US" sz="2400" b="1" dirty="0" err="1">
                <a:solidFill>
                  <a:srgbClr val="00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empresarial</a:t>
            </a:r>
            <a:r>
              <a:rPr lang="en-US" sz="2400" b="1" dirty="0">
                <a:solidFill>
                  <a:srgbClr val="00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2400" b="1" dirty="0" smtClean="0">
              <a:solidFill>
                <a:srgbClr val="006F73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2400" b="1" dirty="0" err="1" smtClean="0">
                <a:solidFill>
                  <a:srgbClr val="00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2400" b="1" dirty="0" smtClean="0">
                <a:solidFill>
                  <a:srgbClr val="00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400" b="1" dirty="0">
                <a:solidFill>
                  <a:srgbClr val="00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escenarios penales previsibles.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60704" y="2808514"/>
            <a:ext cx="9829800" cy="21684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190500" indent="-190500" algn="just">
              <a:buSzPct val="100000"/>
              <a:buChar char="•"/>
            </a:pPr>
            <a:r>
              <a:rPr lang="en-US" b="1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empresarial</a:t>
            </a:r>
            <a:r>
              <a:rPr lang="en-US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compras, pagos, ventas, aduanas, permisos, RR. HH., datos y operaciones.</a:t>
            </a:r>
            <a:endParaRPr lang="en-US" dirty="0"/>
          </a:p>
          <a:p>
            <a:pPr marL="190500" indent="-190500" algn="just">
              <a:buSzPct val="100000"/>
              <a:buChar char="•"/>
            </a:pPr>
            <a:r>
              <a:rPr lang="en-US" b="1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 penal asociado</a:t>
            </a:r>
            <a:r>
              <a:rPr lang="en-US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soborno, fraude, lavado, falsedad, ambiente, tributario, laboral y aduanero.</a:t>
            </a:r>
            <a:endParaRPr lang="en-US" dirty="0"/>
          </a:p>
          <a:p>
            <a:pPr marL="190500" indent="-190500" algn="just">
              <a:buSzPct val="100000"/>
              <a:buChar char="•"/>
            </a:pPr>
            <a:r>
              <a:rPr lang="en-US" u="sng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Probabilidad, impacto</a:t>
            </a:r>
            <a:r>
              <a:rPr lang="en-US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controles existentes, brechas, controles propuestos y riesgo residual.</a:t>
            </a:r>
            <a:endParaRPr lang="en-US" dirty="0"/>
          </a:p>
          <a:p>
            <a:pPr marL="190500" indent="-190500" algn="just">
              <a:buSzPct val="100000"/>
              <a:buChar char="•"/>
            </a:pPr>
            <a:r>
              <a:rPr lang="en-US" b="1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documental</a:t>
            </a:r>
            <a:r>
              <a:rPr lang="en-US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expediente, autorización, validación, capacitación, acta, reporte y seguimiento.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024128" y="5316582"/>
            <a:ext cx="10012680" cy="37098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“Lo que no se identifica difícilmente se previene; lo que no se documenta difícilmente se defiende.”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LANTILLA. CORLAFC 20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11756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59436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792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ESCENARIO APLICADO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749808" y="850392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Ejemplo de matriz: intermediarios y terceros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749808" y="1499616"/>
            <a:ext cx="10652760" cy="0"/>
          </a:xfrm>
          <a:prstGeom prst="line">
            <a:avLst/>
          </a:prstGeom>
          <a:noFill/>
          <a:ln w="14605">
            <a:solidFill>
              <a:srgbClr val="E4C987">
                <a:alpha val="96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210544" y="620877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FA8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804672" y="1810511"/>
            <a:ext cx="2542032" cy="1726909"/>
          </a:xfrm>
          <a:prstGeom prst="roundRect">
            <a:avLst>
              <a:gd name="adj" fmla="val 8333"/>
            </a:avLst>
          </a:prstGeom>
          <a:solidFill>
            <a:srgbClr val="FBF5E8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9264" y="194767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Proceso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969264" y="2286000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Contratación de agentes, gestores, consultores o intermediarios comerciales.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547872" y="1810512"/>
            <a:ext cx="2377440" cy="1726908"/>
          </a:xfrm>
          <a:prstGeom prst="roundRect">
            <a:avLst>
              <a:gd name="adj" fmla="val 8333"/>
            </a:avLst>
          </a:prstGeom>
          <a:solidFill>
            <a:srgbClr val="E2F0F0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12464" y="194767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b="1" dirty="0" smtClean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 </a:t>
            </a:r>
            <a:r>
              <a:rPr lang="en-US" b="1" dirty="0" err="1" smtClean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iesgos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712464" y="2286000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Soborno, tráfico de influencias, lavado, falsedad documental y fraude.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91072" y="1810512"/>
            <a:ext cx="2377440" cy="1726908"/>
          </a:xfrm>
          <a:prstGeom prst="roundRect">
            <a:avLst>
              <a:gd name="adj" fmla="val 8333"/>
            </a:avLst>
          </a:prstGeom>
          <a:solidFill>
            <a:srgbClr val="FBF5E8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55664" y="194767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Conducta crítica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455664" y="2286000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Pago sin contrato, factura genérica, comisión desproporcionada o cuenta de tercero.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034272" y="1810512"/>
            <a:ext cx="1984248" cy="1873214"/>
          </a:xfrm>
          <a:prstGeom prst="roundRect">
            <a:avLst>
              <a:gd name="adj" fmla="val 8333"/>
            </a:avLst>
          </a:prstGeom>
          <a:solidFill>
            <a:srgbClr val="E2F0F0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98864" y="1947672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9198864" y="2286000"/>
            <a:ext cx="1819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Debida diligencia, beneficiario final, aprobación escalonada y cláusula anticorrupción.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41832" y="3683726"/>
            <a:ext cx="10058400" cy="8490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50" b="1" u="sng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Evidencia que debe quedar</a:t>
            </a:r>
            <a:endParaRPr lang="en-US" sz="2050" u="sng" dirty="0"/>
          </a:p>
        </p:txBody>
      </p:sp>
      <p:sp>
        <p:nvSpPr>
          <p:cNvPr id="20" name="Text 17"/>
          <p:cNvSpPr/>
          <p:nvPr/>
        </p:nvSpPr>
        <p:spPr>
          <a:xfrm>
            <a:off x="2299063" y="4679116"/>
            <a:ext cx="8673737" cy="1135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90500" indent="-190500" algn="just">
              <a:buSzPct val="100000"/>
              <a:buChar char="•"/>
            </a:pPr>
            <a:r>
              <a:rPr lang="en-US" sz="2000" b="1" u="sng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Expediente</a:t>
            </a:r>
            <a:r>
              <a:rPr lang="en-US" sz="20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del tercero y validación reputacional.</a:t>
            </a:r>
            <a:endParaRPr lang="en-US" sz="2000" dirty="0"/>
          </a:p>
          <a:p>
            <a:pPr marL="190500" indent="-190500" algn="just">
              <a:buSzPct val="100000"/>
              <a:buChar char="•"/>
            </a:pPr>
            <a:r>
              <a:rPr lang="en-US" sz="2000" b="1" u="sng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Informe</a:t>
            </a:r>
            <a:r>
              <a:rPr lang="en-US" sz="20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del servicio prestado y soporte económico del pago.</a:t>
            </a:r>
            <a:endParaRPr lang="en-US" sz="2000" dirty="0"/>
          </a:p>
          <a:p>
            <a:pPr marL="190500" indent="-190500" algn="just">
              <a:buSzPct val="100000"/>
              <a:buChar char="•"/>
            </a:pPr>
            <a:r>
              <a:rPr lang="en-US" sz="2000" b="1" u="sng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Acta</a:t>
            </a:r>
            <a:r>
              <a:rPr lang="en-US" sz="20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 aprobación interna con justificación y trazabilidad bancaria.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LANTILLA. CORLAFC 20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59436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792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ESCENARIO APLICADO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749808" y="850392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Ejemplo de matriz: compras, proveedores e importaciones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749808" y="1499616"/>
            <a:ext cx="10652760" cy="0"/>
          </a:xfrm>
          <a:prstGeom prst="line">
            <a:avLst/>
          </a:prstGeom>
          <a:noFill/>
          <a:ln w="14605">
            <a:solidFill>
              <a:srgbClr val="E4C987">
                <a:alpha val="96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210544" y="620877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FA8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960120" y="1874519"/>
            <a:ext cx="4663440" cy="2020823"/>
          </a:xfrm>
          <a:prstGeom prst="roundRect">
            <a:avLst>
              <a:gd name="adj" fmla="val 4865"/>
            </a:avLst>
          </a:prstGeom>
          <a:solidFill>
            <a:srgbClr val="E2F0F0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24712" y="2011680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Compras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124712" y="2350008"/>
            <a:ext cx="433425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Riesgo: fraude, colusión, conflicto de interés o corrupción privada/pública. Control: comité, cotizaciones, declaración de conflicto y validación del proveedor.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6510528" y="1874520"/>
            <a:ext cx="4645152" cy="2020822"/>
          </a:xfrm>
          <a:prstGeom prst="roundRect">
            <a:avLst>
              <a:gd name="adj" fmla="val 4865"/>
            </a:avLst>
          </a:prstGeom>
          <a:solidFill>
            <a:srgbClr val="FBF5E8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75120" y="2011680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Aduanas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675120" y="2350008"/>
            <a:ext cx="433425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Riesgo: contrabando, falsedad documental, defraudación tributaria o lavado. Control: revisión legal-aduanera, trazabilidad logística y validación de factura comercial.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005840" y="4041648"/>
            <a:ext cx="10149840" cy="55647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792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Señales de alerta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051560" y="4924697"/>
            <a:ext cx="9921240" cy="107376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90500" indent="-190500" algn="just">
              <a:buSzPct val="100000"/>
              <a:buChar char="•"/>
            </a:pPr>
            <a:r>
              <a:rPr lang="en-US" b="1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Proveedor sin historial</a:t>
            </a:r>
            <a:r>
              <a:rPr lang="en-US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sin beneficiario final claro o relacionado con empleados.</a:t>
            </a:r>
            <a:endParaRPr lang="en-US" dirty="0"/>
          </a:p>
          <a:p>
            <a:pPr marL="190500" indent="-190500" algn="just">
              <a:buSzPct val="100000"/>
              <a:buChar char="•"/>
            </a:pPr>
            <a:r>
              <a:rPr lang="en-US" b="1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Subvaluación</a:t>
            </a:r>
            <a:r>
              <a:rPr lang="en-US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clasificación arancelaria inconsistente o documentos logísticos incompletos.</a:t>
            </a:r>
            <a:endParaRPr lang="en-US" dirty="0"/>
          </a:p>
          <a:p>
            <a:pPr marL="190500" indent="-190500" algn="just">
              <a:buSzPct val="100000"/>
              <a:buChar char="•"/>
            </a:pPr>
            <a:r>
              <a:rPr lang="en-US" b="1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Pagos divididos</a:t>
            </a:r>
            <a:r>
              <a:rPr lang="en-US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urgencias injustificadas o ausencia de expediente de decisión.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LANTILLA. CORLAFC 20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-71846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59436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792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ESCENARIO APLICADO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749808" y="850392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Ejemplo de matriz: ambiente, seguridad y operaciones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749808" y="1499616"/>
            <a:ext cx="10652760" cy="0"/>
          </a:xfrm>
          <a:prstGeom prst="line">
            <a:avLst/>
          </a:prstGeom>
          <a:noFill/>
          <a:ln w="14605">
            <a:solidFill>
              <a:srgbClr val="E4C987">
                <a:alpha val="96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210544" y="620877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FA8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987552" y="1881051"/>
            <a:ext cx="10012680" cy="14761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190500" indent="-190500" algn="just">
              <a:buSzPct val="100000"/>
              <a:buChar char="•"/>
            </a:pPr>
            <a:r>
              <a:rPr lang="en-US" sz="1700" b="1" u="sng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Operar sin permisos</a:t>
            </a:r>
            <a:r>
              <a:rPr lang="en-US" sz="17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 con permisos vencidos puede activar riesgos ambientales con trascendencia penal.</a:t>
            </a:r>
            <a:endParaRPr lang="en-US" sz="1700" dirty="0"/>
          </a:p>
          <a:p>
            <a:pPr marL="190500" indent="-190500" algn="just">
              <a:buSzPct val="100000"/>
              <a:buChar char="•"/>
            </a:pPr>
            <a:r>
              <a:rPr lang="en-US" sz="1700" b="1" u="sng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Ignorar reportes de seguridad</a:t>
            </a:r>
            <a:r>
              <a:rPr lang="en-US" sz="17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puede convertir un accidente laboral en un problema de omisión de cuidado.</a:t>
            </a:r>
            <a:endParaRPr lang="en-US" sz="1700" dirty="0"/>
          </a:p>
          <a:p>
            <a:pPr marL="190500" indent="-190500" algn="just">
              <a:buSzPct val="100000"/>
              <a:buChar char="•"/>
            </a:pPr>
            <a:r>
              <a:rPr lang="en-US" sz="1700" b="1" u="sng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empresa debe documentar</a:t>
            </a:r>
            <a:r>
              <a:rPr lang="en-US" sz="17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inspecciones, bitácoras, correcciones, capacitaciones y decisiones técnicas.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14400" y="3822191"/>
            <a:ext cx="3182112" cy="1860151"/>
          </a:xfrm>
          <a:prstGeom prst="roundRect">
            <a:avLst>
              <a:gd name="adj" fmla="val 6667"/>
            </a:avLst>
          </a:prstGeom>
          <a:solidFill>
            <a:srgbClr val="E2F0F0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78992" y="3959352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 preventivo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78992" y="4297680"/>
            <a:ext cx="285292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buNone/>
            </a:pPr>
            <a:r>
              <a:rPr lang="en-US" sz="16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Auditoría ambiental, comité de seguridad, plan de mantenimiento, permisos vigentes y respuesta a hallazgos.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498848" y="3822192"/>
            <a:ext cx="3182112" cy="1856232"/>
          </a:xfrm>
          <a:prstGeom prst="roundRect">
            <a:avLst>
              <a:gd name="adj" fmla="val 6667"/>
            </a:avLst>
          </a:prstGeom>
          <a:solidFill>
            <a:srgbClr val="FBF5E8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3440" y="3959352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Evidencia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663440" y="4297680"/>
            <a:ext cx="2852928" cy="1384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buNone/>
            </a:pPr>
            <a:r>
              <a:rPr lang="en-US" sz="16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Licencias, reportes técnicos, registros de inspección, capacitaciones y acciones correctivas.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083296" y="3822192"/>
            <a:ext cx="3182112" cy="1856232"/>
          </a:xfrm>
          <a:prstGeom prst="roundRect">
            <a:avLst>
              <a:gd name="adj" fmla="val 6667"/>
            </a:avLst>
          </a:prstGeom>
          <a:solidFill>
            <a:srgbClr val="E2F0F0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47888" y="3959352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Seguimiento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8247888" y="4297680"/>
            <a:ext cx="285292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buNone/>
            </a:pPr>
            <a:r>
              <a:rPr lang="en-US" sz="16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Responsable asignado, fecha de cierre, verificación de cumplimiento y reporte al órgano de prevención.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LANTILLA. CORLAFC 20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59436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792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DOCUMENTO ORNAMENTAL A GUÍA OPERATIVA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749808" y="850392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Manual de prevención penal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749808" y="1499616"/>
            <a:ext cx="10652760" cy="0"/>
          </a:xfrm>
          <a:prstGeom prst="line">
            <a:avLst/>
          </a:prstGeom>
          <a:noFill/>
          <a:ln w="14605">
            <a:solidFill>
              <a:srgbClr val="E4C987">
                <a:alpha val="96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210544" y="620877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FA8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051560" y="195681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792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Matriz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560" y="2414016"/>
            <a:ext cx="425196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5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¿Dónde están los riesgos penales?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5925312" y="1874520"/>
            <a:ext cx="0" cy="1417320"/>
          </a:xfrm>
          <a:prstGeom prst="line">
            <a:avLst/>
          </a:prstGeom>
          <a:noFill/>
          <a:ln w="13970">
            <a:solidFill>
              <a:srgbClr val="E4C987">
                <a:alpha val="96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195681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792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Manual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400800" y="2414016"/>
            <a:ext cx="425196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5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debe hacer la empresa?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1024128" y="3703320"/>
            <a:ext cx="9966960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190500" indent="-190500" algn="just">
              <a:buSzPct val="100000"/>
              <a:buChar char="•"/>
            </a:pPr>
            <a:r>
              <a:rPr lang="en-US" sz="2000" b="1" i="1" u="sng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Política general</a:t>
            </a:r>
            <a:r>
              <a:rPr lang="en-US" sz="2000" i="1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alcance y estructura del órgano de prevención.</a:t>
            </a:r>
            <a:endParaRPr lang="en-US" sz="2000" i="1" dirty="0"/>
          </a:p>
          <a:p>
            <a:pPr marL="190500" indent="-190500" algn="just">
              <a:buSzPct val="100000"/>
              <a:buChar char="•"/>
            </a:pPr>
            <a:r>
              <a:rPr lang="en-US" sz="2000" b="1" i="1" u="sng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Protocolos para pagos</a:t>
            </a:r>
            <a:r>
              <a:rPr lang="en-US" sz="2000" i="1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terceros, compras, aduanas, ambiente, datos y denuncias.</a:t>
            </a:r>
            <a:endParaRPr lang="en-US" sz="2000" i="1" dirty="0"/>
          </a:p>
          <a:p>
            <a:pPr marL="190500" indent="-190500" algn="just">
              <a:buSzPct val="100000"/>
              <a:buChar char="•"/>
            </a:pPr>
            <a:r>
              <a:rPr lang="en-US" sz="2000" b="1" i="1" u="sng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Investigación interna</a:t>
            </a:r>
            <a:r>
              <a:rPr lang="en-US" sz="2000" i="1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régimen disciplinario, capacitación, reportes y conservación de evidencias.</a:t>
            </a:r>
            <a:endParaRPr lang="en-US" sz="2000" i="1" dirty="0"/>
          </a:p>
        </p:txBody>
      </p:sp>
      <p:sp>
        <p:nvSpPr>
          <p:cNvPr id="13" name="Text 10"/>
          <p:cNvSpPr/>
          <p:nvPr/>
        </p:nvSpPr>
        <p:spPr>
          <a:xfrm>
            <a:off x="1024128" y="5285231"/>
            <a:ext cx="10012680" cy="76287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12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“El manual debe indicar cómo prevenir, </a:t>
            </a:r>
            <a:endParaRPr lang="en-US" sz="2120" b="1" dirty="0" smtClean="0">
              <a:solidFill>
                <a:srgbClr val="071B2D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  <a:p>
            <a:pPr marL="0" indent="0" algn="ctr">
              <a:buNone/>
            </a:pPr>
            <a:r>
              <a:rPr lang="en-US" sz="2120" b="1" dirty="0" err="1" smtClean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detectar</a:t>
            </a:r>
            <a:r>
              <a:rPr lang="en-US" sz="212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, reportar, corregir y documentar.”</a:t>
            </a:r>
            <a:endParaRPr lang="en-US" sz="21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LANTILLA. CORLAFC 20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59436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792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CINCO FASES PARA UNA EMPRESA DOMINICANA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749808" y="850392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de implementación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49808" y="1499616"/>
            <a:ext cx="10652760" cy="0"/>
          </a:xfrm>
          <a:prstGeom prst="line">
            <a:avLst/>
          </a:prstGeom>
          <a:noFill/>
          <a:ln w="14605">
            <a:solidFill>
              <a:srgbClr val="E4C987">
                <a:alpha val="96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210544" y="620877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FA8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63040" y="1828800"/>
            <a:ext cx="475488" cy="475488"/>
          </a:xfrm>
          <a:prstGeom prst="ellipse">
            <a:avLst/>
          </a:prstGeom>
          <a:solidFill>
            <a:srgbClr val="C7922D"/>
          </a:solidFill>
          <a:ln w="12700">
            <a:solidFill>
              <a:srgbClr val="C792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63040" y="192938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04672" y="2560319"/>
            <a:ext cx="1780337" cy="2142309"/>
          </a:xfrm>
          <a:prstGeom prst="roundRect">
            <a:avLst>
              <a:gd name="adj" fmla="val 4500"/>
            </a:avLst>
          </a:prstGeom>
          <a:solidFill>
            <a:srgbClr val="E2F0F0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9264" y="2697480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Diagnóstico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9264" y="3035808"/>
            <a:ext cx="154533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endParaRPr lang="en-US" sz="1220" dirty="0" smtClean="0">
              <a:solidFill>
                <a:srgbClr val="0A2034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dirty="0" err="1" smtClean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Procesos</a:t>
            </a:r>
            <a:r>
              <a:rPr lang="en-US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entrevistas, documentos y brechas.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721608" y="1828800"/>
            <a:ext cx="475488" cy="475488"/>
          </a:xfrm>
          <a:prstGeom prst="ellipse">
            <a:avLst/>
          </a:prstGeom>
          <a:solidFill>
            <a:srgbClr val="C7922D"/>
          </a:solidFill>
          <a:ln w="12700">
            <a:solidFill>
              <a:srgbClr val="C7922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21608" y="192938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063240" y="2560320"/>
            <a:ext cx="1780337" cy="2142308"/>
          </a:xfrm>
          <a:prstGeom prst="roundRect">
            <a:avLst>
              <a:gd name="adj" fmla="val 4500"/>
            </a:avLst>
          </a:prstGeom>
          <a:solidFill>
            <a:srgbClr val="FBF5E8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2697480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Matriz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227832" y="3035808"/>
            <a:ext cx="154533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endParaRPr lang="en-US" sz="1220" dirty="0" smtClean="0">
              <a:solidFill>
                <a:srgbClr val="0A2034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dirty="0" err="1" smtClean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Riesgos</a:t>
            </a:r>
            <a:r>
              <a:rPr lang="en-US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controles, probabilidad, impacto y residual.</a:t>
            </a: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5980176" y="1828800"/>
            <a:ext cx="475488" cy="475488"/>
          </a:xfrm>
          <a:prstGeom prst="ellipse">
            <a:avLst/>
          </a:prstGeom>
          <a:solidFill>
            <a:srgbClr val="C7922D"/>
          </a:solidFill>
          <a:ln w="12700">
            <a:solidFill>
              <a:srgbClr val="C7922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80176" y="192938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321808" y="2560320"/>
            <a:ext cx="1780337" cy="2142308"/>
          </a:xfrm>
          <a:prstGeom prst="roundRect">
            <a:avLst>
              <a:gd name="adj" fmla="val 4500"/>
            </a:avLst>
          </a:prstGeom>
          <a:solidFill>
            <a:srgbClr val="E2F0F0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0" y="2697480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Diseño documental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486400" y="3035808"/>
            <a:ext cx="154533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endParaRPr lang="en-US" sz="1220" dirty="0" smtClean="0">
              <a:solidFill>
                <a:srgbClr val="0A2034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dirty="0" smtClean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</a:t>
            </a:r>
            <a:r>
              <a:rPr lang="en-US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protocolos, actas, cláusulas y reportes.</a:t>
            </a: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8238744" y="1828800"/>
            <a:ext cx="475488" cy="475488"/>
          </a:xfrm>
          <a:prstGeom prst="ellipse">
            <a:avLst/>
          </a:prstGeom>
          <a:solidFill>
            <a:srgbClr val="C7922D"/>
          </a:solidFill>
          <a:ln w="12700">
            <a:solidFill>
              <a:srgbClr val="C7922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38744" y="192938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580376" y="2560320"/>
            <a:ext cx="1780337" cy="2142308"/>
          </a:xfrm>
          <a:prstGeom prst="roundRect">
            <a:avLst>
              <a:gd name="adj" fmla="val 4500"/>
            </a:avLst>
          </a:prstGeom>
          <a:solidFill>
            <a:srgbClr val="FBF5E8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44968" y="2697480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Capacitación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744968" y="3035808"/>
            <a:ext cx="154533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endParaRPr lang="en-US" sz="1220" dirty="0" smtClean="0">
              <a:solidFill>
                <a:srgbClr val="0A2034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dirty="0" err="1" smtClean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Consejo</a:t>
            </a:r>
            <a:r>
              <a:rPr lang="en-US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gerencia, áreas sensibles y personal operativo.</a:t>
            </a: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10497312" y="1828800"/>
            <a:ext cx="475488" cy="475488"/>
          </a:xfrm>
          <a:prstGeom prst="ellipse">
            <a:avLst/>
          </a:prstGeom>
          <a:solidFill>
            <a:srgbClr val="C7922D"/>
          </a:solidFill>
          <a:ln w="12700">
            <a:solidFill>
              <a:srgbClr val="C7922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497312" y="192938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9838944" y="2560319"/>
            <a:ext cx="1874520" cy="2194561"/>
          </a:xfrm>
          <a:prstGeom prst="roundRect">
            <a:avLst>
              <a:gd name="adj" fmla="val 4500"/>
            </a:avLst>
          </a:prstGeom>
          <a:solidFill>
            <a:srgbClr val="E2F0F0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003536" y="2697480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Monitoreo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0003536" y="3035808"/>
            <a:ext cx="154533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Indicadores, revisión periódica y acciones correctivas.</a:t>
            </a: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1024128" y="5047488"/>
            <a:ext cx="100126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“Implementar no es entregar un documento: </a:t>
            </a:r>
            <a:endParaRPr lang="en-US" sz="2400" b="1" dirty="0" smtClean="0">
              <a:solidFill>
                <a:srgbClr val="071B2D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  <a:p>
            <a:pPr marL="0" indent="0" algn="ctr">
              <a:buNone/>
            </a:pPr>
            <a:r>
              <a:rPr lang="en-US" sz="2400" b="1" dirty="0" err="1" smtClean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</a:t>
            </a:r>
            <a:r>
              <a:rPr lang="en-US" sz="2400" b="1" dirty="0" smtClean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instalar un sistema de decisiones trazables.”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LANTILLA. CORLAFC 20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59436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792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DEBE PODER PROBAR LA EMPRESA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749808" y="850392"/>
            <a:ext cx="10744200" cy="88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Evidencia preventiva como defensa anticipada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49808" y="1499616"/>
            <a:ext cx="10652760" cy="0"/>
          </a:xfrm>
          <a:prstGeom prst="line">
            <a:avLst/>
          </a:prstGeom>
          <a:noFill/>
          <a:ln w="14605">
            <a:solidFill>
              <a:srgbClr val="E4C987">
                <a:alpha val="96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210544" y="620877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FA8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449977" y="2389196"/>
            <a:ext cx="9013372" cy="20783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/>
          </a:bodyPr>
          <a:lstStyle/>
          <a:p>
            <a:pPr marL="190500" indent="-190500" algn="just">
              <a:buSzPct val="100000"/>
              <a:buChar char="•"/>
            </a:pPr>
            <a:r>
              <a:rPr lang="en-US" sz="22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el </a:t>
            </a:r>
            <a:r>
              <a:rPr lang="en-US" sz="2200" b="1" u="sng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</a:t>
            </a:r>
            <a:r>
              <a:rPr lang="en-US" sz="22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estaba identificado en una </a:t>
            </a:r>
            <a:r>
              <a:rPr lang="en-US" sz="2200" b="1" u="sng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matriz</a:t>
            </a:r>
            <a:r>
              <a:rPr lang="en-US" sz="22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sectorial y actualizada.</a:t>
            </a:r>
            <a:endParaRPr lang="en-US" sz="2200" dirty="0"/>
          </a:p>
          <a:p>
            <a:pPr marL="190500" indent="-190500" algn="just">
              <a:buSzPct val="100000"/>
              <a:buChar char="•"/>
            </a:pPr>
            <a:r>
              <a:rPr lang="en-US" sz="22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</a:t>
            </a:r>
            <a:r>
              <a:rPr lang="en-US" sz="2200" b="1" u="sng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existía</a:t>
            </a:r>
            <a:r>
              <a:rPr lang="en-US" sz="22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un responsable con </a:t>
            </a:r>
            <a:r>
              <a:rPr lang="en-US" sz="2200" b="1" u="sng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poder real</a:t>
            </a:r>
            <a:r>
              <a:rPr lang="en-US" sz="22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supervisión y reporte.</a:t>
            </a:r>
            <a:endParaRPr lang="en-US" sz="2200" dirty="0"/>
          </a:p>
          <a:p>
            <a:pPr marL="190500" indent="-190500" algn="just">
              <a:buSzPct val="100000"/>
              <a:buChar char="•"/>
            </a:pPr>
            <a:r>
              <a:rPr lang="en-US" sz="22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había </a:t>
            </a:r>
            <a:r>
              <a:rPr lang="en-US" sz="2200" b="1" u="sng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protocolos</a:t>
            </a:r>
            <a:r>
              <a:rPr lang="en-US" sz="22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aplicables al proceso donde ocurrió el </a:t>
            </a:r>
            <a:r>
              <a:rPr lang="en-US" sz="2200" b="1" u="sng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</a:t>
            </a:r>
            <a:r>
              <a:rPr lang="en-US" sz="22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200" dirty="0"/>
          </a:p>
          <a:p>
            <a:pPr marL="190500" indent="-190500" algn="just">
              <a:buSzPct val="100000"/>
              <a:buChar char="•"/>
            </a:pPr>
            <a:r>
              <a:rPr lang="en-US" sz="22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el </a:t>
            </a:r>
            <a:r>
              <a:rPr lang="en-US" sz="2200" b="1" u="sng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fue capacitado</a:t>
            </a:r>
            <a:r>
              <a:rPr lang="en-US" sz="22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que las decisiones críticas fueron documentadas.</a:t>
            </a:r>
            <a:endParaRPr lang="en-US" sz="2200" dirty="0"/>
          </a:p>
          <a:p>
            <a:pPr marL="190500" indent="-190500" algn="just">
              <a:buSzPct val="100000"/>
              <a:buChar char="•"/>
            </a:pPr>
            <a:r>
              <a:rPr lang="en-US" sz="2200" b="1" u="sng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las alertas fueron atendidas</a:t>
            </a:r>
            <a:r>
              <a:rPr lang="en-US" sz="2200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corregidas o escaladas oportunamente.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60120" y="4754880"/>
            <a:ext cx="10149840" cy="11234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“No se trata de garantizar que nunca ocurrirá un delito; se trata de probar que la empresa actuó razonablemente para prevenirlo</a:t>
            </a:r>
            <a:r>
              <a:rPr lang="en-US" sz="24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.”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LANTILLA. CORLAFC 20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-130628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59436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792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LA CARPETA FORMAL AL SISTEMA PROBATORIO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749808" y="850392"/>
            <a:ext cx="107442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Cultura de evidencia preventiva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49808" y="1499616"/>
            <a:ext cx="10652760" cy="0"/>
          </a:xfrm>
          <a:prstGeom prst="line">
            <a:avLst/>
          </a:prstGeom>
          <a:noFill/>
          <a:ln w="14605">
            <a:solidFill>
              <a:srgbClr val="E4C987">
                <a:alpha val="96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210544" y="620877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FA8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914400" y="2002537"/>
            <a:ext cx="10378440" cy="106070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“La pregunta ya no será solamente quién cometió el hecho. </a:t>
            </a:r>
            <a:endParaRPr lang="en-US" sz="2200" b="1" dirty="0" smtClean="0">
              <a:solidFill>
                <a:srgbClr val="00B050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  <a:p>
            <a:pPr marL="0" indent="0" algn="ctr">
              <a:buNone/>
            </a:pPr>
            <a:r>
              <a:rPr lang="en-US" sz="2200" b="1" dirty="0" err="1" smtClean="0">
                <a:solidFill>
                  <a:srgbClr val="00B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Será</a:t>
            </a:r>
            <a:r>
              <a:rPr lang="en-US" sz="2200" b="1" dirty="0" smtClean="0">
                <a:solidFill>
                  <a:srgbClr val="00B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200" b="1" dirty="0">
                <a:solidFill>
                  <a:srgbClr val="00B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también </a:t>
            </a:r>
            <a:r>
              <a:rPr lang="en-US" sz="2200" b="1" u="sng" dirty="0">
                <a:solidFill>
                  <a:srgbClr val="00B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hizo la empresa para evitar</a:t>
            </a:r>
            <a:r>
              <a:rPr lang="en-US" sz="2200" b="1" dirty="0">
                <a:solidFill>
                  <a:srgbClr val="00B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que ese hecho pudiera ocurrir.”</a:t>
            </a:r>
            <a:endParaRPr lang="en-US" sz="2200" dirty="0">
              <a:solidFill>
                <a:srgbClr val="00B050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932688" y="3502152"/>
            <a:ext cx="3154680" cy="1618488"/>
          </a:xfrm>
          <a:prstGeom prst="roundRect">
            <a:avLst>
              <a:gd name="adj" fmla="val 7200"/>
            </a:avLst>
          </a:prstGeom>
          <a:solidFill>
            <a:srgbClr val="E2F0F0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3639312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Prevenir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97280" y="3977640"/>
            <a:ext cx="28254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Identificar riesgos reales por actividad económica.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517136" y="3502152"/>
            <a:ext cx="3154680" cy="1618488"/>
          </a:xfrm>
          <a:prstGeom prst="roundRect">
            <a:avLst>
              <a:gd name="adj" fmla="val 7200"/>
            </a:avLst>
          </a:prstGeom>
          <a:solidFill>
            <a:srgbClr val="FBF5E8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81728" y="3639312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Probar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681728" y="3977640"/>
            <a:ext cx="28254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Conservar evidencia de controles, decisiones y seguimiento.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8101584" y="3502152"/>
            <a:ext cx="3108960" cy="1618488"/>
          </a:xfrm>
          <a:prstGeom prst="roundRect">
            <a:avLst>
              <a:gd name="adj" fmla="val 7200"/>
            </a:avLst>
          </a:prstGeom>
          <a:solidFill>
            <a:srgbClr val="E2F0F0"/>
          </a:solidFill>
          <a:ln w="9525">
            <a:solidFill>
              <a:srgbClr val="D6E0E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66176" y="3639312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Defender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266176" y="3977640"/>
            <a:ext cx="28254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Transformar el cumplimiento en defensa anticipada.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914400" y="5248656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50" b="1" dirty="0">
                <a:solidFill>
                  <a:srgbClr val="C792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Muchas gracias</a:t>
            </a:r>
            <a:endParaRPr lang="en-US" sz="2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LANTILLA. CORLAFC 20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59436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792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SOPORTE CONCEPTUAL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749808" y="850391"/>
            <a:ext cx="10744200" cy="863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Fuentes normativas y técnicas de referencia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749808" y="1499616"/>
            <a:ext cx="10652760" cy="0"/>
          </a:xfrm>
          <a:prstGeom prst="line">
            <a:avLst/>
          </a:prstGeom>
          <a:noFill/>
          <a:ln w="14605">
            <a:solidFill>
              <a:srgbClr val="E4C987">
                <a:alpha val="96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210544" y="620877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FA8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987552" y="2148842"/>
            <a:ext cx="9921240" cy="245058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90500" indent="-190500" algn="just">
              <a:buSzPct val="100000"/>
              <a:buChar char="•"/>
            </a:pPr>
            <a:r>
              <a:rPr lang="en-US" b="1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República Dominicana</a:t>
            </a:r>
            <a:r>
              <a:rPr lang="en-US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Ley núm. 74-25, Código Penal, artículos 8, 9, 10, 11 y 12.</a:t>
            </a:r>
            <a:endParaRPr lang="en-US" dirty="0"/>
          </a:p>
          <a:p>
            <a:pPr marL="190500" indent="-190500" algn="just">
              <a:buSzPct val="100000"/>
              <a:buChar char="•"/>
            </a:pPr>
            <a:r>
              <a:rPr lang="en-US" b="1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Naciones Unidas</a:t>
            </a:r>
            <a:r>
              <a:rPr lang="en-US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Convención contra la Corrupción, artículo 26 sobre responsabilidad de personas jurídicas.</a:t>
            </a:r>
            <a:endParaRPr lang="en-US" dirty="0"/>
          </a:p>
          <a:p>
            <a:pPr marL="190500" indent="-190500" algn="just">
              <a:buSzPct val="100000"/>
              <a:buChar char="•"/>
            </a:pPr>
            <a:r>
              <a:rPr lang="en-US" b="1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GAFI/FATF</a:t>
            </a:r>
            <a:r>
              <a:rPr lang="en-US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Recomendaciones y enfoque basado en riesgo para identificar, evaluar, documentar y mitigar riesgos LA/FT/FP.</a:t>
            </a:r>
            <a:endParaRPr lang="en-US" dirty="0"/>
          </a:p>
          <a:p>
            <a:pPr marL="190500" indent="-190500" algn="just">
              <a:buSzPct val="100000"/>
              <a:buChar char="•"/>
            </a:pPr>
            <a:r>
              <a:rPr lang="en-US" b="1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OCDE</a:t>
            </a:r>
            <a:r>
              <a:rPr lang="en-US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</a:t>
            </a:r>
            <a:r>
              <a:rPr lang="es-MX" dirty="0" smtClean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Recomendación </a:t>
            </a:r>
            <a:r>
              <a:rPr lang="es-MX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 el soborno y guía de buenas prácticas sobre controles internos, ética y cumplimiento normativo.</a:t>
            </a:r>
            <a:r>
              <a:rPr lang="en-US" dirty="0" err="1" smtClean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España</a:t>
            </a:r>
            <a:r>
              <a:rPr lang="en-US" dirty="0">
                <a:solidFill>
                  <a:srgbClr val="0A2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Código Penal, artículo 31 bis, y Circular 1/2016 de la Fiscalía General del Estado.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60120" y="4956048"/>
            <a:ext cx="10104120" cy="676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50" b="1" dirty="0">
                <a:solidFill>
                  <a:srgbClr val="006F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“Estas fuentes sirven como soporte conceptual; la </a:t>
            </a:r>
            <a:r>
              <a:rPr lang="en-US" sz="2050" b="1" dirty="0" err="1" smtClean="0">
                <a:solidFill>
                  <a:srgbClr val="006F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implementación</a:t>
            </a:r>
            <a:r>
              <a:rPr lang="en-US" sz="2050" b="1" dirty="0" smtClean="0">
                <a:solidFill>
                  <a:srgbClr val="006F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| </a:t>
            </a:r>
            <a:r>
              <a:rPr lang="en-US" sz="2050" b="1" dirty="0">
                <a:solidFill>
                  <a:srgbClr val="006F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debe adaptarse a la actividad, tamaño y exposición real de cada empresa.”</a:t>
            </a:r>
            <a:endParaRPr lang="en-US" sz="2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2075</Words>
  <Application>Microsoft Office PowerPoint</Application>
  <PresentationFormat>Panorámica</PresentationFormat>
  <Paragraphs>258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CORLAFC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Prevención penal corporativa: del cumplimiento formal a la defensa anticipada de la empresa</dc:title>
  <dc:subject>CORLAFC 2026 - Prevención penal corporativa</dc:subject>
  <dc:creator>Gustavo A. de los Santos Coll</dc:creator>
  <cp:lastModifiedBy>Amin Montero Vicente</cp:lastModifiedBy>
  <cp:revision>60</cp:revision>
  <dcterms:created xsi:type="dcterms:W3CDTF">2026-06-27T03:32:17Z</dcterms:created>
  <dcterms:modified xsi:type="dcterms:W3CDTF">2026-06-27T12:53:04Z</dcterms:modified>
</cp:coreProperties>
</file>