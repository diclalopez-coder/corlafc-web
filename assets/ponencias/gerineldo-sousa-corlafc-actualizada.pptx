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544" r:id="rId3"/>
    <p:sldId id="780" r:id="rId4"/>
    <p:sldId id="758" r:id="rId5"/>
    <p:sldId id="262" r:id="rId6"/>
    <p:sldId id="779" r:id="rId7"/>
    <p:sldId id="772" r:id="rId8"/>
    <p:sldId id="287" r:id="rId9"/>
    <p:sldId id="739" r:id="rId10"/>
    <p:sldId id="535" r:id="rId11"/>
    <p:sldId id="756" r:id="rId12"/>
    <p:sldId id="767" r:id="rId13"/>
    <p:sldId id="590" r:id="rId14"/>
    <p:sldId id="759" r:id="rId15"/>
    <p:sldId id="766" r:id="rId16"/>
    <p:sldId id="760" r:id="rId17"/>
  </p:sldIdLst>
  <p:sldSz cx="12192000" cy="6858000"/>
  <p:notesSz cx="6858000" cy="93138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7B64E8-8E99-4A52-B7C9-E3789BBF5135}" type="doc">
      <dgm:prSet loTypeId="urn:microsoft.com/office/officeart/2009/layout/CircleArrowProcess#1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PA"/>
        </a:p>
      </dgm:t>
    </dgm:pt>
    <dgm:pt modelId="{9229A404-FF82-4FAC-BFC8-BCB0B1F5C898}">
      <dgm:prSet phldrT="[Texto]"/>
      <dgm:spPr/>
      <dgm:t>
        <a:bodyPr/>
        <a:lstStyle/>
        <a:p>
          <a:r>
            <a:rPr lang="es-PA" dirty="0"/>
            <a:t>analizar</a:t>
          </a:r>
        </a:p>
      </dgm:t>
    </dgm:pt>
    <dgm:pt modelId="{C7670103-096F-4305-B788-777BDEB8553D}" type="parTrans" cxnId="{26522070-D1E2-4CD5-B4FB-DECF54A6AAC0}">
      <dgm:prSet/>
      <dgm:spPr/>
      <dgm:t>
        <a:bodyPr/>
        <a:lstStyle/>
        <a:p>
          <a:endParaRPr lang="es-PA"/>
        </a:p>
      </dgm:t>
    </dgm:pt>
    <dgm:pt modelId="{E3A95A84-EE15-41E2-8A7B-41B9A84085B2}" type="sibTrans" cxnId="{26522070-D1E2-4CD5-B4FB-DECF54A6AAC0}">
      <dgm:prSet/>
      <dgm:spPr/>
      <dgm:t>
        <a:bodyPr/>
        <a:lstStyle/>
        <a:p>
          <a:endParaRPr lang="es-PA"/>
        </a:p>
      </dgm:t>
    </dgm:pt>
    <dgm:pt modelId="{CA444048-5A79-44E7-A8C3-DB28DF6093D2}">
      <dgm:prSet phldrT="[Texto]"/>
      <dgm:spPr/>
      <dgm:t>
        <a:bodyPr/>
        <a:lstStyle/>
        <a:p>
          <a:r>
            <a:rPr lang="es-PA" dirty="0"/>
            <a:t>comparar</a:t>
          </a:r>
        </a:p>
      </dgm:t>
    </dgm:pt>
    <dgm:pt modelId="{4838C0A8-5FEB-4025-AD1C-36B8254A5461}" type="parTrans" cxnId="{21239C8F-ED01-4FAD-8037-6996E54732C4}">
      <dgm:prSet/>
      <dgm:spPr/>
      <dgm:t>
        <a:bodyPr/>
        <a:lstStyle/>
        <a:p>
          <a:endParaRPr lang="es-PA"/>
        </a:p>
      </dgm:t>
    </dgm:pt>
    <dgm:pt modelId="{5DFE3F72-D58D-4D57-9449-E3E681F5DCA9}" type="sibTrans" cxnId="{21239C8F-ED01-4FAD-8037-6996E54732C4}">
      <dgm:prSet/>
      <dgm:spPr/>
      <dgm:t>
        <a:bodyPr/>
        <a:lstStyle/>
        <a:p>
          <a:endParaRPr lang="es-PA"/>
        </a:p>
      </dgm:t>
    </dgm:pt>
    <dgm:pt modelId="{378E002A-7FDE-45F8-BEB4-455BC204E9CD}">
      <dgm:prSet phldrT="[Texto]"/>
      <dgm:spPr/>
      <dgm:t>
        <a:bodyPr/>
        <a:lstStyle/>
        <a:p>
          <a:r>
            <a:rPr lang="es-PA" dirty="0"/>
            <a:t>examinar</a:t>
          </a:r>
        </a:p>
      </dgm:t>
    </dgm:pt>
    <dgm:pt modelId="{599A30B6-3A66-416C-8570-619839391DC6}" type="parTrans" cxnId="{0C4D4A65-A779-4B1A-8DC1-B6E7A6F425F1}">
      <dgm:prSet/>
      <dgm:spPr/>
      <dgm:t>
        <a:bodyPr/>
        <a:lstStyle/>
        <a:p>
          <a:endParaRPr lang="es-PA"/>
        </a:p>
      </dgm:t>
    </dgm:pt>
    <dgm:pt modelId="{737AE35A-4E46-4ACE-92D0-6D138633C78E}" type="sibTrans" cxnId="{0C4D4A65-A779-4B1A-8DC1-B6E7A6F425F1}">
      <dgm:prSet/>
      <dgm:spPr/>
      <dgm:t>
        <a:bodyPr/>
        <a:lstStyle/>
        <a:p>
          <a:endParaRPr lang="es-PA"/>
        </a:p>
      </dgm:t>
    </dgm:pt>
    <dgm:pt modelId="{ADBB58CD-65A6-47BB-9812-470EA9C8F3C1}" type="pres">
      <dgm:prSet presAssocID="{677B64E8-8E99-4A52-B7C9-E3789BBF5135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A929C279-129D-49B3-A7AF-D1252D4326D3}" type="pres">
      <dgm:prSet presAssocID="{9229A404-FF82-4FAC-BFC8-BCB0B1F5C898}" presName="Accent1" presStyleCnt="0"/>
      <dgm:spPr/>
    </dgm:pt>
    <dgm:pt modelId="{35E836CB-4E6A-4BF5-B9C4-FAA0BAA12119}" type="pres">
      <dgm:prSet presAssocID="{9229A404-FF82-4FAC-BFC8-BCB0B1F5C898}" presName="Accent" presStyleLbl="node1" presStyleIdx="0" presStyleCnt="3"/>
      <dgm:spPr/>
    </dgm:pt>
    <dgm:pt modelId="{CA4A1C6A-4AE2-48FC-91BD-F611A6B4717E}" type="pres">
      <dgm:prSet presAssocID="{9229A404-FF82-4FAC-BFC8-BCB0B1F5C898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D7BAE89-1F13-4B07-BB82-A67D91F84F22}" type="pres">
      <dgm:prSet presAssocID="{CA444048-5A79-44E7-A8C3-DB28DF6093D2}" presName="Accent2" presStyleCnt="0"/>
      <dgm:spPr/>
    </dgm:pt>
    <dgm:pt modelId="{DA802518-2BE6-420B-91D4-AB408C237586}" type="pres">
      <dgm:prSet presAssocID="{CA444048-5A79-44E7-A8C3-DB28DF6093D2}" presName="Accent" presStyleLbl="node1" presStyleIdx="1" presStyleCnt="3"/>
      <dgm:spPr/>
    </dgm:pt>
    <dgm:pt modelId="{6401D909-3C8D-47D8-A059-1D120C02D0FB}" type="pres">
      <dgm:prSet presAssocID="{CA444048-5A79-44E7-A8C3-DB28DF6093D2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A1D1247-909F-462B-A1C6-2F4CB2984240}" type="pres">
      <dgm:prSet presAssocID="{378E002A-7FDE-45F8-BEB4-455BC204E9CD}" presName="Accent3" presStyleCnt="0"/>
      <dgm:spPr/>
    </dgm:pt>
    <dgm:pt modelId="{4226A301-E41F-46E4-9145-7C8BC5DC15E5}" type="pres">
      <dgm:prSet presAssocID="{378E002A-7FDE-45F8-BEB4-455BC204E9CD}" presName="Accent" presStyleLbl="node1" presStyleIdx="2" presStyleCnt="3"/>
      <dgm:spPr/>
    </dgm:pt>
    <dgm:pt modelId="{D906E008-1825-4404-B5B8-1BDED2644B86}" type="pres">
      <dgm:prSet presAssocID="{378E002A-7FDE-45F8-BEB4-455BC204E9CD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6522070-D1E2-4CD5-B4FB-DECF54A6AAC0}" srcId="{677B64E8-8E99-4A52-B7C9-E3789BBF5135}" destId="{9229A404-FF82-4FAC-BFC8-BCB0B1F5C898}" srcOrd="0" destOrd="0" parTransId="{C7670103-096F-4305-B788-777BDEB8553D}" sibTransId="{E3A95A84-EE15-41E2-8A7B-41B9A84085B2}"/>
    <dgm:cxn modelId="{647B273C-7DFB-4962-85CD-0F552F9D7B27}" type="presOf" srcId="{378E002A-7FDE-45F8-BEB4-455BC204E9CD}" destId="{D906E008-1825-4404-B5B8-1BDED2644B86}" srcOrd="0" destOrd="0" presId="urn:microsoft.com/office/officeart/2009/layout/CircleArrowProcess#1"/>
    <dgm:cxn modelId="{0C4D4A65-A779-4B1A-8DC1-B6E7A6F425F1}" srcId="{677B64E8-8E99-4A52-B7C9-E3789BBF5135}" destId="{378E002A-7FDE-45F8-BEB4-455BC204E9CD}" srcOrd="2" destOrd="0" parTransId="{599A30B6-3A66-416C-8570-619839391DC6}" sibTransId="{737AE35A-4E46-4ACE-92D0-6D138633C78E}"/>
    <dgm:cxn modelId="{900F2B69-831C-4944-BAB3-F6D24CBCD664}" type="presOf" srcId="{CA444048-5A79-44E7-A8C3-DB28DF6093D2}" destId="{6401D909-3C8D-47D8-A059-1D120C02D0FB}" srcOrd="0" destOrd="0" presId="urn:microsoft.com/office/officeart/2009/layout/CircleArrowProcess#1"/>
    <dgm:cxn modelId="{9F819398-82EB-443E-ACF5-C04A1CD66415}" type="presOf" srcId="{9229A404-FF82-4FAC-BFC8-BCB0B1F5C898}" destId="{CA4A1C6A-4AE2-48FC-91BD-F611A6B4717E}" srcOrd="0" destOrd="0" presId="urn:microsoft.com/office/officeart/2009/layout/CircleArrowProcess#1"/>
    <dgm:cxn modelId="{FCE63EBE-AFC6-4B25-9665-8095134A319E}" type="presOf" srcId="{677B64E8-8E99-4A52-B7C9-E3789BBF5135}" destId="{ADBB58CD-65A6-47BB-9812-470EA9C8F3C1}" srcOrd="0" destOrd="0" presId="urn:microsoft.com/office/officeart/2009/layout/CircleArrowProcess#1"/>
    <dgm:cxn modelId="{21239C8F-ED01-4FAD-8037-6996E54732C4}" srcId="{677B64E8-8E99-4A52-B7C9-E3789BBF5135}" destId="{CA444048-5A79-44E7-A8C3-DB28DF6093D2}" srcOrd="1" destOrd="0" parTransId="{4838C0A8-5FEB-4025-AD1C-36B8254A5461}" sibTransId="{5DFE3F72-D58D-4D57-9449-E3E681F5DCA9}"/>
    <dgm:cxn modelId="{C2879023-05B0-4C70-94E1-9CF9CF97F938}" type="presParOf" srcId="{ADBB58CD-65A6-47BB-9812-470EA9C8F3C1}" destId="{A929C279-129D-49B3-A7AF-D1252D4326D3}" srcOrd="0" destOrd="0" presId="urn:microsoft.com/office/officeart/2009/layout/CircleArrowProcess#1"/>
    <dgm:cxn modelId="{4706042D-5E45-489A-A40E-4F2BFCD02EFE}" type="presParOf" srcId="{A929C279-129D-49B3-A7AF-D1252D4326D3}" destId="{35E836CB-4E6A-4BF5-B9C4-FAA0BAA12119}" srcOrd="0" destOrd="0" presId="urn:microsoft.com/office/officeart/2009/layout/CircleArrowProcess#1"/>
    <dgm:cxn modelId="{083DF619-C6AC-45BB-9638-2D856D1F11A6}" type="presParOf" srcId="{ADBB58CD-65A6-47BB-9812-470EA9C8F3C1}" destId="{CA4A1C6A-4AE2-48FC-91BD-F611A6B4717E}" srcOrd="1" destOrd="0" presId="urn:microsoft.com/office/officeart/2009/layout/CircleArrowProcess#1"/>
    <dgm:cxn modelId="{CB9AC1E5-79EE-4EF4-9AF4-ECCAE5743B07}" type="presParOf" srcId="{ADBB58CD-65A6-47BB-9812-470EA9C8F3C1}" destId="{ED7BAE89-1F13-4B07-BB82-A67D91F84F22}" srcOrd="2" destOrd="0" presId="urn:microsoft.com/office/officeart/2009/layout/CircleArrowProcess#1"/>
    <dgm:cxn modelId="{F9F578A8-4D95-4C5D-A306-DDCA25DFBC7F}" type="presParOf" srcId="{ED7BAE89-1F13-4B07-BB82-A67D91F84F22}" destId="{DA802518-2BE6-420B-91D4-AB408C237586}" srcOrd="0" destOrd="0" presId="urn:microsoft.com/office/officeart/2009/layout/CircleArrowProcess#1"/>
    <dgm:cxn modelId="{B46CE70B-1DAE-4914-8E9E-EA564EA73EB2}" type="presParOf" srcId="{ADBB58CD-65A6-47BB-9812-470EA9C8F3C1}" destId="{6401D909-3C8D-47D8-A059-1D120C02D0FB}" srcOrd="3" destOrd="0" presId="urn:microsoft.com/office/officeart/2009/layout/CircleArrowProcess#1"/>
    <dgm:cxn modelId="{3828234A-9A56-46B8-A60E-0C8A86B032CB}" type="presParOf" srcId="{ADBB58CD-65A6-47BB-9812-470EA9C8F3C1}" destId="{3A1D1247-909F-462B-A1C6-2F4CB2984240}" srcOrd="4" destOrd="0" presId="urn:microsoft.com/office/officeart/2009/layout/CircleArrowProcess#1"/>
    <dgm:cxn modelId="{11281554-F323-4739-871C-F2CB3A69BA49}" type="presParOf" srcId="{3A1D1247-909F-462B-A1C6-2F4CB2984240}" destId="{4226A301-E41F-46E4-9145-7C8BC5DC15E5}" srcOrd="0" destOrd="0" presId="urn:microsoft.com/office/officeart/2009/layout/CircleArrowProcess#1"/>
    <dgm:cxn modelId="{33D77719-85A9-4172-A4FF-34B9DA4245EB}" type="presParOf" srcId="{ADBB58CD-65A6-47BB-9812-470EA9C8F3C1}" destId="{D906E008-1825-4404-B5B8-1BDED2644B86}" srcOrd="5" destOrd="0" presId="urn:microsoft.com/office/officeart/2009/layout/CircleArrowProcess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836CB-4E6A-4BF5-B9C4-FAA0BAA12119}">
      <dsp:nvSpPr>
        <dsp:cNvPr id="0" name=""/>
        <dsp:cNvSpPr/>
      </dsp:nvSpPr>
      <dsp:spPr>
        <a:xfrm>
          <a:off x="3786244" y="0"/>
          <a:ext cx="1796186" cy="179645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A1C6A-4AE2-48FC-91BD-F611A6B4717E}">
      <dsp:nvSpPr>
        <dsp:cNvPr id="0" name=""/>
        <dsp:cNvSpPr/>
      </dsp:nvSpPr>
      <dsp:spPr bwMode="white">
        <a:xfrm>
          <a:off x="4183260" y="648576"/>
          <a:ext cx="998106" cy="498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A" sz="1800" kern="1200" dirty="0"/>
            <a:t>analizar</a:t>
          </a:r>
        </a:p>
      </dsp:txBody>
      <dsp:txXfrm>
        <a:off x="4183260" y="648576"/>
        <a:ext cx="998106" cy="498933"/>
      </dsp:txXfrm>
    </dsp:sp>
    <dsp:sp modelId="{DA802518-2BE6-420B-91D4-AB408C237586}">
      <dsp:nvSpPr>
        <dsp:cNvPr id="0" name=""/>
        <dsp:cNvSpPr/>
      </dsp:nvSpPr>
      <dsp:spPr>
        <a:xfrm>
          <a:off x="3287360" y="1032199"/>
          <a:ext cx="1796186" cy="1796459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1D909-3C8D-47D8-A059-1D120C02D0FB}">
      <dsp:nvSpPr>
        <dsp:cNvPr id="0" name=""/>
        <dsp:cNvSpPr/>
      </dsp:nvSpPr>
      <dsp:spPr bwMode="white">
        <a:xfrm>
          <a:off x="3686400" y="1686746"/>
          <a:ext cx="998106" cy="498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A" sz="1800" kern="1200" dirty="0"/>
            <a:t>comparar</a:t>
          </a:r>
        </a:p>
      </dsp:txBody>
      <dsp:txXfrm>
        <a:off x="3686400" y="1686746"/>
        <a:ext cx="998106" cy="498933"/>
      </dsp:txXfrm>
    </dsp:sp>
    <dsp:sp modelId="{4226A301-E41F-46E4-9145-7C8BC5DC15E5}">
      <dsp:nvSpPr>
        <dsp:cNvPr id="0" name=""/>
        <dsp:cNvSpPr/>
      </dsp:nvSpPr>
      <dsp:spPr>
        <a:xfrm>
          <a:off x="3914085" y="2187919"/>
          <a:ext cx="1543202" cy="1543820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6E008-1825-4404-B5B8-1BDED2644B86}">
      <dsp:nvSpPr>
        <dsp:cNvPr id="0" name=""/>
        <dsp:cNvSpPr/>
      </dsp:nvSpPr>
      <dsp:spPr bwMode="white">
        <a:xfrm>
          <a:off x="4185621" y="2726409"/>
          <a:ext cx="998106" cy="498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A" sz="1800" kern="1200" dirty="0"/>
            <a:t>examinar</a:t>
          </a:r>
        </a:p>
      </dsp:txBody>
      <dsp:txXfrm>
        <a:off x="4185621" y="2726409"/>
        <a:ext cx="998106" cy="498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#1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73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73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270A1-5E7F-4A50-9F42-AEC77E5E7C31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46554"/>
            <a:ext cx="2971800" cy="4673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846554"/>
            <a:ext cx="2971800" cy="4673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B35A3-64FA-446C-B385-E0857E8B8C38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64653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B35A3-64FA-446C-B385-E0857E8B8C38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396869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8879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56056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286955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543706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913836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428066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6575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54892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473376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068566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4854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006113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4211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983249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6899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  <a:prstGeom prst="rect">
            <a:avLst/>
          </a:prstGeo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70306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6D170-7532-463E-BFDB-3B6E93BD270D}" type="datetimeFigureOut">
              <a:rPr lang="es-PA" smtClean="0"/>
              <a:t>06/26/2026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A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C34C675-455A-4461-8E41-2DAD88607548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A9E2F0-A852-4F0B-8677-4EA1271C861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41317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2FFF9-2FC2-5BD6-8733-3F11637D6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378200"/>
          </a:xfrm>
        </p:spPr>
        <p:txBody>
          <a:bodyPr>
            <a:normAutofit fontScale="90000"/>
          </a:bodyPr>
          <a:lstStyle/>
          <a:p>
            <a:r>
              <a:rPr lang="es-PA" dirty="0"/>
              <a:t>La participación de la auditoría forense en la detección de fraudes, actos de corrupción y recuperación de activos en el extranjero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F3E17D-DF18-56DC-E95D-1D58C8A4F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14862"/>
            <a:ext cx="9144000" cy="642937"/>
          </a:xfrm>
        </p:spPr>
        <p:txBody>
          <a:bodyPr/>
          <a:lstStyle/>
          <a:p>
            <a:r>
              <a:rPr lang="es-PA" dirty="0"/>
              <a:t>Gerineldo Sousa, CFCS</a:t>
            </a:r>
          </a:p>
        </p:txBody>
      </p:sp>
      <p:sp>
        <p:nvSpPr>
          <p:cNvPr id="5" name="AutoShape 4" descr="blob:https://web.whatsapp.com/92d71dbd-286b-420c-9081-b96682400462">
            <a:extLst>
              <a:ext uri="{FF2B5EF4-FFF2-40B4-BE49-F238E27FC236}">
                <a16:creationId xmlns:a16="http://schemas.microsoft.com/office/drawing/2014/main" id="{803B01F1-7551-4DD2-8D75-F4E4B97885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D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4693BD-050F-4B3D-BFC0-E9A1BEE4F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042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05997" y="476672"/>
            <a:ext cx="7262508" cy="792088"/>
          </a:xfrm>
        </p:spPr>
        <p:txBody>
          <a:bodyPr/>
          <a:lstStyle/>
          <a:p>
            <a:pPr>
              <a:defRPr/>
            </a:pPr>
            <a:r>
              <a:rPr lang="es-PA" dirty="0"/>
              <a:t>Los delitos económicos</a:t>
            </a:r>
          </a:p>
        </p:txBody>
      </p:sp>
      <p:sp>
        <p:nvSpPr>
          <p:cNvPr id="10243" name="Marcador de contenido 2"/>
          <p:cNvSpPr>
            <a:spLocks noGrp="1"/>
          </p:cNvSpPr>
          <p:nvPr>
            <p:ph idx="1"/>
          </p:nvPr>
        </p:nvSpPr>
        <p:spPr>
          <a:xfrm>
            <a:off x="1061486" y="1844825"/>
            <a:ext cx="10281009" cy="4771047"/>
          </a:xfrm>
        </p:spPr>
        <p:txBody>
          <a:bodyPr/>
          <a:lstStyle/>
          <a:p>
            <a:pPr marL="0" indent="0" algn="just">
              <a:buNone/>
            </a:pPr>
            <a:r>
              <a:rPr lang="es-MX" altLang="es-PA" sz="3000" dirty="0"/>
              <a:t>los delincuentes estudian todos los métodos posibles para tratar de ocultar la forma como se cometieron.</a:t>
            </a:r>
          </a:p>
          <a:p>
            <a:pPr marL="0" indent="0" algn="just">
              <a:buNone/>
            </a:pPr>
            <a:endParaRPr lang="es-MX" altLang="es-PA" sz="3000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s-MX" altLang="es-PA" sz="3000" b="1" dirty="0">
                <a:solidFill>
                  <a:srgbClr val="FF0000"/>
                </a:solidFill>
              </a:rPr>
              <a:t>estructuran una serie de figuras legales, contables y comerciales </a:t>
            </a:r>
            <a:r>
              <a:rPr lang="es-MX" altLang="es-PA" sz="3000" dirty="0"/>
              <a:t>para evitar que los investigadores o las autoridades puedan ubicar los activos convertidos con los fondos</a:t>
            </a:r>
          </a:p>
          <a:p>
            <a:pPr marL="0" indent="0" algn="just">
              <a:buNone/>
            </a:pPr>
            <a:endParaRPr lang="es-PA" altLang="es-PA" sz="3000" dirty="0"/>
          </a:p>
          <a:p>
            <a:pPr marL="0" indent="0">
              <a:buNone/>
            </a:pPr>
            <a:endParaRPr lang="es-PA" altLang="es-P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C34C675-455A-4461-8E41-2DAD88607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42FFF9-2FC2-5BD6-8733-3F11637D6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378200"/>
          </a:xfrm>
        </p:spPr>
        <p:txBody>
          <a:bodyPr>
            <a:normAutofit fontScale="90000"/>
          </a:bodyPr>
          <a:lstStyle/>
          <a:p>
            <a:r>
              <a:rPr lang="es-PA" dirty="0"/>
              <a:t>La participación de la auditoría forense en la detección de fraudes, actos de corrupción y recuperación de activos en el extranjero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F3E17D-DF18-56DC-E95D-1D58C8A4F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14862"/>
            <a:ext cx="9144000" cy="642937"/>
          </a:xfrm>
        </p:spPr>
        <p:txBody>
          <a:bodyPr/>
          <a:lstStyle/>
          <a:p>
            <a:r>
              <a:rPr lang="es-PA" dirty="0"/>
              <a:t>Gerineldo Sousa, CFCS</a:t>
            </a:r>
          </a:p>
        </p:txBody>
      </p:sp>
    </p:spTree>
    <p:extLst>
      <p:ext uri="{BB962C8B-B14F-4D97-AF65-F5344CB8AC3E}">
        <p14:creationId xmlns:p14="http://schemas.microsoft.com/office/powerpoint/2010/main" val="1737974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1E2F9-3D89-B19A-116F-9D221D47E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La contabilidad y los actos de corrupción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FB8444-709F-8DBD-A9E2-2D18B8C29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7338"/>
            <a:ext cx="10515600" cy="46196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PA" sz="3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s-PA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contabilidad para tratar de ocultar el acto  o manipular los movimientos o partidas financieras.</a:t>
            </a:r>
          </a:p>
          <a:p>
            <a:pPr marL="0" indent="0">
              <a:buNone/>
            </a:pPr>
            <a:endParaRPr lang="es-PA" sz="3600" dirty="0"/>
          </a:p>
          <a:p>
            <a:pPr marL="0" indent="0">
              <a:buNone/>
            </a:pPr>
            <a:r>
              <a:rPr lang="es-PA" sz="3600" dirty="0"/>
              <a:t>Los libros y registros contables son una fuente importante que aportan indicios y evidencias y ayudan a descubrir métodos o tipologías</a:t>
            </a:r>
            <a:endParaRPr lang="es-PA" sz="3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PA" sz="3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PA" sz="3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s-PA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puede descubrir y probar este tipo de acciones, utilizando técnicas especializadas de investigación contable. (contabilidad forense)</a:t>
            </a:r>
            <a:endParaRPr lang="es-PA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3227810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A" b="1" dirty="0"/>
              <a:t>Técnicas de investigación contable</a:t>
            </a:r>
            <a:br>
              <a:rPr lang="es-PA" b="1" dirty="0"/>
            </a:br>
            <a:r>
              <a:rPr lang="es-PA" b="1" dirty="0"/>
              <a:t>los tres grandes acciones</a:t>
            </a:r>
            <a:endParaRPr lang="es-PA" dirty="0"/>
          </a:p>
        </p:txBody>
      </p:sp>
      <p:graphicFrame>
        <p:nvGraphicFramePr>
          <p:cNvPr id="9" name="Marcador de contenido 8"/>
          <p:cNvGraphicFramePr>
            <a:graphicFrameLocks noGrp="1"/>
          </p:cNvGraphicFramePr>
          <p:nvPr>
            <p:ph idx="1"/>
          </p:nvPr>
        </p:nvGraphicFramePr>
        <p:xfrm>
          <a:off x="677862" y="1869990"/>
          <a:ext cx="8869791" cy="3731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68D29-BE58-1718-F9F9-82AAD51CA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55AF1-2FF2-168C-D3D3-FEFEDE38C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La contabilidad y los actos de corrupción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8E5440-3D63-32AE-78D5-CF14E45B0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19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contador con conocimiento de auditoria forense va más allá de la evidencia de auditoría, de: </a:t>
            </a:r>
          </a:p>
          <a:p>
            <a:pPr marL="514350" indent="-514350">
              <a:buAutoNum type="alphaLcPeriod"/>
            </a:pP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seguridad razonable, </a:t>
            </a:r>
          </a:p>
          <a:p>
            <a:pPr marL="514350" indent="-514350">
              <a:buAutoNum type="alphaLcPeriod"/>
            </a:pP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evalúa e investiga de forma exhaustiva, centrándose en el hecho ilícito y en la mala fe de las personas. </a:t>
            </a:r>
          </a:p>
          <a:p>
            <a:pPr marL="0" indent="0">
              <a:buNone/>
            </a:pPr>
            <a:endParaRPr lang="es-PA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PA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es lo mismo sustentación de hechos que justificación de uso.</a:t>
            </a:r>
            <a:endParaRPr lang="es-PA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604554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1E8D5-78E2-6BFE-2991-81C860634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525" y="624110"/>
            <a:ext cx="9590087" cy="833215"/>
          </a:xfrm>
        </p:spPr>
        <p:txBody>
          <a:bodyPr>
            <a:normAutofit/>
          </a:bodyPr>
          <a:lstStyle/>
          <a:p>
            <a:r>
              <a:rPr lang="es-PA" sz="3200" b="1" dirty="0"/>
              <a:t>Consideraciones de medios demostrativos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00C322-CFDF-53AF-C69A-7BEBAB7A2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975" y="1457325"/>
            <a:ext cx="10561637" cy="4776565"/>
          </a:xfrm>
        </p:spPr>
        <p:txBody>
          <a:bodyPr>
            <a:noAutofit/>
          </a:bodyPr>
          <a:lstStyle/>
          <a:p>
            <a:r>
              <a:rPr lang="es-PA" sz="2800" b="1" dirty="0">
                <a:solidFill>
                  <a:srgbClr val="FF0000"/>
                </a:solidFill>
              </a:rPr>
              <a:t>Indicio</a:t>
            </a:r>
          </a:p>
          <a:p>
            <a:pPr marL="0" indent="0">
              <a:buNone/>
            </a:pPr>
            <a:r>
              <a:rPr lang="es-PA" sz="2800" dirty="0"/>
              <a:t>Situaciones que generan la sospecha del hecho a investigar y que proporciona las evidencias pertinentes</a:t>
            </a:r>
          </a:p>
          <a:p>
            <a:r>
              <a:rPr lang="es-PA" sz="2800" b="1" dirty="0">
                <a:solidFill>
                  <a:srgbClr val="FF0000"/>
                </a:solidFill>
              </a:rPr>
              <a:t>Evidencia</a:t>
            </a:r>
          </a:p>
          <a:p>
            <a:pPr marL="0" indent="0">
              <a:buNone/>
            </a:pPr>
            <a:r>
              <a:rPr lang="es-PA" sz="2800" dirty="0"/>
              <a:t>Constituyen los elementos objetivos que proveen información y obtenidos a través de procedimientos de investigación </a:t>
            </a:r>
          </a:p>
          <a:p>
            <a:r>
              <a:rPr lang="es-PA" sz="2800" b="1" dirty="0">
                <a:solidFill>
                  <a:srgbClr val="FF0000"/>
                </a:solidFill>
              </a:rPr>
              <a:t>Evidencia con valor probatorio o Prueba (Hallazgo)</a:t>
            </a:r>
          </a:p>
          <a:p>
            <a:pPr marL="0" indent="0">
              <a:buNone/>
            </a:pPr>
            <a:r>
              <a:rPr lang="es-PA" sz="2800" dirty="0"/>
              <a:t>Son las evidencias pertinentes obtenidas pero que son ajustadas al debido proceso jurídico</a:t>
            </a:r>
          </a:p>
        </p:txBody>
      </p:sp>
    </p:spTree>
    <p:extLst>
      <p:ext uri="{BB962C8B-B14F-4D97-AF65-F5344CB8AC3E}">
        <p14:creationId xmlns:p14="http://schemas.microsoft.com/office/powerpoint/2010/main" val="3966387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2B1AAFA2-6746-480F-8559-97C98698D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120" y="467360"/>
            <a:ext cx="9509760" cy="751840"/>
          </a:xfrm>
        </p:spPr>
        <p:txBody>
          <a:bodyPr/>
          <a:lstStyle/>
          <a:p>
            <a:pPr>
              <a:defRPr/>
            </a:pPr>
            <a:r>
              <a:rPr lang="es-MX" dirty="0">
                <a:solidFill>
                  <a:schemeClr val="tx2">
                    <a:satMod val="130000"/>
                  </a:schemeClr>
                </a:solidFill>
              </a:rPr>
              <a:t>Naturaleza del fraude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5C17256-9134-4BA5-8F48-82F18F765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219200"/>
            <a:ext cx="11522449" cy="4738688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130000"/>
              </a:lnSpc>
              <a:spcBef>
                <a:spcPct val="5000"/>
              </a:spcBef>
              <a:buSzPct val="90000"/>
              <a:buFontTx/>
              <a:buChar char="•"/>
            </a:pPr>
            <a:r>
              <a:rPr lang="es-ES_tradnl" altLang="es-PA" sz="3200" dirty="0"/>
              <a:t>Demasiada confianza en los empleados </a:t>
            </a:r>
          </a:p>
          <a:p>
            <a:pPr lvl="1" eaLnBrk="1" hangingPunct="1">
              <a:lnSpc>
                <a:spcPct val="130000"/>
              </a:lnSpc>
              <a:spcBef>
                <a:spcPct val="5000"/>
              </a:spcBef>
              <a:buSzPct val="90000"/>
              <a:buFontTx/>
              <a:buChar char="•"/>
            </a:pPr>
            <a:r>
              <a:rPr lang="es-ES_tradnl" altLang="es-PA" sz="3200" dirty="0"/>
              <a:t>Débiles procedimientos y procesos apropiados para el control</a:t>
            </a:r>
          </a:p>
          <a:p>
            <a:pPr lvl="1" eaLnBrk="1" hangingPunct="1">
              <a:lnSpc>
                <a:spcPct val="130000"/>
              </a:lnSpc>
              <a:spcBef>
                <a:spcPct val="5000"/>
              </a:spcBef>
              <a:buSzPct val="90000"/>
              <a:buFontTx/>
              <a:buChar char="•"/>
            </a:pPr>
            <a:r>
              <a:rPr lang="es-ES_tradnl" altLang="es-PA" sz="3200" dirty="0"/>
              <a:t>Falta de revelación de información contable </a:t>
            </a:r>
          </a:p>
          <a:p>
            <a:pPr lvl="1" eaLnBrk="1" hangingPunct="1">
              <a:lnSpc>
                <a:spcPct val="130000"/>
              </a:lnSpc>
              <a:spcBef>
                <a:spcPct val="5000"/>
              </a:spcBef>
              <a:buSzPct val="90000"/>
              <a:buFontTx/>
              <a:buChar char="•"/>
            </a:pPr>
            <a:r>
              <a:rPr lang="es-ES_tradnl" altLang="es-PA" sz="3200" dirty="0"/>
              <a:t>Inadecuada separación entre la autoridad sobre operaciones y la custodia</a:t>
            </a:r>
          </a:p>
          <a:p>
            <a:pPr eaLnBrk="1" hangingPunct="1"/>
            <a:endParaRPr lang="en-US" altLang="es-PA" sz="180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2845CFE5-B94C-4BC7-A276-0BEAF4B6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GERINELDO SOUSA MELO,CPA, CFCS</a:t>
            </a:r>
          </a:p>
        </p:txBody>
      </p:sp>
    </p:spTree>
    <p:extLst>
      <p:ext uri="{BB962C8B-B14F-4D97-AF65-F5344CB8AC3E}">
        <p14:creationId xmlns:p14="http://schemas.microsoft.com/office/powerpoint/2010/main" val="89614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A94C-0410-4E73-9588-1828C992E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MX" dirty="0"/>
              <a:t>Como investigar el fraude</a:t>
            </a:r>
            <a:endParaRPr lang="es-P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038CF-CA03-41B0-90EA-9DA881AFE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88" y="2133600"/>
            <a:ext cx="10918824" cy="3777622"/>
          </a:xfrm>
        </p:spPr>
        <p:txBody>
          <a:bodyPr/>
          <a:lstStyle/>
          <a:p>
            <a:pPr>
              <a:defRPr/>
            </a:pPr>
            <a:r>
              <a:rPr lang="es-ES" sz="4000" dirty="0"/>
              <a:t>Entender los hechos.</a:t>
            </a:r>
            <a:endParaRPr lang="es-PA" sz="4000" dirty="0"/>
          </a:p>
          <a:p>
            <a:pPr>
              <a:defRPr/>
            </a:pPr>
            <a:r>
              <a:rPr lang="es-ES" sz="4000" dirty="0"/>
              <a:t>Desarrollar un plan de investigación.</a:t>
            </a:r>
            <a:endParaRPr lang="es-PA" sz="4000" dirty="0"/>
          </a:p>
          <a:p>
            <a:pPr>
              <a:defRPr/>
            </a:pPr>
            <a:r>
              <a:rPr lang="es-ES" sz="4000" dirty="0"/>
              <a:t>Ejecutar la investigación.</a:t>
            </a:r>
            <a:endParaRPr lang="es-PA" sz="4000" dirty="0"/>
          </a:p>
          <a:p>
            <a:pPr marL="82550" indent="0">
              <a:buNone/>
              <a:defRPr/>
            </a:pP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3418895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2" y="381000"/>
            <a:ext cx="9829799" cy="815752"/>
          </a:xfrm>
        </p:spPr>
        <p:txBody>
          <a:bodyPr/>
          <a:lstStyle/>
          <a:p>
            <a:pPr algn="ctr"/>
            <a:r>
              <a:rPr lang="es-PA" dirty="0"/>
              <a:t>Factores que promueven la corrupción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PA" b="1" u="sng" dirty="0">
                <a:solidFill>
                  <a:srgbClr val="FF0000"/>
                </a:solidFill>
              </a:rPr>
              <a:t>Oportunidad</a:t>
            </a:r>
          </a:p>
          <a:p>
            <a:pPr marL="0" indent="0">
              <a:buNone/>
            </a:pPr>
            <a:r>
              <a:rPr lang="es-PA" dirty="0"/>
              <a:t>los delincuentes se aprovechan de las debilidades de control interno o cuando los sistemas no funcionan apropiadamente.</a:t>
            </a:r>
          </a:p>
          <a:p>
            <a:r>
              <a:rPr lang="es-PA" b="1" u="sng" dirty="0">
                <a:solidFill>
                  <a:srgbClr val="FF0000"/>
                </a:solidFill>
              </a:rPr>
              <a:t>Pocas posibilidades de ser descubiertos</a:t>
            </a:r>
          </a:p>
          <a:p>
            <a:pPr marL="0" indent="0">
              <a:buNone/>
            </a:pPr>
            <a:r>
              <a:rPr lang="es-PA" dirty="0"/>
              <a:t>El delincuente estructura la comisión delito, ya que considera que existe una falta de transparencia y debilidades en el sistema judicial.</a:t>
            </a:r>
          </a:p>
          <a:p>
            <a:r>
              <a:rPr lang="es-PA" b="1" u="sng" dirty="0">
                <a:solidFill>
                  <a:srgbClr val="FF0000"/>
                </a:solidFill>
              </a:rPr>
              <a:t>Pocos incentivos</a:t>
            </a:r>
          </a:p>
          <a:p>
            <a:pPr marL="0" indent="0">
              <a:buNone/>
            </a:pPr>
            <a:r>
              <a:rPr lang="es-PA" dirty="0"/>
              <a:t>los empleados manifiestan excusas salariares para ejecutar una actitud delictiva.</a:t>
            </a:r>
          </a:p>
          <a:p>
            <a:r>
              <a:rPr lang="es-PA" b="1" u="sng" dirty="0">
                <a:solidFill>
                  <a:srgbClr val="FF0000"/>
                </a:solidFill>
              </a:rPr>
              <a:t>Actitudes o circunstancias que hacen que las personas cometan actos de corrupción</a:t>
            </a:r>
          </a:p>
          <a:p>
            <a:pPr marL="0" indent="0">
              <a:buNone/>
            </a:pPr>
            <a:r>
              <a:rPr lang="es-PA" dirty="0"/>
              <a:t>Excusas que la pobreza o la escasez de bienes, conllevan a aprovechar las oportunidades que se les presentan para obtener riquezas de forma ilícita</a:t>
            </a:r>
          </a:p>
          <a:p>
            <a:endParaRPr lang="es-PA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 dirty="0"/>
              <a:t>Gerineldo Sousa, CFCS</a:t>
            </a:r>
          </a:p>
        </p:txBody>
      </p:sp>
    </p:spTree>
    <p:extLst>
      <p:ext uri="{BB962C8B-B14F-4D97-AF65-F5344CB8AC3E}">
        <p14:creationId xmlns:p14="http://schemas.microsoft.com/office/powerpoint/2010/main" val="315527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D35A5-26C6-4967-A858-5F7D762F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Hechos que generan la corrupción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BA9061-16A3-4490-AD0A-DE7A30CE6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s-PA" sz="4000" b="1" dirty="0">
                <a:solidFill>
                  <a:srgbClr val="FF0000"/>
                </a:solidFill>
              </a:rPr>
              <a:t>Incentivos políticos</a:t>
            </a:r>
          </a:p>
          <a:p>
            <a:pPr marL="0" indent="0">
              <a:buNone/>
            </a:pPr>
            <a:r>
              <a:rPr lang="es-PA" sz="4000" dirty="0"/>
              <a:t>Subsidios financieros a partidos políticos y procesos electorales, sin una apropiada fiscalización del uso de los fondos.</a:t>
            </a:r>
          </a:p>
          <a:p>
            <a:pPr marL="0" indent="0">
              <a:buNone/>
            </a:pPr>
            <a:endParaRPr lang="es-PA" sz="4000" dirty="0"/>
          </a:p>
          <a:p>
            <a:pPr marL="0" indent="0">
              <a:buNone/>
            </a:pPr>
            <a:r>
              <a:rPr lang="es-PA" sz="4000" dirty="0"/>
              <a:t>Beneficios otorgados a personas favorecidas muy cercanas a quienes ejercen el poder político.</a:t>
            </a:r>
          </a:p>
          <a:p>
            <a:pPr marL="0" indent="0">
              <a:buNone/>
            </a:pPr>
            <a:endParaRPr lang="es-PA" sz="4000" dirty="0"/>
          </a:p>
          <a:p>
            <a:r>
              <a:rPr lang="es-PA" sz="4000" b="1" dirty="0">
                <a:solidFill>
                  <a:srgbClr val="FF0000"/>
                </a:solidFill>
              </a:rPr>
              <a:t>Incentivos legales</a:t>
            </a:r>
          </a:p>
          <a:p>
            <a:pPr marL="0" indent="0">
              <a:buNone/>
            </a:pPr>
            <a:r>
              <a:rPr lang="es-PA" sz="4000" dirty="0"/>
              <a:t>Poca o nula independencia entre el órgano judicial y los otros órganos del Estado.</a:t>
            </a:r>
          </a:p>
          <a:p>
            <a:pPr marL="0" indent="0">
              <a:buNone/>
            </a:pPr>
            <a:r>
              <a:rPr lang="es-PA" sz="4000" dirty="0"/>
              <a:t>Poca o nula reglamentación legal para rendición de cuentas o aplicación de normas legales.</a:t>
            </a:r>
          </a:p>
          <a:p>
            <a:pPr marL="0" indent="0">
              <a:buNone/>
            </a:pPr>
            <a:endParaRPr lang="es-PA" sz="4000" dirty="0"/>
          </a:p>
          <a:p>
            <a:endParaRPr lang="es-PA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F68944-173D-42C1-8B56-441D6E77B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Gerineldo Sousa, CFCS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6954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1B468-1861-F6E3-4FF3-9AE66DCED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259FE-08FD-3AFC-4AD7-9E4CB08B4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3588"/>
          </a:xfrm>
        </p:spPr>
        <p:txBody>
          <a:bodyPr/>
          <a:lstStyle/>
          <a:p>
            <a:r>
              <a:rPr lang="es-PA" dirty="0"/>
              <a:t>Hechos que generan la corrupción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1D4880-3410-244D-87EB-E6C01E1A3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36687"/>
            <a:ext cx="10515600" cy="4919663"/>
          </a:xfrm>
        </p:spPr>
        <p:txBody>
          <a:bodyPr>
            <a:normAutofit/>
          </a:bodyPr>
          <a:lstStyle/>
          <a:p>
            <a:r>
              <a:rPr lang="es-PA" sz="4000" dirty="0">
                <a:solidFill>
                  <a:srgbClr val="FF0000"/>
                </a:solidFill>
              </a:rPr>
              <a:t>Incentivos económicos</a:t>
            </a:r>
          </a:p>
          <a:p>
            <a:pPr marL="0" indent="0">
              <a:buNone/>
            </a:pPr>
            <a:r>
              <a:rPr lang="es-PA" dirty="0"/>
              <a:t>Bajo salario a los funcionarios</a:t>
            </a:r>
          </a:p>
          <a:p>
            <a:pPr marL="0" indent="0">
              <a:buNone/>
            </a:pPr>
            <a:r>
              <a:rPr lang="es-PA" dirty="0"/>
              <a:t>Alto grado de pobreza</a:t>
            </a:r>
          </a:p>
          <a:p>
            <a:pPr marL="0" indent="0">
              <a:buNone/>
            </a:pPr>
            <a:r>
              <a:rPr lang="es-PA" dirty="0"/>
              <a:t>Falta de oportunidades laborales</a:t>
            </a:r>
          </a:p>
          <a:p>
            <a:pPr marL="0" indent="0">
              <a:buNone/>
            </a:pPr>
            <a:r>
              <a:rPr lang="es-PA" dirty="0"/>
              <a:t>Poca transparencia en las licitaciones gubernamentales</a:t>
            </a:r>
          </a:p>
          <a:p>
            <a:r>
              <a:rPr lang="es-PA" sz="4000" dirty="0">
                <a:solidFill>
                  <a:srgbClr val="FF0000"/>
                </a:solidFill>
              </a:rPr>
              <a:t>Incentivos culturales</a:t>
            </a:r>
          </a:p>
          <a:p>
            <a:pPr marL="0" indent="0">
              <a:buNone/>
            </a:pPr>
            <a:r>
              <a:rPr lang="es-PA" dirty="0"/>
              <a:t>Influencia política para beneficiar determinados sectores</a:t>
            </a:r>
          </a:p>
          <a:p>
            <a:pPr marL="0" indent="0">
              <a:buNone/>
            </a:pPr>
            <a:r>
              <a:rPr lang="es-PA" dirty="0"/>
              <a:t>Corrupción sistemática, aceptada como propia del manejo</a:t>
            </a:r>
          </a:p>
          <a:p>
            <a:pPr marL="0" indent="0">
              <a:buNone/>
            </a:pPr>
            <a:r>
              <a:rPr lang="es-PA" dirty="0"/>
              <a:t>Escasa formación ciudadana para participar.</a:t>
            </a:r>
          </a:p>
          <a:p>
            <a:endParaRPr lang="es-PA" sz="4000" dirty="0"/>
          </a:p>
          <a:p>
            <a:pPr marL="0" indent="0">
              <a:buNone/>
            </a:pPr>
            <a:endParaRPr lang="es-PA" sz="4000" dirty="0"/>
          </a:p>
          <a:p>
            <a:endParaRPr lang="es-PA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A14789-EA49-1590-C22D-B9D59F194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 dirty="0"/>
              <a:t>Gerineldo Sousa, CFCS</a:t>
            </a:r>
          </a:p>
        </p:txBody>
      </p:sp>
    </p:spTree>
    <p:extLst>
      <p:ext uri="{BB962C8B-B14F-4D97-AF65-F5344CB8AC3E}">
        <p14:creationId xmlns:p14="http://schemas.microsoft.com/office/powerpoint/2010/main" val="415319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A" dirty="0"/>
              <a:t>Formas utilizadas para ocultar el dinero producto de la corrupción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12050" y="2115156"/>
            <a:ext cx="10527781" cy="3788103"/>
          </a:xfrm>
        </p:spPr>
        <p:txBody>
          <a:bodyPr>
            <a:normAutofit/>
          </a:bodyPr>
          <a:lstStyle/>
          <a:p>
            <a:pPr lvl="0"/>
            <a:r>
              <a:rPr lang="es-PA" dirty="0"/>
              <a:t>Cuentas en el extranjero o en centros “offshore” a nombre de testaferros o familiares</a:t>
            </a:r>
          </a:p>
          <a:p>
            <a:pPr lvl="0"/>
            <a:r>
              <a:rPr lang="es-PA" dirty="0"/>
              <a:t>Terceros o testaferros que sirven de pantalla a funcionarios corruptos</a:t>
            </a:r>
          </a:p>
          <a:p>
            <a:pPr lvl="0"/>
            <a:r>
              <a:rPr lang="es-PA" dirty="0"/>
              <a:t>Compañías ficticias</a:t>
            </a:r>
          </a:p>
          <a:p>
            <a:pPr lvl="0"/>
            <a:r>
              <a:rPr lang="es-PA" dirty="0"/>
              <a:t>Comisiones/honorarios mucho más altos que los que cobran otros terceros en el mismo sector, sin una explicación con un fundamento comercial convincente.</a:t>
            </a:r>
          </a:p>
          <a:p>
            <a:pPr lvl="0"/>
            <a:r>
              <a:rPr lang="es-PA" dirty="0"/>
              <a:t>Solicitud de acuerdos de pago inusuales, extraños o anormales, tales como comisiones excesivas o reembolsos inusuales.</a:t>
            </a:r>
          </a:p>
          <a:p>
            <a:pPr lvl="0"/>
            <a:r>
              <a:rPr lang="es-PA" dirty="0"/>
              <a:t>Solicitud de que los pagos de los servicios se realicen en cuentas en el extranjero.</a:t>
            </a:r>
          </a:p>
          <a:p>
            <a:pPr lvl="0"/>
            <a:r>
              <a:rPr lang="es-PA" dirty="0"/>
              <a:t>Terceros que no tienen mucha experiencia en el campo en el que supuestamente Trabajan.</a:t>
            </a:r>
          </a:p>
        </p:txBody>
      </p:sp>
    </p:spTree>
    <p:extLst>
      <p:ext uri="{BB962C8B-B14F-4D97-AF65-F5344CB8AC3E}">
        <p14:creationId xmlns:p14="http://schemas.microsoft.com/office/powerpoint/2010/main" val="63407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C93E5-67A3-38A1-BEE6-724AF254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58" y="2243667"/>
            <a:ext cx="8596668" cy="1826581"/>
          </a:xfrm>
        </p:spPr>
        <p:txBody>
          <a:bodyPr>
            <a:normAutofit fontScale="90000"/>
          </a:bodyPr>
          <a:lstStyle/>
          <a:p>
            <a:r>
              <a:rPr lang="es-PA" dirty="0"/>
              <a:t>La auditoria forense y la recuperación de activos en el extranjero</a:t>
            </a:r>
          </a:p>
        </p:txBody>
      </p:sp>
    </p:spTree>
    <p:extLst>
      <p:ext uri="{BB962C8B-B14F-4D97-AF65-F5344CB8AC3E}">
        <p14:creationId xmlns:p14="http://schemas.microsoft.com/office/powerpoint/2010/main" val="3972049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D3FA5D-C92B-188C-BCBD-137EB7A71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Ayuda a las autoridades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07597B-5E0A-407A-F98E-F919774D1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s-PA" dirty="0"/>
              <a:t>Preparar una lista de todos los activos tangibles e intangibles para los que se solicita la recuperación de activos. </a:t>
            </a:r>
          </a:p>
          <a:p>
            <a:pPr marL="0" indent="0">
              <a:buNone/>
            </a:pPr>
            <a:endParaRPr lang="es-PA" dirty="0"/>
          </a:p>
          <a:p>
            <a:pPr lvl="0"/>
            <a:r>
              <a:rPr lang="es-PA" dirty="0"/>
              <a:t>Un valor real o tasado de cada artículo o bien que es objeto de un esfuerzo de recuperación de activos. </a:t>
            </a:r>
          </a:p>
          <a:p>
            <a:pPr marL="0" indent="0">
              <a:buNone/>
            </a:pPr>
            <a:endParaRPr lang="es-PA" dirty="0"/>
          </a:p>
          <a:p>
            <a:pPr lvl="0"/>
            <a:r>
              <a:rPr lang="es-PA" dirty="0"/>
              <a:t>Los nombres e información de contacto de todas aquellas personas que puedan tener un interés legal o de otro tipo en un activo que es objeto de un esfuerzo de recuperación de activos, o que ha sido congelado o confiscado. </a:t>
            </a:r>
          </a:p>
          <a:p>
            <a:pPr marL="0" indent="0">
              <a:buNone/>
            </a:pPr>
            <a:r>
              <a:rPr lang="es-PA" dirty="0"/>
              <a:t> </a:t>
            </a:r>
          </a:p>
          <a:p>
            <a:r>
              <a:rPr lang="es-PA" dirty="0"/>
              <a:t>Una lista de todos los propietarios registrados y los titulares de embargos, gravámenes, derechos prendarios sobre los activos que son objeto de un decomiso, congelamiento u otro esfuerzo de recuperación de activos</a:t>
            </a:r>
          </a:p>
        </p:txBody>
      </p:sp>
    </p:spTree>
    <p:extLst>
      <p:ext uri="{BB962C8B-B14F-4D97-AF65-F5344CB8AC3E}">
        <p14:creationId xmlns:p14="http://schemas.microsoft.com/office/powerpoint/2010/main" val="3858830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BF513-48E4-BFFF-F4DA-23997F38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Procedimientos de auditoría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9AB5CE-4FAD-CD73-D111-E087DA1B1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PA" dirty="0"/>
              <a:t> </a:t>
            </a:r>
            <a:r>
              <a:rPr lang="es-PA" b="1" dirty="0"/>
              <a:t>Análisis de origen y aplicación de fondos </a:t>
            </a:r>
            <a:r>
              <a:rPr lang="es-PA" dirty="0"/>
              <a:t> </a:t>
            </a:r>
          </a:p>
          <a:p>
            <a:r>
              <a:rPr lang="es-PA" b="1" dirty="0"/>
              <a:t>Identificar los beneficiarios o receptores de pagos</a:t>
            </a:r>
            <a:endParaRPr lang="es-PA" dirty="0"/>
          </a:p>
          <a:p>
            <a:r>
              <a:rPr lang="es-PA" dirty="0"/>
              <a:t> </a:t>
            </a:r>
            <a:r>
              <a:rPr lang="es-PA" b="1" dirty="0"/>
              <a:t>Comprender los retiros de efectivo </a:t>
            </a:r>
            <a:endParaRPr lang="es-PA" dirty="0"/>
          </a:p>
          <a:p>
            <a:r>
              <a:rPr lang="es-PA" dirty="0"/>
              <a:t> </a:t>
            </a:r>
            <a:r>
              <a:rPr lang="es-PA" b="1" dirty="0"/>
              <a:t>Encontrar entidades relacionadas</a:t>
            </a:r>
            <a:endParaRPr lang="es-PA" dirty="0"/>
          </a:p>
          <a:p>
            <a:r>
              <a:rPr lang="es-PA" b="1" dirty="0"/>
              <a:t> Fuentes de inteligencia</a:t>
            </a:r>
            <a:endParaRPr lang="es-PA" dirty="0"/>
          </a:p>
          <a:p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12944693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ppt13DF.tmp</Template>
  <TotalTime>132</TotalTime>
  <Words>863</Words>
  <Application>Microsoft Office PowerPoint</Application>
  <PresentationFormat>Panorámica</PresentationFormat>
  <Paragraphs>97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Wingdings 3</vt:lpstr>
      <vt:lpstr>Faceta</vt:lpstr>
      <vt:lpstr>La participación de la auditoría forense en la detección de fraudes, actos de corrupción y recuperación de activos en el extranjero</vt:lpstr>
      <vt:lpstr>Los delitos económicos</vt:lpstr>
      <vt:lpstr>La participación de la auditoría forense en la detección de fraudes, actos de corrupción y recuperación de activos en el extranjero</vt:lpstr>
      <vt:lpstr>La contabilidad y los actos de corrupción</vt:lpstr>
      <vt:lpstr>Técnicas de investigación contable los tres grandes acciones</vt:lpstr>
      <vt:lpstr>La contabilidad y los actos de corrupción</vt:lpstr>
      <vt:lpstr>Consideraciones de medios demostrativos</vt:lpstr>
      <vt:lpstr>Naturaleza del fraude</vt:lpstr>
      <vt:lpstr>Como investigar el fraude</vt:lpstr>
      <vt:lpstr>Factores que promueven la corrupción</vt:lpstr>
      <vt:lpstr>Hechos que generan la corrupción</vt:lpstr>
      <vt:lpstr>Hechos que generan la corrupción</vt:lpstr>
      <vt:lpstr>Formas utilizadas para ocultar el dinero producto de la corrupción</vt:lpstr>
      <vt:lpstr>La auditoria forense y la recuperación de activos en el extranjero</vt:lpstr>
      <vt:lpstr>Ayuda a las autoridades</vt:lpstr>
      <vt:lpstr>Procedimientos de auditoría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participación de la auditoría forense en la detección de fraudes, actos de corrupción y recuperación de activos en el extranjero</dc:title>
  <dc:creator>gerineldo sousa</dc:creator>
  <cp:lastModifiedBy>Amin Montero Vicente</cp:lastModifiedBy>
  <cp:revision>10</cp:revision>
  <cp:lastPrinted>2026-06-23T19:44:41Z</cp:lastPrinted>
  <dcterms:created xsi:type="dcterms:W3CDTF">2026-05-26T00:37:56Z</dcterms:created>
  <dcterms:modified xsi:type="dcterms:W3CDTF">2026-06-26T12:41:09Z</dcterms:modified>
</cp:coreProperties>
</file>