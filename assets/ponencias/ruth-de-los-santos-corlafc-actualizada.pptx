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6" r:id="rId12"/>
    <p:sldId id="267" r:id="rId13"/>
    <p:sldId id="268" r:id="rId14"/>
    <p:sldId id="269" r:id="rId15"/>
    <p:sldId id="270" r:id="rId16"/>
    <p:sldId id="271" r:id="rId17"/>
    <p:sldId id="285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4"/>
          <c:order val="4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21F-45E2-B4B5-9BD3DD381B1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21F-45E2-B4B5-9BD3DD381B1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21F-45E2-B4B5-9BD3DD381B17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Sheet1!$P$6:$P$8</c:f>
              <c:strCache>
                <c:ptCount val="3"/>
                <c:pt idx="0">
                  <c:v>Erosión de Marca e Intangibles de Mercado</c:v>
                </c:pt>
                <c:pt idx="1">
                  <c:v>Cierre de Líneas de Crédito y Pérdida de Clientes</c:v>
                </c:pt>
                <c:pt idx="2">
                  <c:v>Costos Judiciales y Sanción Económica Directa </c:v>
                </c:pt>
              </c:strCache>
            </c:strRef>
          </c:cat>
          <c:val>
            <c:numRef>
              <c:f>Sheet1!$U$6:$U$8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1F-45E2-B4B5-9BD3DD381B1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08-321F-45E2-B4B5-9BD3DD381B17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0A-321F-45E2-B4B5-9BD3DD381B17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0C-321F-45E2-B4B5-9BD3DD381B17}"/>
                    </c:ext>
                  </c:extLst>
                </c:dPt>
                <c:dLbls>
                  <c:spPr>
                    <a:pattFill prst="pct75">
                      <a:fgClr>
                        <a:schemeClr val="dk1">
                          <a:lumMod val="75000"/>
                          <a:lumOff val="25000"/>
                        </a:schemeClr>
                      </a:fgClr>
                      <a:bgClr>
                        <a:schemeClr val="dk1">
                          <a:lumMod val="65000"/>
                          <a:lumOff val="35000"/>
                        </a:schemeClr>
                      </a:bgClr>
                    </a:patt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0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s-DO"/>
                    </a:p>
                  </c:txPr>
                  <c:dLblPos val="ctr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Sheet1!$P$6:$P$8</c15:sqref>
                        </c15:formulaRef>
                      </c:ext>
                    </c:extLst>
                    <c:strCache>
                      <c:ptCount val="3"/>
                      <c:pt idx="0">
                        <c:v>Erosión de Marca e Intangibles de Mercado</c:v>
                      </c:pt>
                      <c:pt idx="1">
                        <c:v>Cierre de Líneas de Crédito y Pérdida de Clientes</c:v>
                      </c:pt>
                      <c:pt idx="2">
                        <c:v>Costos Judiciales y Sanción Económica Directa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Sheet1!$Q$6:$Q$8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D-321F-45E2-B4B5-9BD3DD381B17}"/>
                  </c:ext>
                </c:extLst>
              </c15:ser>
            </c15:filteredPieSeries>
            <c15:filteredPieSeries>
              <c15:ser>
                <c:idx val="1"/>
                <c:order val="1"/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0F-321F-45E2-B4B5-9BD3DD381B17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1-321F-45E2-B4B5-9BD3DD381B17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3-321F-45E2-B4B5-9BD3DD381B17}"/>
                    </c:ext>
                  </c:extLst>
                </c:dPt>
                <c:dLbls>
                  <c:spPr>
                    <a:pattFill prst="pct75">
                      <a:fgClr>
                        <a:schemeClr val="dk1">
                          <a:lumMod val="75000"/>
                          <a:lumOff val="25000"/>
                        </a:schemeClr>
                      </a:fgClr>
                      <a:bgClr>
                        <a:schemeClr val="dk1">
                          <a:lumMod val="65000"/>
                          <a:lumOff val="35000"/>
                        </a:schemeClr>
                      </a:bgClr>
                    </a:patt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0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s-DO"/>
                    </a:p>
                  </c:txPr>
                  <c:dLblPos val="ctr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Sheet1!$P$6:$P$8</c15:sqref>
                        </c15:formulaRef>
                      </c:ext>
                    </c:extLst>
                    <c:strCache>
                      <c:ptCount val="3"/>
                      <c:pt idx="0">
                        <c:v>Erosión de Marca e Intangibles de Mercado</c:v>
                      </c:pt>
                      <c:pt idx="1">
                        <c:v>Cierre de Líneas de Crédito y Pérdida de Clientes</c:v>
                      </c:pt>
                      <c:pt idx="2">
                        <c:v>Costos Judiciales y Sanción Económica Directa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Sheet1!$R$6:$R$8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4-321F-45E2-B4B5-9BD3DD381B17}"/>
                  </c:ext>
                </c:extLst>
              </c15:ser>
            </c15:filteredPieSeries>
            <c15:filteredPieSeries>
              <c15:ser>
                <c:idx val="2"/>
                <c:order val="2"/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6-321F-45E2-B4B5-9BD3DD381B17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8-321F-45E2-B4B5-9BD3DD381B17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A-321F-45E2-B4B5-9BD3DD381B17}"/>
                    </c:ext>
                  </c:extLst>
                </c:dPt>
                <c:dLbls>
                  <c:spPr>
                    <a:pattFill prst="pct75">
                      <a:fgClr>
                        <a:schemeClr val="dk1">
                          <a:lumMod val="75000"/>
                          <a:lumOff val="25000"/>
                        </a:schemeClr>
                      </a:fgClr>
                      <a:bgClr>
                        <a:schemeClr val="dk1">
                          <a:lumMod val="65000"/>
                          <a:lumOff val="35000"/>
                        </a:schemeClr>
                      </a:bgClr>
                    </a:patt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0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s-DO"/>
                    </a:p>
                  </c:txPr>
                  <c:dLblPos val="ctr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Sheet1!$P$6:$P$8</c15:sqref>
                        </c15:formulaRef>
                      </c:ext>
                    </c:extLst>
                    <c:strCache>
                      <c:ptCount val="3"/>
                      <c:pt idx="0">
                        <c:v>Erosión de Marca e Intangibles de Mercado</c:v>
                      </c:pt>
                      <c:pt idx="1">
                        <c:v>Cierre de Líneas de Crédito y Pérdida de Clientes</c:v>
                      </c:pt>
                      <c:pt idx="2">
                        <c:v>Costos Judiciales y Sanción Económica Directa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Sheet1!$S$6:$S$8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B-321F-45E2-B4B5-9BD3DD381B17}"/>
                  </c:ext>
                </c:extLst>
              </c15:ser>
            </c15:filteredPieSeries>
            <c15:filteredPieSeries>
              <c15:ser>
                <c:idx val="3"/>
                <c:order val="3"/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D-321F-45E2-B4B5-9BD3DD381B17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1F-321F-45E2-B4B5-9BD3DD381B17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>
                      <a:noFill/>
                    </a:ln>
                    <a:effectLst>
                      <a:outerShdw blurRad="254000" sx="102000" sy="102000" algn="ctr" rotWithShape="0">
                        <a:prstClr val="black">
                          <a:alpha val="20000"/>
                        </a:prstClr>
                      </a:outerShdw>
                    </a:effectLst>
                  </c:spPr>
                  <c:extLst>
                    <c:ext xmlns:c16="http://schemas.microsoft.com/office/drawing/2014/chart" uri="{C3380CC4-5D6E-409C-BE32-E72D297353CC}">
                      <c16:uniqueId val="{00000021-321F-45E2-B4B5-9BD3DD381B17}"/>
                    </c:ext>
                  </c:extLst>
                </c:dPt>
                <c:dLbls>
                  <c:spPr>
                    <a:pattFill prst="pct75">
                      <a:fgClr>
                        <a:schemeClr val="dk1">
                          <a:lumMod val="75000"/>
                          <a:lumOff val="25000"/>
                        </a:schemeClr>
                      </a:fgClr>
                      <a:bgClr>
                        <a:schemeClr val="dk1">
                          <a:lumMod val="65000"/>
                          <a:lumOff val="35000"/>
                        </a:schemeClr>
                      </a:bgClr>
                    </a:patt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10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s-DO"/>
                    </a:p>
                  </c:txPr>
                  <c:dLblPos val="ctr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Sheet1!$P$6:$P$8</c15:sqref>
                        </c15:formulaRef>
                      </c:ext>
                    </c:extLst>
                    <c:strCache>
                      <c:ptCount val="3"/>
                      <c:pt idx="0">
                        <c:v>Erosión de Marca e Intangibles de Mercado</c:v>
                      </c:pt>
                      <c:pt idx="1">
                        <c:v>Cierre de Líneas de Crédito y Pérdida de Clientes</c:v>
                      </c:pt>
                      <c:pt idx="2">
                        <c:v>Costos Judiciales y Sanción Económica Directa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Sheet1!$T$6:$T$8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22-321F-45E2-B4B5-9BD3DD381B17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196090368095502"/>
          <c:y val="0.114293161271508"/>
          <c:w val="0.28260485943097302"/>
          <c:h val="0.7714136774569849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e18c5bf-0f88-4981-a273-292876de651b}"/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en-US"/>
      </a:pPr>
      <a:endParaRPr lang="es-D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C2E7C-95C0-469A-8AEE-1877C9C3512E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538A6-27BF-4DB3-95F6-2317174D01BD}" type="slidenum">
              <a:rPr lang="es-DO" smtClean="0"/>
              <a:t>‹Nº›</a:t>
            </a:fld>
            <a:endParaRPr lang="es-D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D7E00-925E-4602-B492-68A009DC761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D7E00-925E-4602-B492-68A009DC7610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02D2A-FD2B-41D1-AAD4-CFDAA31768E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5C6D8-E0B9-42D8-8404-5B0141F974A3}" type="slidenum">
              <a:rPr lang="es-DO" smtClean="0"/>
              <a:t>‹Nº›</a:t>
            </a:fld>
            <a:endParaRPr lang="es-D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623E-5F35-46BE-9BEA-87B1FBEF51D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01BB-5E97-49F0-BE25-E098DB6A060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6623E-5F35-46BE-9BEA-87B1FBEF51D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101BB-5E97-49F0-BE25-E098DB6A060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2003" y="3101897"/>
            <a:ext cx="10239586" cy="474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25" b="0" i="0">
                <a:solidFill>
                  <a:srgbClr val="003146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19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30" b="0" i="0">
                <a:solidFill>
                  <a:srgbClr val="012F48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02D2A-FD2B-41D1-AAD4-CFDAA31768E2}" type="datetimeFigureOut">
              <a:rPr lang="es-DO" smtClean="0"/>
              <a:t>26/6/2026</a:t>
            </a:fld>
            <a:endParaRPr lang="es-D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5C6D8-E0B9-42D8-8404-5B0141F974A3}" type="slidenum">
              <a:rPr lang="es-DO" smtClean="0"/>
              <a:t>‹Nº›</a:t>
            </a:fld>
            <a:endParaRPr lang="es-DO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86"/>
            <a:ext cx="12226303" cy="6838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 fontScale="90000"/>
          </a:bodyPr>
          <a:lstStyle/>
          <a:p>
            <a:r>
              <a:rPr lang="en-US" sz="4500" b="1"/>
              <a:t>“Compliance 2026. </a:t>
            </a:r>
            <a:br>
              <a:rPr lang="en-US" sz="4500" b="1"/>
            </a:br>
            <a:r>
              <a:rPr lang="en-US" sz="4500" b="1"/>
              <a:t/>
            </a:r>
            <a:br>
              <a:rPr lang="en-US" sz="4500" b="1"/>
            </a:br>
            <a:r>
              <a:rPr lang="en-US" sz="4500" b="1"/>
              <a:t>El fin del modelo tradicional. Cumplir ya no </a:t>
            </a:r>
            <a:r>
              <a:rPr lang="en-US" sz="4500"/>
              <a:t/>
            </a:r>
            <a:br>
              <a:rPr lang="en-US" sz="4500"/>
            </a:br>
            <a:r>
              <a:rPr lang="en-US" sz="4500" b="1"/>
              <a:t>es suficiente: hay que anticiparse</a:t>
            </a:r>
            <a:r>
              <a:rPr lang="en-US" sz="4500"/>
              <a:t>”</a:t>
            </a:r>
          </a:p>
        </p:txBody>
      </p:sp>
      <p:cxnSp>
        <p:nvCxnSpPr>
          <p:cNvPr id="15" name="Straight Connector 1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481"/>
            <a:ext cx="12191144" cy="6857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29790" y="189865"/>
            <a:ext cx="9482455" cy="61341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CONTEXTO HISTÓRICO: 142 AÑOS DE SILENCIO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500"/>
              </a:spcAft>
              <a:defRPr sz="20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Una estructura diseñada para el siglo XIX</a:t>
            </a:r>
          </a:p>
          <a:p>
            <a:pPr algn="l">
              <a:spcAft>
                <a:spcPts val="12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• Código de 1884: Adoptado de la tradición napoleónica, enfocado netamente en la criminalidad de personas físicas e individuales.</a:t>
            </a:r>
          </a:p>
          <a:p>
            <a:pPr algn="l">
              <a:spcAft>
                <a:spcPts val="12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• Invisibilidad Corporativa: Las empresas operaban como meros observadores o herramientas, inmunes a persecuciones penales directas.</a:t>
            </a:r>
          </a:p>
          <a:p>
            <a:pPr algn="l">
              <a:spcAft>
                <a:spcPts val="12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• Ruptura Histórica: La Ley 74-25 no modifica el sistema previo; lo demuele para dar paso a la autorregulación obligatoria de las marcas.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502920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6634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2000"/>
              </a:spcAft>
              <a:defRPr sz="1800" b="1" i="0">
                <a:solidFill>
                  <a:srgbClr val="C49B4B"/>
                </a:solidFill>
                <a:latin typeface="Arial" panose="020B0604020202020204"/>
              </a:defRPr>
            </a:pPr>
            <a:r>
              <a:t>EL CRONÓMETRO DEL CAMBIO</a:t>
            </a:r>
          </a:p>
          <a:p>
            <a:pPr algn="l">
              <a:spcAft>
                <a:spcPts val="200"/>
              </a:spcAft>
              <a:defRPr sz="32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1884</a:t>
            </a:r>
          </a:p>
          <a:p>
            <a:pPr algn="l">
              <a:spcAft>
                <a:spcPts val="25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Irresponsabilidad penal absoluta de las sociedades mercantiles.</a:t>
            </a:r>
          </a:p>
          <a:p>
            <a:pPr algn="l">
              <a:spcAft>
                <a:spcPts val="200"/>
              </a:spcAft>
              <a:defRPr sz="32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2026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Entrada en vigor del nuevo Código Penal (Ley 74-25). Coexistencia de responsabilidad penal corporativa autónoma.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74345"/>
            <a:ext cx="105156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LA RUPTURA DEL DOGMA ROMANO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16459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800"/>
              </a:spcAft>
              <a:defRPr sz="3200" b="1" i="1">
                <a:solidFill>
                  <a:srgbClr val="C49B4B"/>
                </a:solidFill>
                <a:latin typeface="Georgia" panose="02040502050405020303"/>
              </a:defRPr>
            </a:pPr>
            <a:r>
              <a:t>"Societas delinquere non potest"</a:t>
            </a:r>
          </a:p>
          <a:p>
            <a:pPr algn="ctr">
              <a:spcAft>
                <a:spcPts val="1000"/>
              </a:spcAft>
              <a:defRPr sz="1500" b="0" i="0">
                <a:solidFill>
                  <a:srgbClr val="FFFFFF"/>
                </a:solidFill>
                <a:latin typeface="Arial" panose="020B0604020202020204"/>
              </a:defRPr>
            </a:pPr>
            <a:r>
              <a:t>El fin definitivo del principio de inimputabilidad de las personas jurídicas en la República Dominicana.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5303520" cy="274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937760" cy="23774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Responsabilidad Autónoma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La acción penal contra la corporación subsiste y continúa de forma independiente, incluso si la persona física (empleado o directivo) fallece, se fuga o no es individualizada.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535" y="3474720"/>
            <a:ext cx="5303520" cy="274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2415" y="3657600"/>
            <a:ext cx="4937760" cy="23774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Verdadera Capacidad de Acción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El derecho penal moderno reconoce que las empresas poseen una 'voluntad propia', expresada a través de sus políticas, protocolos internos, mandatos y toma corporativa de decisiones.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81225" y="130810"/>
            <a:ext cx="9716770" cy="1044575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EL FUNDAMENTO JURÍDICO: DEFECTO DE ORGANIZACIÓN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44370"/>
            <a:ext cx="594360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500"/>
              </a:spcAft>
              <a:defRPr sz="20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¿Por qué se condena a una empresa?</a:t>
            </a:r>
          </a:p>
          <a:p>
            <a:pPr algn="l">
              <a:spcAft>
                <a:spcPts val="12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El Ministerio Público ya no requiere demostrar un mandato expreso del Consejo de Administración para delinquir.</a:t>
            </a:r>
          </a:p>
          <a:p>
            <a:pPr algn="l">
              <a:spcAft>
                <a:spcPts val="12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El núcleo de la imputación se traslada a la estructura interna de la entidad: se castiga la ausencia de control, supervisión y fiscalización oportuna.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002D52"/>
                </a:solidFill>
                <a:latin typeface="Arial" panose="020B0604020202020204"/>
              </a:defRPr>
            </a:pPr>
            <a:r>
              <a:t>• Omisión del Deber de Vigilancia</a:t>
            </a:r>
            <a:br/>
            <a:r>
              <a:t>• Falta de canales efectivos de detección</a:t>
            </a:r>
            <a:br/>
            <a:r>
              <a:t>• Tolerancia implícita o explícita del riesgo comercial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401570"/>
            <a:ext cx="4754880" cy="3657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49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944370"/>
            <a:ext cx="4206240" cy="279654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>
            <a:pPr algn="l">
              <a:spcAft>
                <a:spcPts val="1500"/>
              </a:spcAft>
              <a:defRPr sz="1300" b="1" i="0">
                <a:solidFill>
                  <a:srgbClr val="C49B4B"/>
                </a:solidFill>
                <a:latin typeface="Arial" panose="020B0604020202020204"/>
              </a:defRPr>
            </a:pPr>
            <a:r>
              <a:t>MÁXIMA DE COMPLIANCE:</a:t>
            </a:r>
          </a:p>
          <a:p>
            <a:pPr algn="l">
              <a:spcAft>
                <a:spcPts val="1000"/>
              </a:spcAft>
              <a:defRPr sz="2000" b="0" i="1">
                <a:solidFill>
                  <a:srgbClr val="002D52"/>
                </a:solidFill>
                <a:latin typeface="Georgia" panose="02040502050405020303"/>
              </a:defRPr>
            </a:pPr>
            <a:endParaRPr/>
          </a:p>
          <a:p>
            <a:pPr algn="l">
              <a:spcAft>
                <a:spcPts val="1000"/>
              </a:spcAft>
              <a:defRPr sz="2000" b="0" i="1">
                <a:solidFill>
                  <a:srgbClr val="002D52"/>
                </a:solidFill>
                <a:latin typeface="Georgia" panose="02040502050405020303"/>
              </a:defRPr>
            </a:pPr>
            <a:r>
              <a:t>"La organización no responde penalmente porque un empleado haya delinquido; responde de manera directa porque su estructura organizativa interna permitió o facilitó que el delito ocurriera."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0155" y="127000"/>
            <a:ext cx="9060180" cy="1044575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EL GIRO DEL PARADIGMA: COMPARATIVA ESTRATÉGICA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35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Atributo Técnico</a:t>
                      </a:r>
                    </a:p>
                  </a:txBody>
                  <a:tcPr>
                    <a:solidFill>
                      <a:srgbClr val="002D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Modelo Tradicional (Pasado)</a:t>
                      </a:r>
                    </a:p>
                  </a:txBody>
                  <a:tcPr>
                    <a:solidFill>
                      <a:srgbClr val="002D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Nuevo Código Penal (Ley 74-25)</a:t>
                      </a:r>
                    </a:p>
                  </a:txBody>
                  <a:tcPr>
                    <a:solidFill>
                      <a:srgbClr val="00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2D52"/>
                          </a:solidFill>
                          <a:latin typeface="Arial" panose="020B0604020202020204"/>
                        </a:defRPr>
                      </a:pPr>
                      <a:r>
                        <a:t>Sujeto de Imputación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Exclusivamente personas físicas de carne y hueso.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Personas Jurídicas de manera directa y paralela.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2D52"/>
                          </a:solidFill>
                          <a:latin typeface="Arial" panose="020B0604020202020204"/>
                        </a:defRPr>
                      </a:pPr>
                      <a:r>
                        <a:t>Base de la Culpabilidad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Dolo, intención o imprudencia del individuo operativo.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Defecto de Organización (Fallas estructurales internas).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2D52"/>
                          </a:solidFill>
                          <a:latin typeface="Arial" panose="020B0604020202020204"/>
                        </a:defRPr>
                      </a:pPr>
                      <a:r>
                        <a:t>Estatus del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Cosmético, opcional o manual de 'papel' archivado.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Eximente Blindado o atenuante vital ante la fiscalía.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2D52"/>
                          </a:solidFill>
                          <a:latin typeface="Arial" panose="020B0604020202020204"/>
                        </a:defRPr>
                      </a:pPr>
                      <a:r>
                        <a:t>Riesgo Existencial Máximo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Sanciones administrativas menores o multas leves.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5568"/>
                          </a:solidFill>
                          <a:latin typeface="Arial" panose="020B0604020202020204"/>
                        </a:defRPr>
                      </a:pPr>
                      <a:r>
                        <a:t>Muerte Jurídica (Disolución forzosa e irrevocable).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8575" y="427355"/>
            <a:ext cx="105156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SUJETOS OBLIGADOS BAJO FOCO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01. Personas Jurídicas Privadas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Sociedades comerciales nacionales, corporaciones extranjeras que operen en RD, ONGs, fundaciones y cooperativas de ahorro.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9496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02920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02. Alta Dirección &amp; C-Suite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Presidentes, directores y gerentes expuestos penalmente por la omisión flagrante de sus deberes esenciales de supervisión.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502920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03. Grupos Corporativos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Riesgo transversal y extensivo a empresas matrices por actividades ilícitas cometidas por filiales bajo su control efectivo.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023360"/>
            <a:ext cx="5394960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029200" cy="1828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04. Oficial de Cumplimiento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Nueva figura estratégica clave con autonomía, presupuesto y canales directos de reporte al Consejo de Administración.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" y="0"/>
            <a:ext cx="12191144" cy="6857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" y="634365"/>
            <a:ext cx="11300460" cy="5589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78150" y="168910"/>
            <a:ext cx="8665210" cy="1044575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EL ENTORNO GLOBAL E INFLUENCIAS DE LA 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500"/>
              </a:spcAft>
              <a:defRPr sz="2000" b="1" i="0">
                <a:solidFill>
                  <a:srgbClr val="002D52"/>
                </a:solidFill>
                <a:latin typeface="Arial" panose="020B0604020202020204"/>
              </a:defRPr>
            </a:pPr>
            <a:r>
              <a:rPr dirty="0" err="1"/>
              <a:t>Justicia</a:t>
            </a:r>
            <a:r>
              <a:rPr dirty="0"/>
              <a:t> </a:t>
            </a:r>
            <a:r>
              <a:rPr dirty="0" err="1"/>
              <a:t>Corporativa</a:t>
            </a:r>
            <a:r>
              <a:rPr dirty="0"/>
              <a:t> Sin </a:t>
            </a:r>
            <a:r>
              <a:rPr dirty="0" err="1"/>
              <a:t>Fronteras</a:t>
            </a:r>
            <a:endParaRPr dirty="0"/>
          </a:p>
          <a:p>
            <a:pPr algn="l">
              <a:spcAft>
                <a:spcPts val="12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rPr dirty="0"/>
              <a:t>La </a:t>
            </a:r>
            <a:r>
              <a:rPr dirty="0" err="1"/>
              <a:t>República</a:t>
            </a:r>
            <a:r>
              <a:rPr dirty="0"/>
              <a:t> </a:t>
            </a:r>
            <a:r>
              <a:rPr dirty="0" err="1"/>
              <a:t>Dominicana</a:t>
            </a:r>
            <a:r>
              <a:rPr dirty="0"/>
              <a:t> se </a:t>
            </a:r>
            <a:r>
              <a:rPr dirty="0" err="1"/>
              <a:t>alinea</a:t>
            </a:r>
            <a:r>
              <a:rPr dirty="0"/>
              <a:t> con las </a:t>
            </a:r>
            <a:r>
              <a:rPr dirty="0" err="1"/>
              <a:t>directrices</a:t>
            </a:r>
            <a:r>
              <a:rPr dirty="0"/>
              <a:t> de la OCDE y las </a:t>
            </a:r>
            <a:r>
              <a:rPr dirty="0" err="1"/>
              <a:t>exigencias</a:t>
            </a:r>
            <a:r>
              <a:rPr dirty="0"/>
              <a:t> de </a:t>
            </a:r>
            <a:r>
              <a:rPr dirty="0" err="1"/>
              <a:t>mercados</a:t>
            </a:r>
            <a:r>
              <a:rPr dirty="0"/>
              <a:t> </a:t>
            </a:r>
            <a:r>
              <a:rPr dirty="0" err="1"/>
              <a:t>internacionales</a:t>
            </a:r>
            <a:r>
              <a:rPr dirty="0"/>
              <a:t>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regulados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1600" b="0" i="0">
                <a:solidFill>
                  <a:srgbClr val="4A5568"/>
                </a:solidFill>
                <a:latin typeface="Arial" panose="020B0604020202020204"/>
              </a:defRPr>
            </a:pPr>
            <a:r>
              <a:rPr dirty="0"/>
              <a:t>Las </a:t>
            </a:r>
            <a:r>
              <a:rPr dirty="0" err="1"/>
              <a:t>transacciones</a:t>
            </a:r>
            <a:r>
              <a:rPr dirty="0"/>
              <a:t> </a:t>
            </a:r>
            <a:r>
              <a:rPr dirty="0" err="1"/>
              <a:t>internacionales</a:t>
            </a:r>
            <a:r>
              <a:rPr dirty="0"/>
              <a:t>, </a:t>
            </a:r>
            <a:r>
              <a:rPr dirty="0" err="1"/>
              <a:t>corresponsalías</a:t>
            </a:r>
            <a:r>
              <a:rPr dirty="0"/>
              <a:t> </a:t>
            </a:r>
            <a:r>
              <a:rPr dirty="0" err="1"/>
              <a:t>bancarias</a:t>
            </a:r>
            <a:r>
              <a:rPr dirty="0"/>
              <a:t> y </a:t>
            </a:r>
            <a:r>
              <a:rPr dirty="0" err="1"/>
              <a:t>financiamientos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dependerán</a:t>
            </a:r>
            <a:r>
              <a:rPr dirty="0"/>
              <a:t> </a:t>
            </a:r>
            <a:r>
              <a:rPr dirty="0" err="1"/>
              <a:t>estrictamente</a:t>
            </a:r>
            <a:r>
              <a:rPr dirty="0"/>
              <a:t> de la </a:t>
            </a:r>
            <a:r>
              <a:rPr dirty="0" err="1"/>
              <a:t>validación</a:t>
            </a:r>
            <a:r>
              <a:rPr dirty="0"/>
              <a:t> del </a:t>
            </a:r>
            <a:r>
              <a:rPr dirty="0" err="1"/>
              <a:t>cumplimiento</a:t>
            </a:r>
            <a:r>
              <a:rPr dirty="0"/>
              <a:t> local </a:t>
            </a:r>
            <a:r>
              <a:rPr dirty="0" err="1"/>
              <a:t>bajo</a:t>
            </a:r>
            <a:r>
              <a:rPr dirty="0"/>
              <a:t> </a:t>
            </a:r>
            <a:r>
              <a:rPr dirty="0" err="1"/>
              <a:t>estándares</a:t>
            </a:r>
            <a:r>
              <a:rPr dirty="0"/>
              <a:t> </a:t>
            </a:r>
            <a:r>
              <a:rPr dirty="0" err="1"/>
              <a:t>globales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5029200" cy="43891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48056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2000"/>
              </a:spcAft>
              <a:defRPr sz="1500" b="1" i="0">
                <a:solidFill>
                  <a:srgbClr val="C49B4B"/>
                </a:solidFill>
                <a:latin typeface="Arial" panose="020B0604020202020204"/>
              </a:defRPr>
            </a:pPr>
            <a:r>
              <a:t>FUENTES DOCTRINALES DIRECTAS</a:t>
            </a:r>
          </a:p>
          <a:p>
            <a:pPr algn="l">
              <a:spcAft>
                <a:spcPts val="200"/>
              </a:spcAft>
              <a:defRPr sz="15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EE.UU. (FCPA):</a:t>
            </a:r>
          </a:p>
          <a:p>
            <a:pPr algn="l">
              <a:spcAft>
                <a:spcPts val="1500"/>
              </a:spcAft>
              <a:defRPr sz="1300" b="0" i="0">
                <a:solidFill>
                  <a:srgbClr val="F8FAFC"/>
                </a:solidFill>
                <a:latin typeface="Arial" panose="020B0604020202020204"/>
              </a:defRPr>
            </a:pPr>
            <a:r>
              <a:t>Foco en la transparencia contable y sanción al soborno transnacional.</a:t>
            </a:r>
          </a:p>
          <a:p>
            <a:pPr algn="l">
              <a:spcAft>
                <a:spcPts val="200"/>
              </a:spcAft>
              <a:defRPr sz="15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ESPAÑA (Art. 31 bis):</a:t>
            </a:r>
          </a:p>
          <a:p>
            <a:pPr algn="l">
              <a:spcAft>
                <a:spcPts val="1500"/>
              </a:spcAft>
              <a:defRPr sz="1300" b="0" i="0">
                <a:solidFill>
                  <a:srgbClr val="F8FAFC"/>
                </a:solidFill>
                <a:latin typeface="Arial" panose="020B0604020202020204"/>
              </a:defRPr>
            </a:pPr>
            <a:r>
              <a:t>Espejo dogmático directo que estructura la eximente por modelos de prevención eficaces.</a:t>
            </a:r>
          </a:p>
          <a:p>
            <a:pPr algn="l">
              <a:spcAft>
                <a:spcPts val="200"/>
              </a:spcAft>
              <a:defRPr sz="15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FRANCIA (Sapin II):</a:t>
            </a:r>
          </a:p>
          <a:p>
            <a:pPr algn="l">
              <a:spcAft>
                <a:spcPts val="1000"/>
              </a:spcAft>
              <a:defRPr sz="1300" b="0" i="0">
                <a:solidFill>
                  <a:srgbClr val="F8FAFC"/>
                </a:solidFill>
                <a:latin typeface="Arial" panose="020B0604020202020204"/>
              </a:defRPr>
            </a:pPr>
            <a:r>
              <a:t>Exigencia e imperativo legal de implementar planes de prevención de la corrupción.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80590" y="274320"/>
            <a:ext cx="9463405" cy="61341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LA MATEMÁTICA JURÍDICA DEL RIESGO PENAL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94415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54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RP = I × (1 − 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4415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500"/>
              </a:spcAft>
              <a:defRPr sz="1400" b="1" i="0">
                <a:solidFill>
                  <a:srgbClr val="C49B4B"/>
                </a:solidFill>
                <a:latin typeface="Arial" panose="020B0604020202020204"/>
              </a:defRPr>
            </a:pPr>
            <a:r>
              <a:t>ANÁLISIS DE VARIABLES DE COMPLIANCE: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2743200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4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RP</a:t>
            </a:r>
          </a:p>
          <a:p>
            <a:pPr algn="ctr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Responsabilidad Penal Final de la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3790" y="4389120"/>
            <a:ext cx="2743200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4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I</a:t>
            </a:r>
          </a:p>
          <a:p>
            <a:pPr algn="ctr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Infracción Cometida por el Subordinado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4389120"/>
            <a:ext cx="2743200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2400" b="1" i="0">
                <a:solidFill>
                  <a:srgbClr val="C49B4B"/>
                </a:solidFill>
                <a:latin typeface="Arial" panose="020B0604020202020204"/>
              </a:defRPr>
            </a:pPr>
            <a:r>
              <a:t>CE</a:t>
            </a:r>
          </a:p>
          <a:p>
            <a:pPr algn="ctr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Control Efectivo (Modelo Eficaz)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400" b="0" i="1">
                <a:solidFill>
                  <a:srgbClr val="002D52"/>
                </a:solidFill>
                <a:latin typeface="Arial" panose="020B0604020202020204"/>
              </a:defRPr>
            </a:pPr>
            <a:r>
              <a:t>Conclusión matemática: Si el Control Efectivo (CE) alcanza el 100% (1.0), la Responsabilidad Penal (RP) se reduce a cero.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4530" y="1405890"/>
            <a:ext cx="7697470" cy="47009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69147" y="777142"/>
            <a:ext cx="5671930" cy="500116"/>
          </a:xfrm>
          <a:prstGeom prst="rect">
            <a:avLst/>
          </a:prstGeom>
        </p:spPr>
        <p:txBody>
          <a:bodyPr vert="horz" wrap="square" lIns="0" tIns="10012" rIns="0" bIns="0" rtlCol="0" anchor="ctr">
            <a:spAutoFit/>
          </a:bodyPr>
          <a:lstStyle/>
          <a:p>
            <a:pPr marL="15240">
              <a:lnSpc>
                <a:spcPct val="100000"/>
              </a:lnSpc>
              <a:spcBef>
                <a:spcPts val="80"/>
              </a:spcBef>
            </a:pPr>
            <a:r>
              <a:rPr sz="4775" spc="-719" baseline="-10000" dirty="0">
                <a:solidFill>
                  <a:srgbClr val="FFB8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4775" spc="700" baseline="-10000" dirty="0">
                <a:solidFill>
                  <a:srgbClr val="FFB8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85" spc="-215" dirty="0">
                <a:solidFill>
                  <a:srgbClr val="03314B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3185" spc="-69" dirty="0">
                <a:solidFill>
                  <a:srgbClr val="03314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85" dirty="0">
                <a:solidFill>
                  <a:srgbClr val="013146"/>
                </a:solidFill>
                <a:latin typeface="Times New Roman" panose="02020603050405020304"/>
                <a:cs typeface="Times New Roman" panose="02020603050405020304"/>
              </a:rPr>
              <a:t>JUSTICIA</a:t>
            </a:r>
            <a:r>
              <a:rPr sz="3185" spc="255" dirty="0">
                <a:solidFill>
                  <a:srgbClr val="01314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85" spc="-85" dirty="0">
                <a:solidFill>
                  <a:srgbClr val="052F42"/>
                </a:solidFill>
                <a:latin typeface="Times New Roman" panose="02020603050405020304"/>
                <a:cs typeface="Times New Roman" panose="02020603050405020304"/>
              </a:rPr>
              <a:t>GLOBAL</a:t>
            </a:r>
            <a:endParaRPr sz="318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587" y="778236"/>
            <a:ext cx="3419553" cy="174459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8255" marR="20320" indent="-1270">
              <a:lnSpc>
                <a:spcPct val="101000"/>
              </a:lnSpc>
              <a:spcBef>
                <a:spcPts val="60"/>
              </a:spcBef>
            </a:pPr>
            <a:r>
              <a:rPr sz="2400" b="1" spc="49" dirty="0">
                <a:solidFill>
                  <a:srgbClr val="01283A"/>
                </a:solidFill>
                <a:latin typeface="Cambria" panose="02040503050406030204"/>
                <a:cs typeface="Cambria" panose="02040503050406030204"/>
              </a:rPr>
              <a:t>El</a:t>
            </a:r>
            <a:r>
              <a:rPr sz="2400" b="1" spc="-106" dirty="0">
                <a:solidFill>
                  <a:srgbClr val="01283A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0C2F42"/>
                </a:solidFill>
                <a:latin typeface="Cambria" panose="02040503050406030204"/>
                <a:cs typeface="Cambria" panose="02040503050406030204"/>
              </a:rPr>
              <a:t>Brazo</a:t>
            </a:r>
            <a:r>
              <a:rPr sz="2400" b="1" spc="-58" dirty="0">
                <a:solidFill>
                  <a:srgbClr val="0C2F42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0C344D"/>
                </a:solidFill>
                <a:latin typeface="Cambria" panose="02040503050406030204"/>
                <a:cs typeface="Cambria" panose="02040503050406030204"/>
              </a:rPr>
              <a:t>Largo</a:t>
            </a:r>
            <a:r>
              <a:rPr sz="2400" b="1" spc="-18" dirty="0">
                <a:solidFill>
                  <a:srgbClr val="0C344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5" dirty="0">
                <a:solidFill>
                  <a:srgbClr val="053450"/>
                </a:solidFill>
                <a:latin typeface="Cambria" panose="02040503050406030204"/>
                <a:cs typeface="Cambria" panose="02040503050406030204"/>
              </a:rPr>
              <a:t>de </a:t>
            </a:r>
            <a:r>
              <a:rPr sz="2400" b="1" dirty="0">
                <a:solidFill>
                  <a:srgbClr val="073444"/>
                </a:solidFill>
                <a:latin typeface="Cambria" panose="02040503050406030204"/>
                <a:cs typeface="Cambria" panose="02040503050406030204"/>
              </a:rPr>
              <a:t>la</a:t>
            </a:r>
            <a:r>
              <a:rPr sz="2400" b="1" spc="-27" dirty="0">
                <a:solidFill>
                  <a:srgbClr val="073444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5" dirty="0">
                <a:solidFill>
                  <a:srgbClr val="053649"/>
                </a:solidFill>
                <a:latin typeface="Cambria" panose="02040503050406030204"/>
                <a:cs typeface="Cambria" panose="02040503050406030204"/>
              </a:rPr>
              <a:t>Ley</a:t>
            </a:r>
            <a:endParaRPr sz="2400" b="1" dirty="0">
              <a:latin typeface="Cambria" panose="02040503050406030204"/>
              <a:cs typeface="Cambria" panose="02040503050406030204"/>
            </a:endParaRPr>
          </a:p>
          <a:p>
            <a:pPr marL="9525" marR="3175" indent="635">
              <a:lnSpc>
                <a:spcPct val="129000"/>
              </a:lnSpc>
              <a:spcBef>
                <a:spcPts val="1200"/>
              </a:spcBef>
            </a:pPr>
            <a:r>
              <a:rPr sz="1545" spc="-61" dirty="0">
                <a:solidFill>
                  <a:srgbClr val="4F5B69"/>
                </a:solidFill>
                <a:latin typeface="Lucida Sans Unicode" panose="020B0602030504020204"/>
                <a:cs typeface="Lucida Sans Unicode" panose="020B0602030504020204"/>
              </a:rPr>
              <a:t>En</a:t>
            </a:r>
            <a:r>
              <a:rPr sz="1545" spc="-191" dirty="0">
                <a:solidFill>
                  <a:srgbClr val="4F5B6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170" dirty="0">
                <a:solidFill>
                  <a:srgbClr val="484848"/>
                </a:solidFill>
                <a:latin typeface="Lucida Sans Unicode" panose="020B0602030504020204"/>
                <a:cs typeface="Lucida Sans Unicode" panose="020B0602030504020204"/>
              </a:rPr>
              <a:t>2026,</a:t>
            </a:r>
            <a:r>
              <a:rPr sz="1545" spc="-91" dirty="0">
                <a:solidFill>
                  <a:srgbClr val="484848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15" dirty="0">
                <a:solidFill>
                  <a:srgbClr val="494949"/>
                </a:solidFill>
                <a:latin typeface="Lucida Sans Unicode" panose="020B0602030504020204"/>
                <a:cs typeface="Lucida Sans Unicode" panose="020B0602030504020204"/>
              </a:rPr>
              <a:t>las </a:t>
            </a:r>
            <a:r>
              <a:rPr sz="1545" spc="-88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empresas</a:t>
            </a:r>
            <a:r>
              <a:rPr sz="1545" spc="-24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94" dirty="0">
                <a:solidFill>
                  <a:srgbClr val="3D3D3D"/>
                </a:solidFill>
                <a:latin typeface="Lucida Sans Unicode" panose="020B0602030504020204"/>
                <a:cs typeface="Lucida Sans Unicode" panose="020B0602030504020204"/>
              </a:rPr>
              <a:t>operan </a:t>
            </a:r>
            <a:r>
              <a:rPr sz="1545" spc="-88" dirty="0">
                <a:solidFill>
                  <a:srgbClr val="596675"/>
                </a:solidFill>
                <a:latin typeface="Lucida Sans Unicode" panose="020B0602030504020204"/>
                <a:cs typeface="Lucida Sans Unicode" panose="020B0602030504020204"/>
              </a:rPr>
              <a:t>en</a:t>
            </a:r>
            <a:r>
              <a:rPr sz="1545" spc="-191" dirty="0">
                <a:solidFill>
                  <a:srgbClr val="596675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112" dirty="0">
                <a:solidFill>
                  <a:srgbClr val="525252"/>
                </a:solidFill>
                <a:latin typeface="Lucida Sans Unicode" panose="020B0602030504020204"/>
                <a:cs typeface="Lucida Sans Unicode" panose="020B0602030504020204"/>
              </a:rPr>
              <a:t>un</a:t>
            </a:r>
            <a:r>
              <a:rPr sz="1545" spc="-124" dirty="0">
                <a:solidFill>
                  <a:srgbClr val="52525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73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ecosistema </a:t>
            </a:r>
            <a:r>
              <a:rPr sz="1545" spc="-49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interconectado.</a:t>
            </a:r>
            <a:endParaRPr sz="1545" dirty="0">
              <a:latin typeface="Lucida Sans Unicode" panose="020B0602030504020204"/>
              <a:cs typeface="Lucida Sans Unicode" panose="020B0602030504020204"/>
            </a:endParaRPr>
          </a:p>
          <a:p>
            <a:pPr marL="9525" marR="37465" indent="635">
              <a:lnSpc>
                <a:spcPct val="129000"/>
              </a:lnSpc>
            </a:pPr>
            <a:r>
              <a:rPr sz="1545" spc="-21" dirty="0">
                <a:solidFill>
                  <a:srgbClr val="4F5B69"/>
                </a:solidFill>
                <a:latin typeface="Lucida Sans Unicode" panose="020B0602030504020204"/>
                <a:cs typeface="Lucida Sans Unicode" panose="020B0602030504020204"/>
              </a:rPr>
              <a:t>La</a:t>
            </a:r>
            <a:r>
              <a:rPr sz="1545" spc="-100" dirty="0">
                <a:solidFill>
                  <a:srgbClr val="4F5B6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55" dirty="0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cooperación </a:t>
            </a:r>
            <a:r>
              <a:rPr sz="1545" spc="-55" dirty="0">
                <a:solidFill>
                  <a:srgbClr val="3D3D3D"/>
                </a:solidFill>
                <a:latin typeface="Lucida Sans Unicode" panose="020B0602030504020204"/>
                <a:cs typeface="Lucida Sans Unicode" panose="020B0602030504020204"/>
              </a:rPr>
              <a:t>internacional </a:t>
            </a:r>
            <a:r>
              <a:rPr sz="1545" spc="-97" dirty="0">
                <a:solidFill>
                  <a:srgbClr val="484848"/>
                </a:solidFill>
                <a:latin typeface="Lucida Sans Unicode" panose="020B0602030504020204"/>
                <a:cs typeface="Lucida Sans Unicode" panose="020B0602030504020204"/>
              </a:rPr>
              <a:t>entre </a:t>
            </a:r>
            <a:r>
              <a:rPr sz="1545" spc="-64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fiscalías</a:t>
            </a:r>
            <a:r>
              <a:rPr sz="1545" spc="-76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15" dirty="0">
                <a:solidFill>
                  <a:srgbClr val="494949"/>
                </a:solidFill>
                <a:latin typeface="Lucida Sans Unicode" panose="020B0602030504020204"/>
                <a:cs typeface="Lucida Sans Unicode" panose="020B0602030504020204"/>
              </a:rPr>
              <a:t>es </a:t>
            </a:r>
            <a:r>
              <a:rPr sz="1545" spc="-85" dirty="0">
                <a:solidFill>
                  <a:srgbClr val="4B4B4B"/>
                </a:solidFill>
                <a:latin typeface="Lucida Sans Unicode" panose="020B0602030504020204"/>
                <a:cs typeface="Lucida Sans Unicode" panose="020B0602030504020204"/>
              </a:rPr>
              <a:t>la</a:t>
            </a:r>
            <a:r>
              <a:rPr sz="1545" spc="-67" dirty="0">
                <a:solidFill>
                  <a:srgbClr val="4B4B4B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109" dirty="0">
                <a:solidFill>
                  <a:srgbClr val="4B4B4B"/>
                </a:solidFill>
                <a:latin typeface="Lucida Sans Unicode" panose="020B0602030504020204"/>
                <a:cs typeface="Lucida Sans Unicode" panose="020B0602030504020204"/>
              </a:rPr>
              <a:t>nueva</a:t>
            </a:r>
            <a:r>
              <a:rPr sz="1545" spc="-6" dirty="0">
                <a:solidFill>
                  <a:srgbClr val="4B4B4B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545" spc="-12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norma.</a:t>
            </a:r>
            <a:endParaRPr sz="1545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588" y="3354661"/>
            <a:ext cx="3695598" cy="967642"/>
          </a:xfrm>
          <a:prstGeom prst="rect">
            <a:avLst/>
          </a:prstGeom>
        </p:spPr>
        <p:txBody>
          <a:bodyPr vert="horz" wrap="square" lIns="0" tIns="6546" rIns="0" bIns="0" rtlCol="0">
            <a:spAutoFit/>
          </a:bodyPr>
          <a:lstStyle/>
          <a:p>
            <a:pPr marL="7620" marR="3175" indent="1270" algn="just">
              <a:lnSpc>
                <a:spcPct val="101000"/>
              </a:lnSpc>
              <a:spcBef>
                <a:spcPts val="50"/>
              </a:spcBef>
            </a:pPr>
            <a:r>
              <a:rPr sz="1545" spc="-55" dirty="0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Un defecto de organización en Santo Domingo puede activar investigaciones en Nueva York o Madrid bajo </a:t>
            </a:r>
            <a:r>
              <a:rPr sz="1545" spc="-55" dirty="0" err="1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convenios</a:t>
            </a:r>
            <a:r>
              <a:rPr sz="1545" spc="-55" dirty="0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 de</a:t>
            </a:r>
            <a:r>
              <a:rPr lang="en-US" sz="1545" spc="-55" dirty="0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z="1545" spc="-55" dirty="0" err="1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cooperación</a:t>
            </a:r>
            <a:r>
              <a:rPr lang="en-US" sz="1545" spc="-55" dirty="0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.</a:t>
            </a:r>
            <a:endParaRPr sz="1545" spc="-55" dirty="0">
              <a:solidFill>
                <a:srgbClr val="414141"/>
              </a:solidFill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10105" y="274320"/>
            <a:ext cx="9458325" cy="61341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LA REVOLUCIÓN TECNOLÓGICA Y LA PRUEBA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4114800" cy="43891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56616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2000"/>
              </a:spcAft>
              <a:defRPr sz="1800" b="1" i="0">
                <a:solidFill>
                  <a:srgbClr val="C49B4B"/>
                </a:solidFill>
                <a:latin typeface="Arial" panose="020B0604020202020204"/>
              </a:defRPr>
            </a:pPr>
            <a:r>
              <a:t>EL TESTIGO DIGITAL INMUTABLE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FFFFFF"/>
                </a:solidFill>
                <a:latin typeface="Arial" panose="020B0604020202020204"/>
              </a:defRPr>
            </a:pPr>
            <a:r>
              <a:t>Ante los tribunales penales, los manuales estáticos firmados en papel carecen de validez probatoria real.</a:t>
            </a:r>
            <a:br/>
            <a:r>
              <a:t/>
            </a:r>
            <a:br/>
            <a:r>
              <a:t>La tecnología se convierte en la única herramienta capaz de certificar la diligencia debida en tiempo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45920"/>
            <a:ext cx="6522415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5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Evidencia de Cumplimiento Exigible para 2026</a:t>
            </a:r>
          </a:p>
          <a:p>
            <a:pPr algn="l">
              <a:spcAft>
                <a:spcPts val="1500"/>
              </a:spcAft>
              <a:defRPr sz="15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• Monitoreo Analítico Activo: Uso de algoritmos e IA corporativa para la detección temprana de anomalías en transacciones financieras y de compras.</a:t>
            </a:r>
          </a:p>
          <a:p>
            <a:pPr algn="l">
              <a:spcAft>
                <a:spcPts val="1500"/>
              </a:spcAft>
              <a:defRPr sz="15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• Blockchain de Cumplimiento: Inmutabilidad absoluta en los registros de capacitaciones del personal y aprobaciones de riesgos críticos.</a:t>
            </a:r>
          </a:p>
          <a:p>
            <a:pPr algn="l">
              <a:spcAft>
                <a:spcPts val="1000"/>
              </a:spcAft>
              <a:defRPr sz="15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• Trazabilidad Total: Capacidad técnica de demostrar al Ministerio Público la ruta exacta de una alerta interna desde su recepción hasta su resolución.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60" y="527685"/>
            <a:ext cx="10971530" cy="5438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434" y="2085828"/>
            <a:ext cx="4595490" cy="23810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8865" y="2085828"/>
            <a:ext cx="5381247" cy="238108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8713" y="359109"/>
            <a:ext cx="6376669" cy="528430"/>
          </a:xfrm>
          <a:prstGeom prst="rect">
            <a:avLst/>
          </a:prstGeom>
        </p:spPr>
        <p:txBody>
          <a:bodyPr vert="horz" wrap="square" lIns="0" tIns="47386" rIns="0" bIns="0" rtlCol="0" anchor="ctr">
            <a:spAutoFit/>
          </a:bodyPr>
          <a:lstStyle/>
          <a:p>
            <a:pPr marL="335280">
              <a:lnSpc>
                <a:spcPct val="100000"/>
              </a:lnSpc>
              <a:spcBef>
                <a:spcPts val="60"/>
              </a:spcBef>
            </a:pPr>
            <a:r>
              <a:rPr sz="3125" dirty="0">
                <a:solidFill>
                  <a:srgbClr val="013148"/>
                </a:solidFill>
                <a:latin typeface="Times New Roman" panose="02020603050405020304"/>
                <a:cs typeface="Times New Roman" panose="02020603050405020304"/>
              </a:rPr>
              <a:t>REVOLUCIÓN</a:t>
            </a:r>
            <a:r>
              <a:rPr sz="3125" spc="100" dirty="0">
                <a:solidFill>
                  <a:srgbClr val="01314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25" spc="-6" dirty="0">
                <a:solidFill>
                  <a:srgbClr val="002D44"/>
                </a:solidFill>
                <a:latin typeface="Times New Roman" panose="02020603050405020304"/>
                <a:cs typeface="Times New Roman" panose="02020603050405020304"/>
              </a:rPr>
              <a:t>TECNOLÓGICA</a:t>
            </a:r>
            <a:endParaRPr sz="312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0819" y="4646919"/>
            <a:ext cx="5080927" cy="76471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R="7620" algn="ctr">
              <a:spcBef>
                <a:spcPts val="60"/>
              </a:spcBef>
            </a:pPr>
            <a:r>
              <a:rPr sz="1485" dirty="0">
                <a:solidFill>
                  <a:srgbClr val="0A2F44"/>
                </a:solidFill>
                <a:latin typeface="Times New Roman" panose="02020603050405020304"/>
                <a:cs typeface="Times New Roman" panose="02020603050405020304"/>
              </a:rPr>
              <a:t>Inteligencia</a:t>
            </a:r>
            <a:r>
              <a:rPr sz="1485" spc="103" dirty="0">
                <a:solidFill>
                  <a:srgbClr val="0A2F44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485" spc="49" dirty="0">
                <a:solidFill>
                  <a:srgbClr val="151515"/>
                </a:solidFill>
                <a:latin typeface="Times New Roman" panose="02020603050405020304"/>
                <a:cs typeface="Times New Roman" panose="02020603050405020304"/>
              </a:rPr>
              <a:t>Utificial</a:t>
            </a:r>
            <a:endParaRPr sz="1485">
              <a:latin typeface="Times New Roman" panose="02020603050405020304"/>
              <a:cs typeface="Times New Roman" panose="02020603050405020304"/>
            </a:endParaRPr>
          </a:p>
          <a:p>
            <a:pPr marL="7620" marR="3175" algn="ctr">
              <a:lnSpc>
                <a:spcPts val="1425"/>
              </a:lnSpc>
              <a:spcBef>
                <a:spcPts val="1265"/>
              </a:spcBef>
            </a:pPr>
            <a:r>
              <a:rPr sz="1245" spc="-109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Monitoreo</a:t>
            </a:r>
            <a:r>
              <a:rPr sz="1245" spc="15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3F3F3F"/>
                </a:solidFill>
                <a:latin typeface="Lucida Sans Unicode" panose="020B0602030504020204"/>
                <a:cs typeface="Lucida Sans Unicode" panose="020B0602030504020204"/>
              </a:rPr>
              <a:t>predictivo</a:t>
            </a:r>
            <a:r>
              <a:rPr sz="1245" spc="24" dirty="0">
                <a:solidFill>
                  <a:srgbClr val="3F3F3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566D82"/>
                </a:solidFill>
                <a:latin typeface="Lucida Sans Unicode" panose="020B0602030504020204"/>
                <a:cs typeface="Lucida Sans Unicode" panose="020B0602030504020204"/>
              </a:rPr>
              <a:t>de</a:t>
            </a:r>
            <a:r>
              <a:rPr sz="1245" spc="-167" dirty="0">
                <a:solidFill>
                  <a:srgbClr val="566D8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73" dirty="0">
                <a:solidFill>
                  <a:srgbClr val="525252"/>
                </a:solidFill>
                <a:latin typeface="Lucida Sans Unicode" panose="020B0602030504020204"/>
                <a:cs typeface="Lucida Sans Unicode" panose="020B0602030504020204"/>
              </a:rPr>
              <a:t>transacciones</a:t>
            </a:r>
            <a:r>
              <a:rPr sz="1245" spc="45" dirty="0">
                <a:solidFill>
                  <a:srgbClr val="52525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164" dirty="0">
                <a:solidFill>
                  <a:srgbClr val="465266"/>
                </a:solidFill>
                <a:latin typeface="Lucida Sans Unicode" panose="020B0602030504020204"/>
                <a:cs typeface="Lucida Sans Unicode" panose="020B0602030504020204"/>
              </a:rPr>
              <a:t>y</a:t>
            </a:r>
            <a:r>
              <a:rPr sz="1245" spc="6" dirty="0">
                <a:solidFill>
                  <a:srgbClr val="46526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7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detección</a:t>
            </a:r>
            <a:r>
              <a:rPr sz="1245" spc="67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de</a:t>
            </a:r>
            <a:r>
              <a:rPr sz="1245" spc="-173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444444"/>
                </a:solidFill>
                <a:latin typeface="Lucida Sans Unicode" panose="020B0602030504020204"/>
                <a:cs typeface="Lucida Sans Unicode" panose="020B0602030504020204"/>
              </a:rPr>
              <a:t>patrones</a:t>
            </a:r>
            <a:r>
              <a:rPr sz="1245" spc="-12" dirty="0">
                <a:solidFill>
                  <a:srgbClr val="444444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444444"/>
                </a:solidFill>
                <a:latin typeface="Lucida Sans Unicode" panose="020B0602030504020204"/>
                <a:cs typeface="Lucida Sans Unicode" panose="020B0602030504020204"/>
              </a:rPr>
              <a:t>de</a:t>
            </a:r>
            <a:r>
              <a:rPr sz="1245" spc="-136" dirty="0">
                <a:solidFill>
                  <a:srgbClr val="444444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82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fraude</a:t>
            </a:r>
            <a:r>
              <a:rPr sz="1245" spc="-67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15" dirty="0">
                <a:solidFill>
                  <a:srgbClr val="525252"/>
                </a:solidFill>
                <a:latin typeface="Lucida Sans Unicode" panose="020B0602030504020204"/>
                <a:cs typeface="Lucida Sans Unicode" panose="020B0602030504020204"/>
              </a:rPr>
              <a:t>en </a:t>
            </a:r>
            <a:r>
              <a:rPr sz="1245" spc="-106" dirty="0">
                <a:solidFill>
                  <a:srgbClr val="4B4B4B"/>
                </a:solidFill>
                <a:latin typeface="Lucida Sans Unicode" panose="020B0602030504020204"/>
                <a:cs typeface="Lucida Sans Unicode" panose="020B0602030504020204"/>
              </a:rPr>
              <a:t>tiempo</a:t>
            </a:r>
            <a:r>
              <a:rPr sz="1245" spc="-42" dirty="0">
                <a:solidFill>
                  <a:srgbClr val="4B4B4B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6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real.</a:t>
            </a:r>
            <a:endParaRPr sz="1245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1097" y="4646919"/>
            <a:ext cx="5348162" cy="76471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33020" algn="ctr">
              <a:spcBef>
                <a:spcPts val="60"/>
              </a:spcBef>
            </a:pPr>
            <a:r>
              <a:rPr sz="1485" spc="58" dirty="0">
                <a:solidFill>
                  <a:srgbClr val="00283F"/>
                </a:solidFill>
                <a:latin typeface="Times New Roman" panose="02020603050405020304"/>
                <a:cs typeface="Times New Roman" panose="02020603050405020304"/>
              </a:rPr>
              <a:t>Inmutaliilidad</a:t>
            </a:r>
            <a:endParaRPr sz="1485">
              <a:latin typeface="Times New Roman" panose="02020603050405020304"/>
              <a:cs typeface="Times New Roman" panose="02020603050405020304"/>
            </a:endParaRPr>
          </a:p>
          <a:p>
            <a:pPr marL="7620" marR="3175" algn="ctr">
              <a:lnSpc>
                <a:spcPts val="1425"/>
              </a:lnSpc>
              <a:spcBef>
                <a:spcPts val="1265"/>
              </a:spcBef>
            </a:pPr>
            <a:r>
              <a:rPr sz="1245" spc="-91" dirty="0">
                <a:solidFill>
                  <a:srgbClr val="3D4F62"/>
                </a:solidFill>
                <a:latin typeface="Lucida Sans Unicode" panose="020B0602030504020204"/>
                <a:cs typeface="Lucida Sans Unicode" panose="020B0602030504020204"/>
              </a:rPr>
              <a:t>Uso</a:t>
            </a:r>
            <a:r>
              <a:rPr sz="1245" spc="-49" dirty="0">
                <a:solidFill>
                  <a:srgbClr val="3D4F6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de</a:t>
            </a:r>
            <a:r>
              <a:rPr sz="1245" spc="-176" dirty="0">
                <a:solidFill>
                  <a:srgbClr val="4F4F4F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7" dirty="0">
                <a:solidFill>
                  <a:srgbClr val="444444"/>
                </a:solidFill>
                <a:latin typeface="Lucida Sans Unicode" panose="020B0602030504020204"/>
                <a:cs typeface="Lucida Sans Unicode" panose="020B0602030504020204"/>
              </a:rPr>
              <a:t>registros</a:t>
            </a:r>
            <a:r>
              <a:rPr sz="1245" spc="-24" dirty="0">
                <a:solidFill>
                  <a:srgbClr val="444444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85" dirty="0">
                <a:solidFill>
                  <a:srgbClr val="494949"/>
                </a:solidFill>
                <a:latin typeface="Lucida Sans Unicode" panose="020B0602030504020204"/>
                <a:cs typeface="Lucida Sans Unicode" panose="020B0602030504020204"/>
              </a:rPr>
              <a:t>digitales</a:t>
            </a:r>
            <a:r>
              <a:rPr sz="1245" spc="-12" dirty="0">
                <a:solidFill>
                  <a:srgbClr val="494949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88" dirty="0">
                <a:solidFill>
                  <a:srgbClr val="424242"/>
                </a:solidFill>
                <a:latin typeface="Lucida Sans Unicode" panose="020B0602030504020204"/>
                <a:cs typeface="Lucida Sans Unicode" panose="020B0602030504020204"/>
              </a:rPr>
              <a:t>certificados</a:t>
            </a:r>
            <a:r>
              <a:rPr sz="1245" spc="-24" dirty="0">
                <a:solidFill>
                  <a:srgbClr val="42424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7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para</a:t>
            </a:r>
            <a:r>
              <a:rPr sz="1245" spc="-3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7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blindar</a:t>
            </a:r>
            <a:r>
              <a:rPr sz="1245" spc="-15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64" dirty="0">
                <a:solidFill>
                  <a:srgbClr val="505050"/>
                </a:solidFill>
                <a:latin typeface="Lucida Sans Unicode" panose="020B0602030504020204"/>
                <a:cs typeface="Lucida Sans Unicode" panose="020B0602030504020204"/>
              </a:rPr>
              <a:t>la</a:t>
            </a:r>
            <a:r>
              <a:rPr sz="1245" spc="33" dirty="0">
                <a:solidFill>
                  <a:srgbClr val="50505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82" dirty="0">
                <a:solidFill>
                  <a:srgbClr val="484848"/>
                </a:solidFill>
                <a:latin typeface="Lucida Sans Unicode" panose="020B0602030504020204"/>
                <a:cs typeface="Lucida Sans Unicode" panose="020B0602030504020204"/>
              </a:rPr>
              <a:t>evidencia</a:t>
            </a:r>
            <a:r>
              <a:rPr sz="1245" spc="121" dirty="0">
                <a:solidFill>
                  <a:srgbClr val="484848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94" dirty="0">
                <a:solidFill>
                  <a:srgbClr val="526E82"/>
                </a:solidFill>
                <a:latin typeface="Lucida Sans Unicode" panose="020B0602030504020204"/>
                <a:cs typeface="Lucida Sans Unicode" panose="020B0602030504020204"/>
              </a:rPr>
              <a:t>de</a:t>
            </a:r>
            <a:r>
              <a:rPr sz="1245" spc="-124" dirty="0">
                <a:solidFill>
                  <a:srgbClr val="526E82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79" dirty="0">
                <a:solidFill>
                  <a:srgbClr val="484848"/>
                </a:solidFill>
                <a:latin typeface="Lucida Sans Unicode" panose="020B0602030504020204"/>
                <a:cs typeface="Lucida Sans Unicode" panose="020B0602030504020204"/>
              </a:rPr>
              <a:t>cumplimiento </a:t>
            </a:r>
            <a:r>
              <a:rPr sz="1245" spc="-79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ante</a:t>
            </a:r>
            <a:r>
              <a:rPr sz="1245" spc="-121" dirty="0">
                <a:solidFill>
                  <a:srgbClr val="464646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85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la</a:t>
            </a:r>
            <a:r>
              <a:rPr sz="1245" dirty="0">
                <a:solidFill>
                  <a:srgbClr val="4D4D4D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245" spc="-6" dirty="0">
                <a:solidFill>
                  <a:srgbClr val="3B3B3B"/>
                </a:solidFill>
                <a:latin typeface="Lucida Sans Unicode" panose="020B0602030504020204"/>
                <a:cs typeface="Lucida Sans Unicode" panose="020B0602030504020204"/>
              </a:rPr>
              <a:t>fiscal</a:t>
            </a:r>
            <a:r>
              <a:rPr sz="1245" spc="-6" dirty="0">
                <a:solidFill>
                  <a:srgbClr val="414141"/>
                </a:solidFill>
                <a:latin typeface="Lucida Sans Unicode" panose="020B0602030504020204"/>
                <a:cs typeface="Lucida Sans Unicode" panose="020B0602030504020204"/>
              </a:rPr>
              <a:t>ía.</a:t>
            </a:r>
            <a:endParaRPr sz="1245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" y="633095"/>
            <a:ext cx="11361420" cy="53689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75205" y="438150"/>
            <a:ext cx="9367520" cy="61341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t>CATÁOGO DE SANCIONES GRADUALES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9633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96335" cy="7315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596335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2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SANCIÓN PECUNIARIA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30575" cy="3017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5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MULTA CORPORATIVA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Multas severas calculadas proporcionalmente en base al beneficio económico ilícito obtenido o al daño patrimonial causado.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59633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596335" cy="7315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596335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2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IMPACTO OPERATIVO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230575" cy="3017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500"/>
              </a:spcAft>
              <a:defRPr sz="18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CLAUSURA TEMPORAL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Cierre forzoso de locales comerciales, sucursales o suspensión de actividades operativas específicas por plazos de hasta 3 años.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59633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96335" cy="73152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596335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2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PENA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230575" cy="3017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500"/>
              </a:spcAft>
              <a:defRPr sz="1800" b="1" i="0">
                <a:solidFill>
                  <a:srgbClr val="A52A2A"/>
                </a:solidFill>
                <a:latin typeface="Arial" panose="020B0604020202020204"/>
              </a:defRPr>
            </a:pPr>
            <a:r>
              <a:t>MUERTE JURÍDICA</a:t>
            </a:r>
          </a:p>
          <a:p>
            <a:pPr algn="l">
              <a:spcAft>
                <a:spcPts val="1000"/>
              </a:spcAft>
              <a:defRPr sz="14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Disolución legal absoluta e irrevocable de la sociedad comercial con liquidación forzosa de todo su patrimonio neto.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400" b="1" i="0">
                <a:solidFill>
                  <a:srgbClr val="4A5568"/>
                </a:solidFill>
                <a:latin typeface="Arial" panose="020B0604020202020204"/>
              </a:defRPr>
            </a:pPr>
            <a:r>
              <a:t>Sanción Accesoria Obligatoria: Inhabilitación permanente para contratar con el Estado Dominicano.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606" y="2114401"/>
            <a:ext cx="10910420" cy="338710"/>
          </a:xfrm>
          <a:prstGeom prst="rect">
            <a:avLst/>
          </a:prstGeom>
          <a:solidFill>
            <a:srgbClr val="0A2F3B"/>
          </a:solidFill>
        </p:spPr>
        <p:txBody>
          <a:bodyPr vert="horz" wrap="square" lIns="0" tIns="122836" rIns="0" bIns="0" rtlCol="0">
            <a:spAutoFit/>
          </a:bodyPr>
          <a:lstStyle/>
          <a:p>
            <a:pPr marL="180975">
              <a:spcBef>
                <a:spcPts val="965"/>
              </a:spcBef>
              <a:tabLst>
                <a:tab pos="2900045" algn="l"/>
                <a:tab pos="6924040" algn="l"/>
              </a:tabLst>
            </a:pPr>
            <a:r>
              <a:rPr sz="1395" spc="-106" dirty="0">
                <a:solidFill>
                  <a:srgbClr val="FFFFFF"/>
                </a:solidFill>
                <a:latin typeface="Arial MT"/>
                <a:cs typeface="Arial MT"/>
              </a:rPr>
              <a:t>Eje</a:t>
            </a:r>
            <a:r>
              <a:rPr sz="1395" spc="1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95" spc="52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395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95" spc="-42" dirty="0">
                <a:solidFill>
                  <a:srgbClr val="FFFFFF"/>
                </a:solidFill>
                <a:latin typeface="Arial MT"/>
                <a:cs typeface="Arial MT"/>
              </a:rPr>
              <a:t>Co</a:t>
            </a:r>
            <a:r>
              <a:rPr sz="1395" spc="-22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95" spc="52" dirty="0">
                <a:solidFill>
                  <a:srgbClr val="FFFFFF"/>
                </a:solidFill>
                <a:latin typeface="Arial MT"/>
                <a:cs typeface="Arial MT"/>
              </a:rPr>
              <a:t>mbio</a:t>
            </a:r>
            <a:r>
              <a:rPr sz="1395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395" spc="30" dirty="0">
                <a:solidFill>
                  <a:srgbClr val="FFFFFF"/>
                </a:solidFill>
                <a:latin typeface="Arial MT"/>
                <a:cs typeface="Arial MT"/>
              </a:rPr>
              <a:t>Antes:</a:t>
            </a:r>
            <a:r>
              <a:rPr sz="1395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95" dirty="0">
                <a:solidFill>
                  <a:srgbClr val="FFFFFF"/>
                </a:solidFill>
                <a:latin typeface="Arial MT"/>
                <a:cs typeface="Arial MT"/>
              </a:rPr>
              <a:t>Modelo</a:t>
            </a:r>
            <a:r>
              <a:rPr sz="1395" spc="10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95" spc="27" dirty="0">
                <a:solidFill>
                  <a:srgbClr val="FFFFFF"/>
                </a:solidFill>
                <a:latin typeface="Arial MT"/>
                <a:cs typeface="Arial MT"/>
              </a:rPr>
              <a:t>Clósico</a:t>
            </a:r>
            <a:r>
              <a:rPr sz="1395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95" spc="-6" dirty="0">
                <a:solidFill>
                  <a:srgbClr val="FFFFFF"/>
                </a:solidFill>
                <a:latin typeface="Arial MT"/>
                <a:cs typeface="Arial MT"/>
              </a:rPr>
              <a:t>Romano</a:t>
            </a:r>
            <a:r>
              <a:rPr sz="1395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335" spc="42" dirty="0">
                <a:solidFill>
                  <a:srgbClr val="FFFFFF"/>
                </a:solidFill>
                <a:latin typeface="Arial MT"/>
                <a:cs typeface="Arial MT"/>
              </a:rPr>
              <a:t>Ahora:</a:t>
            </a:r>
            <a:r>
              <a:rPr sz="1335" spc="-5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35" spc="55" dirty="0">
                <a:solidFill>
                  <a:srgbClr val="FFFFFF"/>
                </a:solidFill>
                <a:latin typeface="Arial MT"/>
                <a:cs typeface="Arial MT"/>
              </a:rPr>
              <a:t>Modelo</a:t>
            </a:r>
            <a:r>
              <a:rPr sz="1335" spc="10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35" spc="45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1335" spc="118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35" dirty="0">
                <a:solidFill>
                  <a:srgbClr val="FFFFFF"/>
                </a:solidFill>
                <a:latin typeface="Arial MT"/>
                <a:cs typeface="Arial MT"/>
              </a:rPr>
              <a:t>Nuevo</a:t>
            </a:r>
            <a:r>
              <a:rPr sz="1335" spc="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35" spc="67" dirty="0">
                <a:solidFill>
                  <a:srgbClr val="FFFFFF"/>
                </a:solidFill>
                <a:latin typeface="Arial MT"/>
                <a:cs typeface="Arial MT"/>
              </a:rPr>
              <a:t>Código</a:t>
            </a:r>
            <a:r>
              <a:rPr sz="1335" spc="2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35" spc="-6" dirty="0">
                <a:solidFill>
                  <a:srgbClr val="FFFFFF"/>
                </a:solidFill>
                <a:latin typeface="Arial MT"/>
                <a:cs typeface="Arial MT"/>
              </a:rPr>
              <a:t>Pena</a:t>
            </a:r>
            <a:r>
              <a:rPr sz="1335" spc="-21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35" spc="-3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1335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8713" y="403464"/>
            <a:ext cx="6376669" cy="439719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213995">
              <a:lnSpc>
                <a:spcPct val="100000"/>
              </a:lnSpc>
              <a:spcBef>
                <a:spcPts val="80"/>
              </a:spcBef>
            </a:pPr>
            <a:r>
              <a:rPr sz="2790" dirty="0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790" spc="91" dirty="0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90" spc="115" dirty="0">
                <a:solidFill>
                  <a:srgbClr val="0C2B41"/>
                </a:solidFill>
                <a:latin typeface="Calibri" panose="020F0502020204030204"/>
                <a:cs typeface="Calibri" panose="020F0502020204030204"/>
              </a:rPr>
              <a:t>GIRO</a:t>
            </a:r>
            <a:r>
              <a:rPr sz="2790" spc="133" dirty="0">
                <a:solidFill>
                  <a:srgbClr val="0C2B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90" spc="42" dirty="0">
                <a:solidFill>
                  <a:srgbClr val="082D41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790" spc="45" dirty="0">
                <a:solidFill>
                  <a:srgbClr val="082D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90" spc="127" dirty="0">
                <a:solidFill>
                  <a:srgbClr val="082F3B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790" spc="58" dirty="0">
                <a:solidFill>
                  <a:srgbClr val="082F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90" spc="136" dirty="0">
                <a:solidFill>
                  <a:srgbClr val="082D41"/>
                </a:solidFill>
                <a:latin typeface="Calibri" panose="020F0502020204030204"/>
                <a:cs typeface="Calibri" panose="020F0502020204030204"/>
              </a:rPr>
              <a:t>RESPONSABILIDAD</a:t>
            </a:r>
            <a:endParaRPr sz="27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782" y="2866662"/>
            <a:ext cx="1618811" cy="21231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620">
              <a:spcBef>
                <a:spcPts val="55"/>
              </a:spcBef>
            </a:pPr>
            <a:r>
              <a:rPr sz="1335" spc="42" dirty="0">
                <a:solidFill>
                  <a:srgbClr val="1A1A1A"/>
                </a:solidFill>
                <a:latin typeface="Calibri" panose="020F0502020204030204"/>
                <a:cs typeface="Calibri" panose="020F0502020204030204"/>
              </a:rPr>
              <a:t>Sujeto</a:t>
            </a:r>
            <a:r>
              <a:rPr sz="1335" spc="-79" dirty="0">
                <a:solidFill>
                  <a:srgbClr val="1A1A1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00315D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127" dirty="0">
                <a:solidFill>
                  <a:srgbClr val="00315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0" dirty="0">
                <a:solidFill>
                  <a:srgbClr val="232323"/>
                </a:solidFill>
                <a:latin typeface="Calibri" panose="020F0502020204030204"/>
                <a:cs typeface="Calibri" panose="020F0502020204030204"/>
              </a:rPr>
              <a:t>Persecución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971" y="3590511"/>
            <a:ext cx="1482499" cy="21231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620">
              <a:spcBef>
                <a:spcPts val="55"/>
              </a:spcBef>
            </a:pPr>
            <a:r>
              <a:rPr sz="1335" spc="52" dirty="0">
                <a:solidFill>
                  <a:srgbClr val="052F46"/>
                </a:solidFill>
                <a:latin typeface="Calibri" panose="020F0502020204030204"/>
                <a:cs typeface="Calibri" panose="020F0502020204030204"/>
              </a:rPr>
              <a:t>Atribución</a:t>
            </a:r>
            <a:r>
              <a:rPr sz="1335" spc="-24" dirty="0">
                <a:solidFill>
                  <a:srgbClr val="052F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033A4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112" dirty="0">
                <a:solidFill>
                  <a:srgbClr val="033A4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55" dirty="0">
                <a:solidFill>
                  <a:srgbClr val="072B46"/>
                </a:solidFill>
                <a:latin typeface="Calibri" panose="020F0502020204030204"/>
                <a:cs typeface="Calibri" panose="020F0502020204030204"/>
              </a:rPr>
              <a:t>Culpa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227" y="4323885"/>
            <a:ext cx="1410106" cy="21231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620">
              <a:spcBef>
                <a:spcPts val="55"/>
              </a:spcBef>
            </a:pPr>
            <a:r>
              <a:rPr sz="1335" spc="55" dirty="0">
                <a:solidFill>
                  <a:srgbClr val="082F46"/>
                </a:solidFill>
                <a:latin typeface="Calibri" panose="020F0502020204030204"/>
                <a:cs typeface="Calibri" panose="020F0502020204030204"/>
              </a:rPr>
              <a:t>Rol</a:t>
            </a:r>
            <a:r>
              <a:rPr sz="1335" spc="-30" dirty="0">
                <a:solidFill>
                  <a:srgbClr val="082F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6" dirty="0">
                <a:solidFill>
                  <a:srgbClr val="002846"/>
                </a:solidFill>
                <a:latin typeface="Calibri" panose="020F0502020204030204"/>
                <a:cs typeface="Calibri" panose="020F0502020204030204"/>
              </a:rPr>
              <a:t>del</a:t>
            </a:r>
            <a:r>
              <a:rPr sz="1335" spc="-69" dirty="0">
                <a:solidFill>
                  <a:srgbClr val="0028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27" dirty="0">
                <a:solidFill>
                  <a:srgbClr val="0E2D44"/>
                </a:solidFill>
                <a:latin typeface="Calibri" panose="020F0502020204030204"/>
                <a:cs typeface="Calibri" panose="020F0502020204030204"/>
              </a:rPr>
              <a:t>Compliance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8781" y="5047735"/>
            <a:ext cx="996547" cy="212311"/>
          </a:xfrm>
          <a:prstGeom prst="rect">
            <a:avLst/>
          </a:prstGeom>
        </p:spPr>
        <p:txBody>
          <a:bodyPr vert="horz" wrap="square" lIns="0" tIns="6931" rIns="0" bIns="0" rtlCol="0">
            <a:spAutoFit/>
          </a:bodyPr>
          <a:lstStyle/>
          <a:p>
            <a:pPr marL="7620">
              <a:spcBef>
                <a:spcPts val="55"/>
              </a:spcBef>
            </a:pPr>
            <a:r>
              <a:rPr sz="1335" b="1" spc="30" dirty="0">
                <a:solidFill>
                  <a:srgbClr val="05283D"/>
                </a:solidFill>
                <a:latin typeface="Calibri" panose="020F0502020204030204"/>
                <a:cs typeface="Calibri" panose="020F0502020204030204"/>
              </a:rPr>
              <a:t>Pena</a:t>
            </a:r>
            <a:r>
              <a:rPr sz="1335" b="1" spc="-52" dirty="0">
                <a:solidFill>
                  <a:srgbClr val="0528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b="1" spc="-6" dirty="0">
                <a:solidFill>
                  <a:srgbClr val="1A1A1A"/>
                </a:solidFill>
                <a:latin typeface="Calibri" panose="020F0502020204030204"/>
                <a:cs typeface="Calibri" panose="020F0502020204030204"/>
              </a:rPr>
              <a:t>Máxima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42226" y="2726178"/>
            <a:ext cx="3620377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 marR="3175" indent="3175">
              <a:lnSpc>
                <a:spcPct val="112000"/>
              </a:lnSpc>
              <a:spcBef>
                <a:spcPts val="60"/>
              </a:spcBef>
            </a:pPr>
            <a:r>
              <a:rPr sz="1335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Exclusivamente</a:t>
            </a:r>
            <a:r>
              <a:rPr sz="1335" spc="-45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personas</a:t>
            </a:r>
            <a:r>
              <a:rPr sz="1335" spc="-18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físicas</a:t>
            </a:r>
            <a:r>
              <a:rPr sz="1335" spc="-1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1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(ejecutivos,</a:t>
            </a:r>
            <a:r>
              <a:rPr sz="1335" spc="69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mandos </a:t>
            </a:r>
            <a:r>
              <a:rPr sz="1335" spc="-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medios</a:t>
            </a:r>
            <a:r>
              <a:rPr sz="1335" spc="-8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9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335" spc="-154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empleados</a:t>
            </a:r>
            <a:r>
              <a:rPr sz="1335" spc="-24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directos).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9931" y="2726178"/>
            <a:ext cx="3654648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9525" marR="3175" indent="-1905">
              <a:lnSpc>
                <a:spcPct val="112000"/>
              </a:lnSpc>
              <a:spcBef>
                <a:spcPts val="60"/>
              </a:spcBef>
            </a:pPr>
            <a:r>
              <a:rPr sz="1335" spc="39" dirty="0">
                <a:solidFill>
                  <a:srgbClr val="053149"/>
                </a:solidFill>
                <a:latin typeface="Calibri" panose="020F0502020204030204"/>
                <a:cs typeface="Calibri" panose="020F0502020204030204"/>
              </a:rPr>
              <a:t>Personas</a:t>
            </a:r>
            <a:r>
              <a:rPr sz="1335" spc="-6" dirty="0">
                <a:solidFill>
                  <a:srgbClr val="05314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6" dirty="0">
                <a:solidFill>
                  <a:srgbClr val="0F2A36"/>
                </a:solidFill>
                <a:latin typeface="Calibri" panose="020F0502020204030204"/>
                <a:cs typeface="Calibri" panose="020F0502020204030204"/>
              </a:rPr>
              <a:t>Jurídicas</a:t>
            </a:r>
            <a:r>
              <a:rPr sz="1335" spc="-33" dirty="0">
                <a:solidFill>
                  <a:srgbClr val="0F2A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100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manera</a:t>
            </a:r>
            <a:r>
              <a:rPr sz="1335" spc="27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directa</a:t>
            </a:r>
            <a:r>
              <a:rPr sz="1335" spc="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335" spc="-3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paralela</a:t>
            </a:r>
            <a:r>
              <a:rPr sz="1335" spc="24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35" spc="-30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1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la </a:t>
            </a:r>
            <a:r>
              <a:rPr sz="1335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persona</a:t>
            </a:r>
            <a:r>
              <a:rPr sz="1335" spc="-73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física.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4217" y="3450027"/>
            <a:ext cx="3609210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10160" marR="3175" indent="-3175">
              <a:lnSpc>
                <a:spcPct val="112000"/>
              </a:lnSpc>
              <a:spcBef>
                <a:spcPts val="60"/>
              </a:spcBef>
            </a:pP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Solo</a:t>
            </a:r>
            <a:r>
              <a:rPr sz="1335" spc="-97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335" spc="-73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juzgaba</a:t>
            </a:r>
            <a:r>
              <a:rPr sz="1335" spc="8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-27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 err="1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intención</a:t>
            </a:r>
            <a:r>
              <a:rPr lang="en-US" sz="133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 err="1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dolosa</a:t>
            </a:r>
            <a:r>
              <a:rPr sz="1335" spc="-103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9" dirty="0">
                <a:solidFill>
                  <a:srgbClr val="8C93A8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335" spc="-118" dirty="0">
                <a:solidFill>
                  <a:srgbClr val="8C93A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imprudencia</a:t>
            </a:r>
            <a:r>
              <a:rPr sz="1335" spc="69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27" dirty="0">
                <a:solidFill>
                  <a:srgbClr val="748295"/>
                </a:solidFill>
                <a:latin typeface="Calibri" panose="020F0502020204030204"/>
                <a:cs typeface="Calibri" panose="020F0502020204030204"/>
              </a:rPr>
              <a:t>de </a:t>
            </a:r>
            <a:r>
              <a:rPr sz="1335" spc="-6" dirty="0">
                <a:solidFill>
                  <a:srgbClr val="3D607E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-73" dirty="0">
                <a:solidFill>
                  <a:srgbClr val="3D607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persona</a:t>
            </a:r>
            <a:r>
              <a:rPr sz="1335" spc="-73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natural.</a:t>
            </a:r>
            <a:endParaRPr sz="133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1770" y="3450027"/>
            <a:ext cx="3420529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 marR="3175" indent="1270">
              <a:lnSpc>
                <a:spcPct val="112000"/>
              </a:lnSpc>
              <a:spcBef>
                <a:spcPts val="60"/>
              </a:spcBef>
            </a:pPr>
            <a:r>
              <a:rPr sz="1335" spc="4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335" spc="-8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juzga</a:t>
            </a:r>
            <a:r>
              <a:rPr sz="1335" spc="-3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335" spc="-118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083146"/>
                </a:solidFill>
                <a:latin typeface="Calibri" panose="020F0502020204030204"/>
                <a:cs typeface="Calibri" panose="020F0502020204030204"/>
              </a:rPr>
              <a:t>Defecto</a:t>
            </a:r>
            <a:r>
              <a:rPr sz="1335" spc="-24" dirty="0">
                <a:solidFill>
                  <a:srgbClr val="0831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003867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106" dirty="0">
                <a:solidFill>
                  <a:srgbClr val="00386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9" dirty="0">
                <a:solidFill>
                  <a:srgbClr val="1A1A1A"/>
                </a:solidFill>
                <a:latin typeface="Calibri" panose="020F0502020204030204"/>
                <a:cs typeface="Calibri" panose="020F0502020204030204"/>
              </a:rPr>
              <a:t>Organización</a:t>
            </a:r>
            <a:r>
              <a:rPr sz="1335" spc="18" dirty="0">
                <a:solidFill>
                  <a:srgbClr val="1A1A1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5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335" spc="-9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465D82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-55" dirty="0">
                <a:solidFill>
                  <a:srgbClr val="465D8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424242"/>
                </a:solidFill>
                <a:latin typeface="Calibri" panose="020F0502020204030204"/>
                <a:cs typeface="Calibri" panose="020F0502020204030204"/>
              </a:rPr>
              <a:t>falta</a:t>
            </a:r>
            <a:r>
              <a:rPr sz="1335" spc="-33" dirty="0">
                <a:solidFill>
                  <a:srgbClr val="42424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27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de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vigilancia</a:t>
            </a:r>
            <a:r>
              <a:rPr sz="1335" spc="130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interna.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2488" y="4183401"/>
            <a:ext cx="3292687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 marR="3175" indent="-635">
              <a:lnSpc>
                <a:spcPct val="112000"/>
              </a:lnSpc>
              <a:spcBef>
                <a:spcPts val="60"/>
              </a:spcBef>
            </a:pPr>
            <a:r>
              <a:rPr sz="1335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Visto</a:t>
            </a:r>
            <a:r>
              <a:rPr sz="1335" spc="-100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1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manera</a:t>
            </a:r>
            <a:r>
              <a:rPr sz="1335" spc="30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voluntaria</a:t>
            </a:r>
            <a:r>
              <a:rPr sz="1335" spc="3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9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335" spc="-13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cosmética </a:t>
            </a:r>
            <a:r>
              <a:rPr sz="1335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("paper </a:t>
            </a:r>
            <a:r>
              <a:rPr sz="1335" spc="-18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compliance"</a:t>
            </a:r>
            <a:r>
              <a:rPr sz="1335" spc="42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para</a:t>
            </a:r>
            <a:r>
              <a:rPr sz="1335" spc="-39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mitigar</a:t>
            </a:r>
            <a:r>
              <a:rPr sz="1335" spc="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riesgos</a:t>
            </a:r>
            <a:r>
              <a:rPr sz="1335" spc="-24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comerciales).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2651" y="4907251"/>
            <a:ext cx="3311940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 marR="3175" indent="1270">
              <a:lnSpc>
                <a:spcPct val="112000"/>
              </a:lnSpc>
              <a:spcBef>
                <a:spcPts val="60"/>
              </a:spcBef>
            </a:pPr>
            <a:r>
              <a:rPr sz="1335" spc="-6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Sanción</a:t>
            </a:r>
            <a:r>
              <a:rPr sz="1335" spc="21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administrativa</a:t>
            </a:r>
            <a:r>
              <a:rPr sz="1335" spc="-4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9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335" spc="-100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multas</a:t>
            </a:r>
            <a:r>
              <a:rPr sz="1335" spc="-27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civiles</a:t>
            </a:r>
            <a:r>
              <a:rPr sz="1335" spc="-12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menores </a:t>
            </a:r>
            <a:r>
              <a:rPr sz="133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contra</a:t>
            </a:r>
            <a:r>
              <a:rPr sz="1335" spc="-21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495E77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-73" dirty="0">
                <a:solidFill>
                  <a:srgbClr val="495E7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personería</a:t>
            </a:r>
            <a:r>
              <a:rPr sz="1335" spc="30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8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495E77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-69" dirty="0">
                <a:solidFill>
                  <a:srgbClr val="495E7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empresa.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59931" y="4183401"/>
            <a:ext cx="3193726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13970" marR="3175" indent="-6985">
              <a:lnSpc>
                <a:spcPct val="112000"/>
              </a:lnSpc>
              <a:spcBef>
                <a:spcPts val="60"/>
              </a:spcBef>
            </a:pPr>
            <a:r>
              <a:rPr sz="1335" dirty="0">
                <a:solidFill>
                  <a:srgbClr val="181818"/>
                </a:solidFill>
                <a:latin typeface="Calibri" panose="020F0502020204030204"/>
                <a:cs typeface="Calibri" panose="020F0502020204030204"/>
              </a:rPr>
              <a:t>Mecanismo</a:t>
            </a:r>
            <a:r>
              <a:rPr sz="1335" spc="33" dirty="0">
                <a:solidFill>
                  <a:srgbClr val="18181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52" dirty="0">
                <a:solidFill>
                  <a:srgbClr val="00343D"/>
                </a:solidFill>
                <a:latin typeface="Calibri" panose="020F0502020204030204"/>
                <a:cs typeface="Calibri" panose="020F0502020204030204"/>
              </a:rPr>
              <a:t>Blindaje</a:t>
            </a:r>
            <a:r>
              <a:rPr sz="1335" spc="-67" dirty="0">
                <a:solidFill>
                  <a:srgbClr val="0034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032F3F"/>
                </a:solidFill>
                <a:latin typeface="Calibri" panose="020F0502020204030204"/>
                <a:cs typeface="Calibri" panose="020F0502020204030204"/>
              </a:rPr>
              <a:t>Legal</a:t>
            </a:r>
            <a:r>
              <a:rPr sz="1335" spc="-18" dirty="0">
                <a:solidFill>
                  <a:srgbClr val="032F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55" dirty="0">
                <a:solidFill>
                  <a:srgbClr val="23466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335" spc="-33" dirty="0">
                <a:solidFill>
                  <a:srgbClr val="23466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eximente </a:t>
            </a:r>
            <a:r>
              <a:rPr sz="1335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formal </a:t>
            </a:r>
            <a:r>
              <a:rPr sz="133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tipificado</a:t>
            </a:r>
            <a:r>
              <a:rPr sz="1335" spc="-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91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responsabilidad</a:t>
            </a:r>
            <a:r>
              <a:rPr sz="1335" spc="-58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penal.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64693" y="4907250"/>
            <a:ext cx="3624228" cy="45539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9525" marR="3175" indent="-1905">
              <a:lnSpc>
                <a:spcPct val="112000"/>
              </a:lnSpc>
              <a:spcBef>
                <a:spcPts val="60"/>
              </a:spcBef>
            </a:pPr>
            <a:r>
              <a:rPr sz="1335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7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36" dirty="0">
                <a:solidFill>
                  <a:srgbClr val="232323"/>
                </a:solidFill>
                <a:latin typeface="Calibri" panose="020F0502020204030204"/>
                <a:cs typeface="Calibri" panose="020F0502020204030204"/>
              </a:rPr>
              <a:t>Muerte</a:t>
            </a:r>
            <a:r>
              <a:rPr sz="1335" spc="18" dirty="0">
                <a:solidFill>
                  <a:srgbClr val="23232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9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Jurídica</a:t>
            </a:r>
            <a:r>
              <a:rPr sz="1335" spc="-27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(Disolución</a:t>
            </a:r>
            <a:r>
              <a:rPr sz="133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forzosa</a:t>
            </a:r>
            <a:r>
              <a:rPr sz="1335" spc="-39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335" spc="27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liquidación </a:t>
            </a:r>
            <a:r>
              <a:rPr sz="1335" spc="-6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absoluta</a:t>
            </a:r>
            <a:r>
              <a:rPr sz="1335" spc="9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4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35" spc="-8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35" spc="-118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empresa).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" y="508000"/>
            <a:ext cx="10977880" cy="58451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87678" y="684769"/>
            <a:ext cx="6376669" cy="439719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208280">
              <a:lnSpc>
                <a:spcPct val="100000"/>
              </a:lnSpc>
              <a:spcBef>
                <a:spcPts val="80"/>
              </a:spcBef>
            </a:pPr>
            <a:r>
              <a:rPr lang="en-US" sz="2790" spc="49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lang="en-US" sz="2790" spc="18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790" spc="179">
                <a:solidFill>
                  <a:srgbClr val="082D41"/>
                </a:solidFill>
                <a:latin typeface="Calibri" panose="020F0502020204030204"/>
                <a:cs typeface="Calibri" panose="020F0502020204030204"/>
              </a:rPr>
              <a:t>RIESGO</a:t>
            </a:r>
            <a:r>
              <a:rPr lang="en-US" sz="2790" spc="3">
                <a:solidFill>
                  <a:srgbClr val="082D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790" spc="167">
                <a:solidFill>
                  <a:srgbClr val="072F46"/>
                </a:solidFill>
                <a:latin typeface="Calibri" panose="020F0502020204030204"/>
                <a:cs typeface="Calibri" panose="020F0502020204030204"/>
              </a:rPr>
              <a:t>REPUTACIONAL</a:t>
            </a:r>
            <a:endParaRPr lang="en-US" sz="27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8899" y="5037416"/>
            <a:ext cx="9402121" cy="466720"/>
          </a:xfrm>
          <a:prstGeom prst="rect">
            <a:avLst/>
          </a:prstGeom>
        </p:spPr>
        <p:txBody>
          <a:bodyPr vert="horz" wrap="square" lIns="0" tIns="5006" rIns="0" bIns="0" rtlCol="0">
            <a:spAutoFit/>
          </a:bodyPr>
          <a:lstStyle/>
          <a:p>
            <a:pPr marL="2533650" marR="3175" indent="-2526665">
              <a:lnSpc>
                <a:spcPct val="101000"/>
              </a:lnSpc>
              <a:spcBef>
                <a:spcPts val="40"/>
              </a:spcBef>
            </a:pPr>
            <a:r>
              <a:rPr lang="es-ES" sz="1485" i="1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lang="es-ES" sz="1485" i="1" spc="-10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33" dirty="0" smtClean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verdadero costo</a:t>
            </a:r>
            <a:r>
              <a:rPr lang="es-ES" sz="1485" i="1" spc="-146" dirty="0" smtClean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21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lang="es-ES" sz="1485" i="1" spc="-149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1" dirty="0">
                <a:solidFill>
                  <a:srgbClr val="67798C"/>
                </a:solidFill>
                <a:latin typeface="Calibri" panose="020F0502020204030204"/>
                <a:cs typeface="Calibri" panose="020F0502020204030204"/>
              </a:rPr>
              <a:t>un</a:t>
            </a:r>
            <a:r>
              <a:rPr lang="es-ES" sz="1485" i="1" spc="-170" dirty="0">
                <a:solidFill>
                  <a:srgbClr val="67798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7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proceso</a:t>
            </a:r>
            <a:r>
              <a:rPr lang="es-ES" sz="1485" i="1" spc="-58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73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penal</a:t>
            </a:r>
            <a:r>
              <a:rPr lang="es-ES" sz="1485" i="1" spc="-11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52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destruye</a:t>
            </a:r>
            <a:r>
              <a:rPr lang="es-ES" sz="1485" i="1" spc="9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4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irreversiblemente</a:t>
            </a:r>
            <a:r>
              <a:rPr lang="es-ES" sz="1485" i="1" spc="-121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21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lang="es-ES" sz="1485" i="1" spc="-103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1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valor</a:t>
            </a:r>
            <a:r>
              <a:rPr lang="es-ES" sz="1485" i="1" spc="-5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7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intangible</a:t>
            </a:r>
            <a:r>
              <a:rPr lang="es-ES" sz="1485" i="1" spc="1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42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lang="es-ES" sz="1485" i="1" spc="-64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8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lang="es-ES" sz="1485" i="1" spc="-11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7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marca.</a:t>
            </a:r>
            <a:r>
              <a:rPr lang="es-ES" sz="1485" i="1" spc="-64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36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lang="es-ES" sz="1485" i="1" spc="-4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4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erosión</a:t>
            </a:r>
            <a:r>
              <a:rPr lang="es-ES" sz="1485" i="1" spc="-11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42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lang="es-ES" sz="1485" i="1" spc="-69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9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comienza</a:t>
            </a:r>
            <a:r>
              <a:rPr lang="es-ES" sz="1485" i="1" spc="27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dirty="0" smtClean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y la</a:t>
            </a:r>
            <a:r>
              <a:rPr lang="es-ES" sz="1485" i="1" spc="-73" dirty="0" smtClean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exclusión </a:t>
            </a:r>
            <a:r>
              <a:rPr lang="es-ES" sz="1485" i="1" spc="-8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financiera</a:t>
            </a:r>
            <a:r>
              <a:rPr lang="es-ES" sz="1485" i="1" spc="-30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76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superan</a:t>
            </a:r>
            <a:r>
              <a:rPr lang="es-ES" sz="1485" i="1" spc="-94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4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con</a:t>
            </a:r>
            <a:r>
              <a:rPr lang="es-ES" sz="1485" i="1" spc="-143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33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creces</a:t>
            </a:r>
            <a:r>
              <a:rPr lang="es-ES" sz="1485" i="1" spc="-124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21" dirty="0">
                <a:solidFill>
                  <a:srgbClr val="445467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lang="es-ES" sz="1485" i="1" spc="-143" dirty="0">
                <a:solidFill>
                  <a:srgbClr val="44546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91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impacto</a:t>
            </a:r>
            <a:r>
              <a:rPr lang="es-ES" sz="1485" i="1" spc="-58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4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lang="es-ES" sz="1485" i="1" spc="-6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106" dirty="0">
                <a:solidFill>
                  <a:srgbClr val="334654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lang="es-ES" sz="1485" i="1" spc="-73" dirty="0">
                <a:solidFill>
                  <a:srgbClr val="33465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10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multa</a:t>
            </a:r>
            <a:r>
              <a:rPr lang="es-ES" sz="1485" i="1" spc="-3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s-ES" sz="1485" i="1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pecuniaria.</a:t>
            </a:r>
            <a:endParaRPr lang="es-ES" sz="1485" dirty="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1190444" y="1820584"/>
          <a:ext cx="987724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744" y="193669"/>
            <a:ext cx="5857463" cy="67813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8123" y="632752"/>
            <a:ext cx="3693154" cy="439719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7620">
              <a:lnSpc>
                <a:spcPct val="100000"/>
              </a:lnSpc>
              <a:spcBef>
                <a:spcPts val="80"/>
              </a:spcBef>
              <a:tabLst>
                <a:tab pos="693420" algn="l"/>
              </a:tabLst>
            </a:pPr>
            <a:r>
              <a:rPr lang="en-US" sz="2790" spc="79" dirty="0">
                <a:solidFill>
                  <a:srgbClr val="082D46"/>
                </a:solidFill>
                <a:latin typeface="Calibri" panose="020F0502020204030204"/>
                <a:cs typeface="Calibri" panose="020F0502020204030204"/>
              </a:rPr>
              <a:t>LA </a:t>
            </a:r>
            <a:r>
              <a:rPr sz="2790" spc="79" dirty="0">
                <a:solidFill>
                  <a:srgbClr val="082D46"/>
                </a:solidFill>
                <a:latin typeface="Calibri" panose="020F0502020204030204"/>
                <a:cs typeface="Calibri" panose="020F0502020204030204"/>
              </a:rPr>
              <a:t>MUERTE</a:t>
            </a:r>
            <a:r>
              <a:rPr sz="2790" spc="203" dirty="0">
                <a:solidFill>
                  <a:srgbClr val="082D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90" spc="224" dirty="0">
                <a:solidFill>
                  <a:srgbClr val="0A2D3B"/>
                </a:solidFill>
                <a:latin typeface="Calibri" panose="020F0502020204030204"/>
                <a:cs typeface="Calibri" panose="020F0502020204030204"/>
              </a:rPr>
              <a:t>JURÍDICA</a:t>
            </a:r>
            <a:endParaRPr sz="27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052" y="1339198"/>
            <a:ext cx="5191441" cy="404734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30" b="1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Extinción</a:t>
            </a:r>
            <a:r>
              <a:rPr sz="2030" b="1" spc="-49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b="1" spc="106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Legal</a:t>
            </a:r>
            <a:r>
              <a:rPr sz="2030" b="1" spc="-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b="1" spc="133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030" b="1" spc="-158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b="1" spc="88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030" b="1" spc="-42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b="1" spc="73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Sociedad</a:t>
            </a:r>
            <a:endParaRPr sz="2030" b="1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  <a:p>
            <a:pPr marL="13970" algn="just">
              <a:spcBef>
                <a:spcPts val="1120"/>
              </a:spcBef>
            </a:pPr>
            <a:r>
              <a:rPr sz="2400" spc="42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103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disolución</a:t>
            </a:r>
            <a:r>
              <a:rPr sz="2400" spc="-73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penal</a:t>
            </a:r>
            <a:r>
              <a:rPr sz="2400" spc="-64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forzosa</a:t>
            </a:r>
            <a:r>
              <a:rPr sz="2400" spc="-21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8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representa</a:t>
            </a:r>
            <a:r>
              <a:rPr sz="2400" spc="27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7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pena</a:t>
            </a:r>
            <a:r>
              <a:rPr sz="2400" spc="-36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18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muerte</a:t>
            </a:r>
            <a:r>
              <a:rPr sz="2400" spc="-3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corporativa.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1430" marR="3175" indent="2540" algn="just">
              <a:lnSpc>
                <a:spcPct val="123000"/>
              </a:lnSpc>
              <a:spcBef>
                <a:spcPts val="1175"/>
              </a:spcBef>
            </a:pPr>
            <a:r>
              <a:rPr sz="2400" spc="-1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Este</a:t>
            </a:r>
            <a:r>
              <a:rPr sz="2400" spc="-91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fenómeno</a:t>
            </a:r>
            <a:r>
              <a:rPr sz="2400" spc="-39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priva</a:t>
            </a:r>
            <a:r>
              <a:rPr sz="2400" spc="-100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permanentemente</a:t>
            </a:r>
            <a:r>
              <a:rPr sz="2400" spc="-17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12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capacidad</a:t>
            </a:r>
            <a:r>
              <a:rPr sz="2400" spc="58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jurídica</a:t>
            </a:r>
            <a:r>
              <a:rPr sz="2400" spc="-30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-58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526980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73" dirty="0">
                <a:solidFill>
                  <a:srgbClr val="52698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empresa </a:t>
            </a:r>
            <a:r>
              <a:rPr sz="2400" spc="-21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400" spc="-149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400" spc="-1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mercado</a:t>
            </a:r>
            <a:r>
              <a:rPr sz="2400" spc="-94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5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dominicano,</a:t>
            </a:r>
            <a:r>
              <a:rPr sz="2400" spc="1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cancelando</a:t>
            </a:r>
            <a:r>
              <a:rPr sz="2400" spc="-4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12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forma</a:t>
            </a:r>
            <a:r>
              <a:rPr sz="2400" spc="-5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irrevocable</a:t>
            </a:r>
            <a:r>
              <a:rPr sz="2400" spc="15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8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su</a:t>
            </a:r>
            <a:r>
              <a:rPr sz="2400" spc="-139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Registro </a:t>
            </a:r>
            <a:r>
              <a:rPr sz="2400" spc="-21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Mercantil</a:t>
            </a:r>
            <a:r>
              <a:rPr sz="2400" spc="-4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42" dirty="0">
                <a:solidFill>
                  <a:srgbClr val="697087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400" spc="-85" dirty="0">
                <a:solidFill>
                  <a:srgbClr val="6970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ordenando</a:t>
            </a:r>
            <a:r>
              <a:rPr sz="2400" spc="-21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8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liquidación</a:t>
            </a:r>
            <a:r>
              <a:rPr sz="2400" spc="-9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9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2400" spc="-94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0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sus</a:t>
            </a:r>
            <a:r>
              <a:rPr sz="2400" spc="-133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8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activos</a:t>
            </a:r>
            <a:r>
              <a:rPr sz="2400" spc="-94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8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bajo</a:t>
            </a:r>
            <a:r>
              <a:rPr sz="2400" spc="-118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control </a:t>
            </a:r>
            <a:r>
              <a:rPr sz="2400" spc="-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judicial.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61653" y="582167"/>
            <a:ext cx="6376669" cy="551809"/>
          </a:xfrm>
          <a:prstGeom prst="rect">
            <a:avLst/>
          </a:prstGeom>
        </p:spPr>
        <p:txBody>
          <a:bodyPr vert="horz" wrap="square" lIns="0" tIns="47362" rIns="0" bIns="0" rtlCol="0" anchor="ctr">
            <a:spAutoFit/>
          </a:bodyPr>
          <a:lstStyle/>
          <a:p>
            <a:pPr marL="12065">
              <a:lnSpc>
                <a:spcPct val="100000"/>
              </a:lnSpc>
              <a:spcBef>
                <a:spcPts val="65"/>
              </a:spcBef>
            </a:pPr>
            <a:r>
              <a:rPr sz="4910" spc="-787" baseline="-10000" dirty="0">
                <a:solidFill>
                  <a:srgbClr val="FFB8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4910" spc="714" baseline="-10000" dirty="0">
                <a:solidFill>
                  <a:srgbClr val="FFB8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75" spc="-164" dirty="0">
                <a:solidFill>
                  <a:srgbClr val="013144"/>
                </a:solidFill>
                <a:latin typeface="Times New Roman" panose="02020603050405020304"/>
                <a:cs typeface="Times New Roman" panose="02020603050405020304"/>
              </a:rPr>
              <a:t>EL</a:t>
            </a:r>
            <a:r>
              <a:rPr sz="3275" spc="-39" dirty="0">
                <a:solidFill>
                  <a:srgbClr val="01314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75" dirty="0">
                <a:solidFill>
                  <a:srgbClr val="013148"/>
                </a:solidFill>
                <a:latin typeface="Times New Roman" panose="02020603050405020304"/>
                <a:cs typeface="Times New Roman" panose="02020603050405020304"/>
              </a:rPr>
              <a:t>REPROCHE</a:t>
            </a:r>
            <a:r>
              <a:rPr sz="3275" spc="293" dirty="0">
                <a:solidFill>
                  <a:srgbClr val="01314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75" spc="-45" dirty="0">
                <a:solidFill>
                  <a:srgbClr val="00334D"/>
                </a:solidFill>
                <a:latin typeface="Times New Roman" panose="02020603050405020304"/>
                <a:cs typeface="Times New Roman" panose="02020603050405020304"/>
              </a:rPr>
              <a:t>CORPORATIVO</a:t>
            </a:r>
            <a:endParaRPr sz="327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233" y="3782586"/>
            <a:ext cx="3152909" cy="307876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620">
              <a:spcBef>
                <a:spcPts val="75"/>
              </a:spcBef>
            </a:pPr>
            <a:r>
              <a:rPr sz="1940" spc="-36" dirty="0">
                <a:solidFill>
                  <a:srgbClr val="033148"/>
                </a:solidFill>
                <a:latin typeface="Times New Roman" panose="02020603050405020304"/>
                <a:cs typeface="Times New Roman" panose="02020603050405020304"/>
              </a:rPr>
              <a:t>De</a:t>
            </a:r>
            <a:r>
              <a:rPr sz="1940" spc="173" dirty="0">
                <a:solidFill>
                  <a:srgbClr val="03314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40" dirty="0">
                <a:solidFill>
                  <a:srgbClr val="002B4B"/>
                </a:solidFill>
                <a:latin typeface="Times New Roman" panose="02020603050405020304"/>
                <a:cs typeface="Times New Roman" panose="02020603050405020304"/>
              </a:rPr>
              <a:t>responsabilidad</a:t>
            </a:r>
            <a:r>
              <a:rPr sz="1940" spc="100" dirty="0">
                <a:solidFill>
                  <a:srgbClr val="002B4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40" spc="-6" dirty="0">
                <a:solidFill>
                  <a:srgbClr val="05364D"/>
                </a:solidFill>
                <a:latin typeface="Times New Roman" panose="02020603050405020304"/>
                <a:cs typeface="Times New Roman" panose="02020603050405020304"/>
              </a:rPr>
              <a:t>estructural.</a:t>
            </a:r>
            <a:endParaRPr sz="194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653" y="4282613"/>
            <a:ext cx="5316201" cy="507337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 marR="3175" indent="2540">
              <a:lnSpc>
                <a:spcPct val="114000"/>
              </a:lnSpc>
              <a:spcBef>
                <a:spcPts val="60"/>
              </a:spcBef>
            </a:pPr>
            <a:r>
              <a:rPr sz="1485" spc="-121" dirty="0">
                <a:solidFill>
                  <a:srgbClr val="4D4D4D"/>
                </a:solidFill>
                <a:latin typeface="Arial MT"/>
                <a:cs typeface="Arial MT"/>
              </a:rPr>
              <a:t>La</a:t>
            </a:r>
            <a:r>
              <a:rPr sz="1485" spc="-76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485" spc="-73" dirty="0">
                <a:solidFill>
                  <a:srgbClr val="484848"/>
                </a:solidFill>
                <a:latin typeface="Arial MT"/>
                <a:cs typeface="Arial MT"/>
              </a:rPr>
              <a:t>culpabilidad</a:t>
            </a:r>
            <a:r>
              <a:rPr sz="1485" spc="79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485" spc="-130" dirty="0">
                <a:solidFill>
                  <a:srgbClr val="444444"/>
                </a:solidFill>
                <a:latin typeface="Arial MT"/>
                <a:cs typeface="Arial MT"/>
              </a:rPr>
              <a:t>de</a:t>
            </a:r>
            <a:r>
              <a:rPr sz="1485" spc="-36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485" spc="-100" dirty="0">
                <a:solidFill>
                  <a:srgbClr val="505050"/>
                </a:solidFill>
                <a:latin typeface="Arial MT"/>
                <a:cs typeface="Arial MT"/>
              </a:rPr>
              <a:t>la</a:t>
            </a:r>
            <a:r>
              <a:rPr sz="1485" spc="-82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1485" spc="-94" dirty="0">
                <a:solidFill>
                  <a:srgbClr val="484848"/>
                </a:solidFill>
                <a:latin typeface="Arial MT"/>
                <a:cs typeface="Arial MT"/>
              </a:rPr>
              <a:t>empresa</a:t>
            </a:r>
            <a:r>
              <a:rPr sz="1485" spc="9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485" spc="-88" dirty="0">
                <a:solidFill>
                  <a:srgbClr val="4D4D4D"/>
                </a:solidFill>
                <a:latin typeface="Arial MT"/>
                <a:cs typeface="Arial MT"/>
              </a:rPr>
              <a:t>no</a:t>
            </a:r>
            <a:r>
              <a:rPr sz="1485" spc="-69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485" spc="-88" dirty="0">
                <a:solidFill>
                  <a:srgbClr val="484848"/>
                </a:solidFill>
                <a:latin typeface="Arial MT"/>
                <a:cs typeface="Arial MT"/>
              </a:rPr>
              <a:t>deriva</a:t>
            </a:r>
            <a:r>
              <a:rPr sz="1485" spc="3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485" spc="-94" dirty="0">
                <a:solidFill>
                  <a:srgbClr val="4B4B4B"/>
                </a:solidFill>
                <a:latin typeface="Arial MT"/>
                <a:cs typeface="Arial MT"/>
              </a:rPr>
              <a:t>del</a:t>
            </a:r>
            <a:r>
              <a:rPr sz="1485" spc="-61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485" spc="-67" dirty="0">
                <a:solidFill>
                  <a:srgbClr val="444444"/>
                </a:solidFill>
                <a:latin typeface="Arial MT"/>
                <a:cs typeface="Arial MT"/>
              </a:rPr>
              <a:t>acto</a:t>
            </a:r>
            <a:r>
              <a:rPr sz="1485" spc="-39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485" spc="-91" dirty="0">
                <a:solidFill>
                  <a:srgbClr val="444444"/>
                </a:solidFill>
                <a:latin typeface="Arial MT"/>
                <a:cs typeface="Arial MT"/>
              </a:rPr>
              <a:t>del</a:t>
            </a:r>
            <a:r>
              <a:rPr sz="1485" spc="-97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485" spc="-91" dirty="0">
                <a:solidFill>
                  <a:srgbClr val="494949"/>
                </a:solidFill>
                <a:latin typeface="Arial MT"/>
                <a:cs typeface="Arial MT"/>
              </a:rPr>
              <a:t>empleado,</a:t>
            </a:r>
            <a:r>
              <a:rPr sz="1485" spc="-33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485" spc="-82" dirty="0">
                <a:solidFill>
                  <a:srgbClr val="494949"/>
                </a:solidFill>
                <a:latin typeface="Arial MT"/>
                <a:cs typeface="Arial MT"/>
              </a:rPr>
              <a:t>sino</a:t>
            </a:r>
            <a:r>
              <a:rPr sz="1485" spc="-61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485" spc="-15" dirty="0">
                <a:solidFill>
                  <a:srgbClr val="4B4B4B"/>
                </a:solidFill>
                <a:latin typeface="Arial MT"/>
                <a:cs typeface="Arial MT"/>
              </a:rPr>
              <a:t>de </a:t>
            </a:r>
            <a:r>
              <a:rPr sz="1485" spc="-82" dirty="0">
                <a:solidFill>
                  <a:srgbClr val="494949"/>
                </a:solidFill>
                <a:latin typeface="Arial MT"/>
                <a:cs typeface="Arial MT"/>
              </a:rPr>
              <a:t>la</a:t>
            </a:r>
            <a:r>
              <a:rPr sz="1485" spc="-8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485" spc="-85" dirty="0">
                <a:solidFill>
                  <a:srgbClr val="4B4B4B"/>
                </a:solidFill>
                <a:latin typeface="Arial MT"/>
                <a:cs typeface="Arial MT"/>
              </a:rPr>
              <a:t>incapacidad</a:t>
            </a:r>
            <a:r>
              <a:rPr sz="1485" spc="91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485" spc="-94" dirty="0">
                <a:solidFill>
                  <a:srgbClr val="4D4D4D"/>
                </a:solidFill>
                <a:latin typeface="Arial MT"/>
                <a:cs typeface="Arial MT"/>
              </a:rPr>
              <a:t>del</a:t>
            </a:r>
            <a:r>
              <a:rPr sz="1485" spc="-52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485" spc="-79" dirty="0">
                <a:solidFill>
                  <a:srgbClr val="494949"/>
                </a:solidFill>
                <a:latin typeface="Arial MT"/>
                <a:cs typeface="Arial MT"/>
              </a:rPr>
              <a:t>sistema</a:t>
            </a:r>
            <a:r>
              <a:rPr sz="1485" spc="-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485" spc="-94" dirty="0">
                <a:solidFill>
                  <a:srgbClr val="364B67"/>
                </a:solidFill>
                <a:latin typeface="Arial MT"/>
                <a:cs typeface="Arial MT"/>
              </a:rPr>
              <a:t>para</a:t>
            </a:r>
            <a:r>
              <a:rPr sz="1485" spc="-21" dirty="0">
                <a:solidFill>
                  <a:srgbClr val="364B67"/>
                </a:solidFill>
                <a:latin typeface="Arial MT"/>
                <a:cs typeface="Arial MT"/>
              </a:rPr>
              <a:t> </a:t>
            </a:r>
            <a:r>
              <a:rPr sz="1485" spc="-6" dirty="0">
                <a:solidFill>
                  <a:srgbClr val="3B3B3B"/>
                </a:solidFill>
                <a:latin typeface="Arial MT"/>
                <a:cs typeface="Arial MT"/>
              </a:rPr>
              <a:t>impedirlo.</a:t>
            </a:r>
            <a:endParaRPr sz="1485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4664" y="2708294"/>
            <a:ext cx="4652204" cy="4390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800" dirty="0">
                <a:solidFill>
                  <a:srgbClr val="03344B"/>
                </a:solidFill>
                <a:latin typeface="Times New Roman" panose="02020603050405020304"/>
                <a:cs typeface="Times New Roman" panose="02020603050405020304"/>
              </a:rPr>
              <a:t>Fórmula</a:t>
            </a:r>
            <a:r>
              <a:rPr sz="2800" spc="-67" dirty="0">
                <a:solidFill>
                  <a:srgbClr val="03344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4" dirty="0">
                <a:solidFill>
                  <a:srgbClr val="003452"/>
                </a:solidFill>
                <a:latin typeface="Times New Roman" panose="02020603050405020304"/>
                <a:cs typeface="Times New Roman" panose="02020603050405020304"/>
              </a:rPr>
              <a:t>del</a:t>
            </a:r>
            <a:r>
              <a:rPr sz="2800" spc="-79" dirty="0">
                <a:solidFill>
                  <a:srgbClr val="00345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45" dirty="0">
                <a:solidFill>
                  <a:srgbClr val="083454"/>
                </a:solidFill>
                <a:latin typeface="Times New Roman" panose="02020603050405020304"/>
                <a:cs typeface="Times New Roman" panose="02020603050405020304"/>
              </a:rPr>
              <a:t>Riesgo</a:t>
            </a:r>
            <a:r>
              <a:rPr sz="2800" spc="-55" dirty="0">
                <a:solidFill>
                  <a:srgbClr val="0834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solidFill>
                  <a:srgbClr val="052A3B"/>
                </a:solidFill>
                <a:latin typeface="Times New Roman" panose="02020603050405020304"/>
                <a:cs typeface="Times New Roman" panose="02020603050405020304"/>
              </a:rPr>
              <a:t>Penal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9323" y="3600036"/>
            <a:ext cx="2492138" cy="35584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22860">
              <a:spcBef>
                <a:spcPts val="80"/>
              </a:spcBef>
              <a:tabLst>
                <a:tab pos="1261745" algn="l"/>
                <a:tab pos="2357120" algn="l"/>
              </a:tabLst>
            </a:pPr>
            <a:r>
              <a:rPr sz="2245" dirty="0">
                <a:latin typeface="Cambria" panose="02040503050406030204"/>
                <a:cs typeface="Cambria" panose="02040503050406030204"/>
              </a:rPr>
              <a:t>RP</a:t>
            </a:r>
            <a:r>
              <a:rPr sz="2245" spc="482" dirty="0">
                <a:latin typeface="Cambria" panose="02040503050406030204"/>
                <a:cs typeface="Cambria" panose="02040503050406030204"/>
              </a:rPr>
              <a:t> </a:t>
            </a:r>
            <a:r>
              <a:rPr sz="2245" dirty="0">
                <a:latin typeface="Cambria" panose="02040503050406030204"/>
                <a:cs typeface="Cambria" panose="02040503050406030204"/>
              </a:rPr>
              <a:t>=</a:t>
            </a:r>
            <a:r>
              <a:rPr sz="2245" spc="270" dirty="0">
                <a:latin typeface="Cambria" panose="02040503050406030204"/>
                <a:cs typeface="Cambria" panose="02040503050406030204"/>
              </a:rPr>
              <a:t> </a:t>
            </a:r>
            <a:r>
              <a:rPr sz="2245" dirty="0">
                <a:latin typeface="Cambria" panose="02040503050406030204"/>
                <a:cs typeface="Cambria" panose="02040503050406030204"/>
              </a:rPr>
              <a:t>I</a:t>
            </a:r>
            <a:r>
              <a:rPr sz="2245" spc="412" dirty="0">
                <a:latin typeface="Cambria" panose="02040503050406030204"/>
                <a:cs typeface="Cambria" panose="02040503050406030204"/>
              </a:rPr>
              <a:t> </a:t>
            </a:r>
            <a:r>
              <a:rPr sz="3365" spc="-45" baseline="8000" dirty="0">
                <a:latin typeface="Cambria" panose="02040503050406030204"/>
                <a:cs typeface="Cambria" panose="02040503050406030204"/>
              </a:rPr>
              <a:t>x</a:t>
            </a:r>
            <a:r>
              <a:rPr sz="3365" baseline="8000" dirty="0">
                <a:latin typeface="Cambria" panose="02040503050406030204"/>
                <a:cs typeface="Cambria" panose="02040503050406030204"/>
              </a:rPr>
              <a:t>	</a:t>
            </a:r>
            <a:r>
              <a:rPr sz="2245" dirty="0">
                <a:latin typeface="Cambria" panose="02040503050406030204"/>
                <a:cs typeface="Cambria" panose="02040503050406030204"/>
              </a:rPr>
              <a:t>(</a:t>
            </a:r>
            <a:r>
              <a:rPr sz="2245" spc="152" dirty="0">
                <a:latin typeface="Cambria" panose="02040503050406030204"/>
                <a:cs typeface="Cambria" panose="02040503050406030204"/>
              </a:rPr>
              <a:t> </a:t>
            </a:r>
            <a:r>
              <a:rPr sz="2245" dirty="0">
                <a:latin typeface="Cambria" panose="02040503050406030204"/>
                <a:cs typeface="Cambria" panose="02040503050406030204"/>
              </a:rPr>
              <a:t>1</a:t>
            </a:r>
            <a:r>
              <a:rPr sz="2245" spc="121" dirty="0">
                <a:latin typeface="Cambria" panose="02040503050406030204"/>
                <a:cs typeface="Cambria" panose="02040503050406030204"/>
              </a:rPr>
              <a:t> </a:t>
            </a:r>
            <a:r>
              <a:rPr sz="2245" dirty="0">
                <a:latin typeface="Cambria" panose="02040503050406030204"/>
                <a:cs typeface="Cambria" panose="02040503050406030204"/>
              </a:rPr>
              <a:t>-</a:t>
            </a:r>
            <a:r>
              <a:rPr sz="2245" spc="212" dirty="0">
                <a:latin typeface="Cambria" panose="02040503050406030204"/>
                <a:cs typeface="Cambria" panose="02040503050406030204"/>
              </a:rPr>
              <a:t> </a:t>
            </a:r>
            <a:r>
              <a:rPr sz="2245" spc="-15" dirty="0">
                <a:latin typeface="Cambria" panose="02040503050406030204"/>
                <a:cs typeface="Cambria" panose="02040503050406030204"/>
              </a:rPr>
              <a:t>CE</a:t>
            </a:r>
            <a:r>
              <a:rPr sz="2245" dirty="0">
                <a:latin typeface="Cambria" panose="02040503050406030204"/>
                <a:cs typeface="Cambria" panose="02040503050406030204"/>
              </a:rPr>
              <a:t>	</a:t>
            </a:r>
            <a:r>
              <a:rPr sz="2245" spc="-30" dirty="0">
                <a:latin typeface="Cambria" panose="02040503050406030204"/>
                <a:cs typeface="Cambria" panose="02040503050406030204"/>
              </a:rPr>
              <a:t>)</a:t>
            </a:r>
            <a:endParaRPr sz="2245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6458" y="4291741"/>
            <a:ext cx="3600354" cy="175836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1090" spc="-27" dirty="0">
                <a:solidFill>
                  <a:srgbClr val="3B3B3B"/>
                </a:solidFill>
                <a:latin typeface="Times New Roman" panose="02020603050405020304"/>
                <a:cs typeface="Times New Roman" panose="02020603050405020304"/>
              </a:rPr>
              <a:t>RP:</a:t>
            </a:r>
            <a:r>
              <a:rPr sz="1090" spc="45" dirty="0">
                <a:solidFill>
                  <a:srgbClr val="3B3B3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dirty="0">
                <a:solidFill>
                  <a:srgbClr val="424242"/>
                </a:solidFill>
                <a:latin typeface="Times New Roman" panose="02020603050405020304"/>
                <a:cs typeface="Times New Roman" panose="02020603050405020304"/>
              </a:rPr>
              <a:t>Responsabilidad</a:t>
            </a:r>
            <a:r>
              <a:rPr sz="1090" spc="146" dirty="0">
                <a:solidFill>
                  <a:srgbClr val="42424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dirty="0">
                <a:solidFill>
                  <a:srgbClr val="3F3F3F"/>
                </a:solidFill>
                <a:latin typeface="Times New Roman" panose="02020603050405020304"/>
                <a:cs typeface="Times New Roman" panose="02020603050405020304"/>
              </a:rPr>
              <a:t>Penal</a:t>
            </a:r>
            <a:r>
              <a:rPr sz="1090" spc="127" dirty="0">
                <a:solidFill>
                  <a:srgbClr val="3F3F3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spc="-233" dirty="0">
                <a:solidFill>
                  <a:srgbClr val="4F4F4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090" spc="91" dirty="0">
                <a:solidFill>
                  <a:srgbClr val="4F4F4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spc="-30" dirty="0">
                <a:solidFill>
                  <a:srgbClr val="3B3B3B"/>
                </a:solidFill>
                <a:latin typeface="Times New Roman" panose="02020603050405020304"/>
                <a:cs typeface="Times New Roman" panose="02020603050405020304"/>
              </a:rPr>
              <a:t>l.</a:t>
            </a:r>
            <a:r>
              <a:rPr sz="1090" spc="30" dirty="0">
                <a:solidFill>
                  <a:srgbClr val="3B3B3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</a:rPr>
              <a:t>Infracción</a:t>
            </a:r>
            <a:r>
              <a:rPr sz="1090" spc="206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spc="-42" dirty="0">
                <a:solidFill>
                  <a:srgbClr val="50505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090" spc="-42" dirty="0">
                <a:solidFill>
                  <a:srgbClr val="3F3F3F"/>
                </a:solidFill>
                <a:latin typeface="Times New Roman" panose="02020603050405020304"/>
                <a:cs typeface="Times New Roman" panose="02020603050405020304"/>
              </a:rPr>
              <a:t>CE:</a:t>
            </a:r>
            <a:r>
              <a:rPr sz="1090" spc="-24" dirty="0">
                <a:solidFill>
                  <a:srgbClr val="3F3F3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090" spc="149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090" spc="-6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</a:rPr>
              <a:t>Efectivo</a:t>
            </a:r>
            <a:endParaRPr sz="109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12"/>
          <p:cNvSpPr txBox="1"/>
          <p:nvPr/>
        </p:nvSpPr>
        <p:spPr>
          <a:xfrm>
            <a:off x="921087" y="1969173"/>
            <a:ext cx="3245472" cy="147824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 marR="3175" indent="2540">
              <a:lnSpc>
                <a:spcPct val="114000"/>
              </a:lnSpc>
              <a:spcBef>
                <a:spcPts val="60"/>
              </a:spcBef>
            </a:pPr>
            <a:r>
              <a:rPr lang="en-US" sz="8800" b="1" spc="-121" dirty="0">
                <a:solidFill>
                  <a:schemeClr val="tx2">
                    <a:lumMod val="75000"/>
                    <a:lumOff val="25000"/>
                  </a:schemeClr>
                </a:solidFill>
                <a:latin typeface="Aptos Black" panose="020B0004020202020204" pitchFamily="34" charset="0"/>
                <a:cs typeface="Arial MT"/>
              </a:rPr>
              <a:t>100%</a:t>
            </a:r>
            <a:endParaRPr sz="8800" b="1" dirty="0">
              <a:solidFill>
                <a:schemeClr val="tx2">
                  <a:lumMod val="75000"/>
                  <a:lumOff val="25000"/>
                </a:schemeClr>
              </a:solidFill>
              <a:latin typeface="Aptos Black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1117" y="2876348"/>
            <a:ext cx="600032" cy="7762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4343" y="2847775"/>
            <a:ext cx="304778" cy="8000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2938" y="2828726"/>
            <a:ext cx="2281077" cy="83337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99477" y="554272"/>
            <a:ext cx="6376669" cy="452141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207645">
              <a:lnSpc>
                <a:spcPct val="100000"/>
              </a:lnSpc>
              <a:spcBef>
                <a:spcPts val="70"/>
              </a:spcBef>
            </a:pPr>
            <a:r>
              <a:rPr sz="2880" spc="97" dirty="0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DEMOSTRAR</a:t>
            </a:r>
            <a:r>
              <a:rPr sz="2880" spc="300" dirty="0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80" spc="203" dirty="0">
                <a:solidFill>
                  <a:srgbClr val="0C2F42"/>
                </a:solidFill>
                <a:latin typeface="Calibri" panose="020F0502020204030204"/>
                <a:cs typeface="Calibri" panose="020F0502020204030204"/>
              </a:rPr>
              <a:t>PARA</a:t>
            </a:r>
            <a:r>
              <a:rPr sz="2880" spc="73" dirty="0">
                <a:solidFill>
                  <a:srgbClr val="0C2F4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80" spc="88" dirty="0">
                <a:solidFill>
                  <a:srgbClr val="0A2D41"/>
                </a:solidFill>
                <a:latin typeface="Calibri" panose="020F0502020204030204"/>
                <a:cs typeface="Calibri" panose="020F0502020204030204"/>
              </a:rPr>
              <a:t>ATENUAR</a:t>
            </a:r>
            <a:endParaRPr sz="288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8688" y="3864733"/>
            <a:ext cx="2634612" cy="271789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620">
              <a:spcBef>
                <a:spcPts val="80"/>
              </a:spcBef>
            </a:pPr>
            <a:r>
              <a:rPr sz="1700" spc="103" dirty="0">
                <a:solidFill>
                  <a:srgbClr val="232323"/>
                </a:solidFill>
                <a:latin typeface="Calibri" panose="020F0502020204030204"/>
                <a:cs typeface="Calibri" panose="020F0502020204030204"/>
              </a:rPr>
              <a:t>CARGA</a:t>
            </a:r>
            <a:r>
              <a:rPr sz="1700" spc="30" dirty="0">
                <a:solidFill>
                  <a:srgbClr val="23232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spc="100" dirty="0">
                <a:solidFill>
                  <a:srgbClr val="082A3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700" spc="49" dirty="0">
                <a:solidFill>
                  <a:srgbClr val="082A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spc="100" dirty="0">
                <a:solidFill>
                  <a:srgbClr val="1C1C1C"/>
                </a:solidFill>
                <a:latin typeface="Calibri" panose="020F0502020204030204"/>
                <a:cs typeface="Calibri" panose="020F0502020204030204"/>
              </a:rPr>
              <a:t>PRUEBA</a:t>
            </a:r>
            <a:r>
              <a:rPr sz="1700" spc="39" dirty="0">
                <a:solidFill>
                  <a:srgbClr val="1C1C1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spc="73" dirty="0">
                <a:solidFill>
                  <a:srgbClr val="002F4F"/>
                </a:solidFill>
                <a:latin typeface="Calibri" panose="020F0502020204030204"/>
                <a:cs typeface="Calibri" panose="020F0502020204030204"/>
              </a:rPr>
              <a:t>ACTIVA</a:t>
            </a:r>
            <a:endParaRPr sz="1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1409" y="2505576"/>
            <a:ext cx="5008920" cy="1053917"/>
          </a:xfrm>
          <a:prstGeom prst="rect">
            <a:avLst/>
          </a:prstGeom>
        </p:spPr>
        <p:txBody>
          <a:bodyPr vert="horz" wrap="square" lIns="0" tIns="184061" rIns="0" bIns="0" rtlCol="0">
            <a:spAutoFit/>
          </a:bodyPr>
          <a:lstStyle/>
          <a:p>
            <a:pPr marL="7620">
              <a:spcBef>
                <a:spcPts val="1450"/>
              </a:spcBef>
            </a:pPr>
            <a:r>
              <a:rPr sz="2030" spc="82" dirty="0">
                <a:solidFill>
                  <a:srgbClr val="0E2B44"/>
                </a:solidFill>
                <a:latin typeface="Calibri" panose="020F0502020204030204"/>
                <a:cs typeface="Calibri" panose="020F0502020204030204"/>
              </a:rPr>
              <a:t>Demostración</a:t>
            </a:r>
            <a:r>
              <a:rPr sz="2030" spc="73" dirty="0">
                <a:solidFill>
                  <a:srgbClr val="0E2B4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spc="91" dirty="0">
                <a:solidFill>
                  <a:srgbClr val="05344B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030" spc="-88" dirty="0">
                <a:solidFill>
                  <a:srgbClr val="05344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spc="100" dirty="0">
                <a:solidFill>
                  <a:srgbClr val="083142"/>
                </a:solidFill>
                <a:latin typeface="Calibri" panose="020F0502020204030204"/>
                <a:cs typeface="Calibri" panose="020F0502020204030204"/>
              </a:rPr>
              <a:t>Eficacia</a:t>
            </a:r>
            <a:endParaRPr sz="2030" dirty="0">
              <a:latin typeface="Calibri" panose="020F0502020204030204"/>
              <a:cs typeface="Calibri" panose="020F0502020204030204"/>
            </a:endParaRPr>
          </a:p>
          <a:p>
            <a:pPr marL="12700" marR="3175" indent="1270">
              <a:lnSpc>
                <a:spcPct val="108000"/>
              </a:lnSpc>
              <a:spcBef>
                <a:spcPts val="850"/>
              </a:spcBef>
            </a:pPr>
            <a:r>
              <a:rPr sz="1395" spc="3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395" spc="-139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5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compliance</a:t>
            </a:r>
            <a:r>
              <a:rPr sz="1395" spc="-9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2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395" spc="-127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395" spc="-118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presume;</a:t>
            </a:r>
            <a:r>
              <a:rPr sz="1395" spc="-5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395" spc="-118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7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demuestra</a:t>
            </a:r>
            <a:r>
              <a:rPr sz="1395" spc="-15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9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mediante</a:t>
            </a:r>
            <a:r>
              <a:rPr sz="1395" spc="-9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1" dirty="0" err="1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evidencias</a:t>
            </a:r>
            <a:r>
              <a:rPr sz="1395" spc="-24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 err="1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duras</a:t>
            </a:r>
            <a:r>
              <a:rPr lang="en-US" sz="1395" spc="-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395" spc="-30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indiscutibles</a:t>
            </a:r>
            <a:r>
              <a:rPr sz="1395" spc="3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3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ante</a:t>
            </a:r>
            <a:r>
              <a:rPr sz="1395" spc="-7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4F6782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95" spc="-118" dirty="0">
                <a:solidFill>
                  <a:srgbClr val="4F678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fiscalía</a:t>
            </a:r>
            <a:r>
              <a:rPr sz="1395" spc="-52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dominicana.</a:t>
            </a:r>
            <a:endParaRPr sz="139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3314" y="3661547"/>
            <a:ext cx="4995443" cy="113785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9525" marR="3175" indent="-1905">
              <a:lnSpc>
                <a:spcPct val="106000"/>
              </a:lnSpc>
              <a:spcBef>
                <a:spcPts val="75"/>
              </a:spcBef>
            </a:pPr>
            <a:r>
              <a:rPr sz="139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395" spc="164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Estándar</a:t>
            </a:r>
            <a:r>
              <a:rPr sz="1395" spc="-21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D4B59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97" dirty="0">
                <a:solidFill>
                  <a:srgbClr val="2D4B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Prueba</a:t>
            </a:r>
            <a:r>
              <a:rPr sz="1395" spc="-33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Exige:</a:t>
            </a:r>
            <a:r>
              <a:rPr sz="1395" spc="3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3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Informes </a:t>
            </a:r>
            <a:r>
              <a:rPr sz="1395" spc="-30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financieros</a:t>
            </a:r>
            <a:r>
              <a:rPr sz="1395" spc="-18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auditados,</a:t>
            </a:r>
            <a:r>
              <a:rPr sz="1395" spc="45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bitácoras </a:t>
            </a:r>
            <a:r>
              <a:rPr sz="1395" spc="-1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firmadas</a:t>
            </a:r>
            <a:r>
              <a:rPr sz="1395" spc="-79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103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7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capacitación</a:t>
            </a:r>
            <a:r>
              <a:rPr sz="1395" spc="-18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9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continua</a:t>
            </a:r>
            <a:r>
              <a:rPr sz="1395" spc="-18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67" dirty="0">
                <a:solidFill>
                  <a:srgbClr val="575D82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95" spc="-143" dirty="0">
                <a:solidFill>
                  <a:srgbClr val="575D8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directivos</a:t>
            </a:r>
            <a:r>
              <a:rPr sz="1395" spc="-49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42" dirty="0">
                <a:solidFill>
                  <a:srgbClr val="5B6E8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395" spc="-79" dirty="0">
                <a:solidFill>
                  <a:srgbClr val="5B6E8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empleados,</a:t>
            </a:r>
            <a:r>
              <a:rPr sz="1395" spc="-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2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logs </a:t>
            </a:r>
            <a:r>
              <a:rPr sz="1395" spc="-39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inmutables</a:t>
            </a:r>
            <a:r>
              <a:rPr sz="139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2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del</a:t>
            </a:r>
            <a:r>
              <a:rPr sz="1395" spc="-94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4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canal</a:t>
            </a:r>
            <a:r>
              <a:rPr sz="1395" spc="-67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103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6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denuncias</a:t>
            </a:r>
            <a:r>
              <a:rPr sz="1395" spc="-27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42" dirty="0">
                <a:solidFill>
                  <a:srgbClr val="647087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395" spc="-82" dirty="0">
                <a:solidFill>
                  <a:srgbClr val="64708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registros</a:t>
            </a:r>
            <a:r>
              <a:rPr sz="1395" spc="-7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4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detallados</a:t>
            </a:r>
            <a:r>
              <a:rPr sz="1395" spc="-5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10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las</a:t>
            </a:r>
            <a:r>
              <a:rPr sz="1395" spc="-14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medidas </a:t>
            </a:r>
            <a:r>
              <a:rPr sz="1395" spc="-18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disciplinarias</a:t>
            </a:r>
            <a:r>
              <a:rPr sz="1395" spc="-17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1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aplicadas</a:t>
            </a:r>
            <a:r>
              <a:rPr sz="1395" spc="-33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10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4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forma</a:t>
            </a:r>
            <a:r>
              <a:rPr sz="1395" spc="-58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9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consistente</a:t>
            </a:r>
            <a:r>
              <a:rPr sz="1395" spc="42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3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ante</a:t>
            </a:r>
            <a:r>
              <a:rPr sz="1395" spc="-73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7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infracciones</a:t>
            </a:r>
            <a:r>
              <a:rPr sz="1395" spc="-21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internas </a:t>
            </a:r>
            <a:r>
              <a:rPr sz="1395" spc="-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previas.</a:t>
            </a:r>
            <a:endParaRPr sz="1395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7197" y="2409656"/>
            <a:ext cx="2828726" cy="28382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85820" y="492125"/>
            <a:ext cx="4624070" cy="450850"/>
          </a:xfrm>
          <a:prstGeom prst="rect">
            <a:avLst/>
          </a:prstGeom>
        </p:spPr>
        <p:txBody>
          <a:bodyPr vert="horz" wrap="square" lIns="0" tIns="8856" rIns="0" bIns="0" rtlCol="0" anchor="ctr">
            <a:spAutoFit/>
          </a:bodyPr>
          <a:lstStyle/>
          <a:p>
            <a:pPr marL="207645">
              <a:lnSpc>
                <a:spcPct val="100000"/>
              </a:lnSpc>
              <a:spcBef>
                <a:spcPts val="70"/>
              </a:spcBef>
            </a:pPr>
            <a:r>
              <a:rPr sz="2880" spc="97" dirty="0">
                <a:solidFill>
                  <a:srgbClr val="082D3F"/>
                </a:solidFill>
                <a:latin typeface="Calibri" panose="020F0502020204030204"/>
                <a:cs typeface="Calibri" panose="020F0502020204030204"/>
              </a:rPr>
              <a:t>DEMOSTRAR</a:t>
            </a:r>
            <a:r>
              <a:rPr sz="2880" spc="300" dirty="0">
                <a:solidFill>
                  <a:srgbClr val="082D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80" spc="203" dirty="0">
                <a:solidFill>
                  <a:srgbClr val="0C3142"/>
                </a:solidFill>
                <a:latin typeface="Calibri" panose="020F0502020204030204"/>
                <a:cs typeface="Calibri" panose="020F0502020204030204"/>
              </a:rPr>
              <a:t>PARA</a:t>
            </a:r>
            <a:r>
              <a:rPr sz="2880" spc="-6" dirty="0">
                <a:solidFill>
                  <a:srgbClr val="0C314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80" spc="88" dirty="0">
                <a:solidFill>
                  <a:srgbClr val="0A2D3B"/>
                </a:solidFill>
                <a:latin typeface="Calibri" panose="020F0502020204030204"/>
                <a:cs typeface="Calibri" panose="020F0502020204030204"/>
              </a:rPr>
              <a:t>EXIMIR</a:t>
            </a:r>
            <a:endParaRPr sz="288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575389" y="1260096"/>
            <a:ext cx="11042056" cy="5304015"/>
          </a:xfrm>
          <a:prstGeom prst="rect">
            <a:avLst/>
          </a:prstGeom>
        </p:spPr>
        <p:txBody>
          <a:bodyPr vert="horz" wrap="square" lIns="0" tIns="163638" rIns="0" bIns="0" rtlCol="0">
            <a:spAutoFit/>
          </a:bodyPr>
          <a:lstStyle/>
          <a:p>
            <a:pPr marL="4696460" indent="0">
              <a:lnSpc>
                <a:spcPct val="100000"/>
              </a:lnSpc>
              <a:spcBef>
                <a:spcPts val="65"/>
              </a:spcBef>
              <a:buNone/>
            </a:pPr>
            <a:r>
              <a:rPr sz="3200" spc="42" dirty="0">
                <a:solidFill>
                  <a:srgbClr val="0A2F3F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3200" spc="91" dirty="0">
                <a:solidFill>
                  <a:srgbClr val="0A2F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176" dirty="0">
                <a:solidFill>
                  <a:srgbClr val="052F42"/>
                </a:solidFill>
                <a:latin typeface="Calibri" panose="020F0502020204030204"/>
                <a:cs typeface="Calibri" panose="020F0502020204030204"/>
              </a:rPr>
              <a:t>Eximente</a:t>
            </a:r>
            <a:r>
              <a:rPr sz="3200" spc="-52" dirty="0">
                <a:solidFill>
                  <a:srgbClr val="052F4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188" dirty="0">
                <a:solidFill>
                  <a:srgbClr val="082F3A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3200" spc="-3" dirty="0">
                <a:solidFill>
                  <a:srgbClr val="082F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263" dirty="0">
                <a:solidFill>
                  <a:srgbClr val="082D46"/>
                </a:solidFill>
                <a:latin typeface="Calibri" panose="020F0502020204030204"/>
                <a:cs typeface="Calibri" panose="020F0502020204030204"/>
              </a:rPr>
              <a:t>Culpa</a:t>
            </a:r>
            <a:endParaRPr sz="3200" dirty="0">
              <a:latin typeface="Calibri" panose="020F0502020204030204"/>
              <a:cs typeface="Calibri" panose="020F0502020204030204"/>
            </a:endParaRPr>
          </a:p>
          <a:p>
            <a:pPr marL="4926965" marR="301625" indent="2540" algn="just">
              <a:lnSpc>
                <a:spcPct val="108000"/>
              </a:lnSpc>
              <a:spcBef>
                <a:spcPts val="895"/>
              </a:spcBef>
            </a:pPr>
            <a:r>
              <a:rPr sz="2400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Para</a:t>
            </a:r>
            <a:r>
              <a:rPr sz="2400" spc="-67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eximir</a:t>
            </a:r>
            <a:r>
              <a:rPr sz="2400" spc="-21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12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4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responsabilidad</a:t>
            </a:r>
            <a:r>
              <a:rPr sz="2400" spc="-69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penal</a:t>
            </a:r>
            <a:r>
              <a:rPr sz="2400" spc="-5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400" spc="-5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73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persona</a:t>
            </a:r>
            <a:r>
              <a:rPr sz="2400" spc="12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jurídica</a:t>
            </a:r>
            <a:r>
              <a:rPr sz="2400" spc="-27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8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bajo</a:t>
            </a:r>
            <a:r>
              <a:rPr sz="2400" spc="-12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400" spc="-124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nuevo </a:t>
            </a:r>
            <a:r>
              <a:rPr sz="2400" spc="-3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código,</a:t>
            </a:r>
            <a:r>
              <a:rPr sz="2400" spc="-12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67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empresa</a:t>
            </a:r>
            <a:r>
              <a:rPr sz="2400" spc="-61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debe</a:t>
            </a:r>
            <a:r>
              <a:rPr sz="2400" spc="-73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asumir</a:t>
            </a:r>
            <a:r>
              <a:rPr sz="2400" spc="42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64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carga</a:t>
            </a:r>
            <a:r>
              <a:rPr sz="2400" spc="-94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82828"/>
                </a:solidFill>
                <a:latin typeface="Calibri" panose="020F0502020204030204"/>
                <a:cs typeface="Calibri" panose="020F0502020204030204"/>
              </a:rPr>
              <a:t>probatoria.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926965" marR="3175" indent="1270" algn="just">
              <a:lnSpc>
                <a:spcPct val="108000"/>
              </a:lnSpc>
              <a:spcBef>
                <a:spcPts val="825"/>
              </a:spcBef>
            </a:pPr>
            <a:r>
              <a:rPr sz="2400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400" spc="-118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debe</a:t>
            </a:r>
            <a:r>
              <a:rPr sz="2400" spc="-69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demostrar</a:t>
            </a:r>
            <a:r>
              <a:rPr sz="2400" spc="55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fehacientemente</a:t>
            </a:r>
            <a:r>
              <a:rPr sz="2400" spc="-100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ante</a:t>
            </a:r>
            <a:r>
              <a:rPr sz="2400" spc="-79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400" spc="-69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tribunal</a:t>
            </a:r>
            <a:r>
              <a:rPr sz="2400" spc="-30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7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que</a:t>
            </a:r>
            <a:r>
              <a:rPr sz="2400" spc="-85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400" spc="-11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7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órgano</a:t>
            </a:r>
            <a:r>
              <a:rPr sz="2400" spc="-10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677982"/>
                </a:solidFill>
                <a:latin typeface="Calibri" panose="020F0502020204030204"/>
                <a:cs typeface="Calibri" panose="020F0502020204030204"/>
              </a:rPr>
              <a:t>de </a:t>
            </a:r>
            <a:r>
              <a:rPr sz="2400" spc="-24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administración</a:t>
            </a:r>
            <a:r>
              <a:rPr sz="2400" spc="-149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adoptó</a:t>
            </a:r>
            <a:r>
              <a:rPr sz="2400" spc="-73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4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400" spc="-79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6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ejecutó</a:t>
            </a:r>
            <a:r>
              <a:rPr sz="2400" spc="-97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0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7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manera</a:t>
            </a:r>
            <a:r>
              <a:rPr sz="2400" spc="-18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B4152"/>
                </a:solidFill>
                <a:latin typeface="Calibri" panose="020F0502020204030204"/>
                <a:cs typeface="Calibri" panose="020F0502020204030204"/>
              </a:rPr>
              <a:t>eficaz</a:t>
            </a:r>
            <a:r>
              <a:rPr sz="2400" spc="-52" dirty="0">
                <a:solidFill>
                  <a:srgbClr val="2B415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un</a:t>
            </a:r>
            <a:r>
              <a:rPr sz="2400" spc="-136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9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modelo</a:t>
            </a:r>
            <a:r>
              <a:rPr sz="2400" spc="-5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109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prevención </a:t>
            </a:r>
            <a:r>
              <a:rPr sz="2400" spc="-4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idóneo</a:t>
            </a:r>
            <a:r>
              <a:rPr sz="2400" spc="-79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antes</a:t>
            </a:r>
            <a:r>
              <a:rPr sz="2400" spc="-91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14141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64" dirty="0">
                <a:solidFill>
                  <a:srgbClr val="4141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3" dirty="0">
                <a:solidFill>
                  <a:srgbClr val="3A6080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58" dirty="0">
                <a:solidFill>
                  <a:srgbClr val="3A608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comisión </a:t>
            </a:r>
            <a:r>
              <a:rPr sz="2400" spc="-1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del</a:t>
            </a:r>
            <a:r>
              <a:rPr sz="2400" spc="-94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delito.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4926330" marR="52705" indent="2540" algn="just">
              <a:lnSpc>
                <a:spcPct val="103000"/>
              </a:lnSpc>
              <a:spcBef>
                <a:spcPts val="975"/>
              </a:spcBef>
            </a:pPr>
            <a:r>
              <a:rPr sz="2400" spc="4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400" spc="-10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7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mera</a:t>
            </a:r>
            <a:r>
              <a:rPr sz="2400" spc="-58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7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existencia</a:t>
            </a:r>
            <a:r>
              <a:rPr sz="2400" spc="-12" dirty="0">
                <a:solidFill>
                  <a:srgbClr val="2A2A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del</a:t>
            </a:r>
            <a:r>
              <a:rPr sz="2400" spc="-109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programa</a:t>
            </a:r>
            <a:r>
              <a:rPr sz="2400" spc="21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414141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400" spc="-152" dirty="0">
                <a:solidFill>
                  <a:srgbClr val="4141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papel</a:t>
            </a:r>
            <a:r>
              <a:rPr sz="2400" spc="-69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400" spc="-14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400" spc="-143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6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suficiente;</a:t>
            </a:r>
            <a:r>
              <a:rPr sz="2400" spc="-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requiere </a:t>
            </a:r>
            <a:r>
              <a:rPr sz="2400" spc="-18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evidencia</a:t>
            </a:r>
            <a:r>
              <a:rPr sz="2400" spc="-1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1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auditable</a:t>
            </a:r>
            <a:r>
              <a:rPr sz="2400" spc="-4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400" spc="-97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36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supervisión</a:t>
            </a:r>
            <a:r>
              <a:rPr sz="2400" spc="-61" dirty="0">
                <a:solidFill>
                  <a:srgbClr val="2B2B2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5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autónoma</a:t>
            </a:r>
            <a:r>
              <a:rPr sz="2400" spc="52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42" dirty="0">
                <a:solidFill>
                  <a:srgbClr val="526275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400" spc="-85" dirty="0">
                <a:solidFill>
                  <a:srgbClr val="52627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monitoreo</a:t>
            </a:r>
            <a:r>
              <a:rPr sz="2400" spc="-18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24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proactivo</a:t>
            </a:r>
            <a:r>
              <a:rPr sz="2400" spc="-73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6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diario.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49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6035" y="218313"/>
            <a:ext cx="9177020" cy="61341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002D52"/>
                </a:solidFill>
                <a:latin typeface="Georgia" panose="02040502050405020303"/>
              </a:defRPr>
            </a:pPr>
            <a:r>
              <a:rPr dirty="0"/>
              <a:t>RUTA CRÍTICA DE ADECUACIÓN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60604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423160" cy="2103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5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Fase 1: Diagnóstico</a:t>
            </a:r>
          </a:p>
          <a:p>
            <a:pPr algn="l">
              <a:spcAft>
                <a:spcPts val="1000"/>
              </a:spcAft>
              <a:defRPr sz="13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Auditoría legal profunda de riesgos operativos de la organización.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011680"/>
            <a:ext cx="260604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20440" y="2194560"/>
            <a:ext cx="548640" cy="548640"/>
          </a:xfrm>
          <a:prstGeom prst="ellipse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26080"/>
            <a:ext cx="2423160" cy="2103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5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Fase 2: Rediseño</a:t>
            </a:r>
          </a:p>
          <a:p>
            <a:pPr algn="l">
              <a:spcAft>
                <a:spcPts val="1000"/>
              </a:spcAft>
              <a:defRPr sz="13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Actualización integral de matrices de riesgos y políticas.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011680"/>
            <a:ext cx="260604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59" y="2194560"/>
            <a:ext cx="548640" cy="548640"/>
          </a:xfrm>
          <a:prstGeom prst="ellipse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19" y="2926080"/>
            <a:ext cx="2423160" cy="2103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5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Fase 3: Ejecución</a:t>
            </a:r>
          </a:p>
          <a:p>
            <a:pPr algn="l">
              <a:spcAft>
                <a:spcPts val="1000"/>
              </a:spcAft>
              <a:defRPr sz="13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Capacitaciones evaluadas con canales internos de denuncia.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399" y="2011680"/>
            <a:ext cx="260604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98279" y="2194560"/>
            <a:ext cx="548640" cy="548640"/>
          </a:xfrm>
          <a:prstGeom prst="ellipse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39" y="2926080"/>
            <a:ext cx="2423160" cy="2103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000"/>
              </a:spcAft>
              <a:defRPr sz="1500" b="1" i="0">
                <a:solidFill>
                  <a:srgbClr val="002D52"/>
                </a:solidFill>
                <a:latin typeface="Arial" panose="020B0604020202020204"/>
              </a:defRPr>
            </a:pPr>
            <a:r>
              <a:t>Fase 4: Auditoría</a:t>
            </a:r>
          </a:p>
          <a:p>
            <a:pPr algn="l">
              <a:spcAft>
                <a:spcPts val="1000"/>
              </a:spcAft>
              <a:defRPr sz="1300" b="0" i="0">
                <a:solidFill>
                  <a:srgbClr val="4A5568"/>
                </a:solidFill>
                <a:latin typeface="Arial" panose="020B0604020202020204"/>
              </a:defRPr>
            </a:pPr>
            <a:r>
              <a:t>Monitoreo continuo y revisiones independientes de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spcAft>
                <a:spcPts val="1000"/>
              </a:spcAft>
              <a:defRPr sz="1400" b="1" i="1">
                <a:solidFill>
                  <a:srgbClr val="FFFFFF"/>
                </a:solidFill>
                <a:latin typeface="Arial" panose="020B0604020202020204"/>
              </a:defRPr>
            </a:pPr>
            <a:r>
              <a:t>El cumplimiento eficaz ya no representa un centro de costos, sino el escudo estratégico indispensable para la continuidad legal y supervivencia de su marca.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0942" y="2390607"/>
            <a:ext cx="3452874" cy="52754"/>
            <a:chOff x="1138708" y="3942288"/>
            <a:chExt cx="5694045" cy="86995"/>
          </a:xfrm>
        </p:grpSpPr>
        <p:sp>
          <p:nvSpPr>
            <p:cNvPr id="3" name="object 3"/>
            <p:cNvSpPr/>
            <p:nvPr/>
          </p:nvSpPr>
          <p:spPr>
            <a:xfrm>
              <a:off x="1138708" y="4016893"/>
              <a:ext cx="5694045" cy="0"/>
            </a:xfrm>
            <a:custGeom>
              <a:avLst/>
              <a:gdLst/>
              <a:ahLst/>
              <a:cxnLst/>
              <a:rect l="l" t="t" r="r" b="b"/>
              <a:pathLst>
                <a:path w="5694045">
                  <a:moveTo>
                    <a:pt x="0" y="0"/>
                  </a:moveTo>
                  <a:lnTo>
                    <a:pt x="5693544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4" name="object 4"/>
            <p:cNvSpPr/>
            <p:nvPr/>
          </p:nvSpPr>
          <p:spPr>
            <a:xfrm>
              <a:off x="1154415" y="3954068"/>
              <a:ext cx="5662295" cy="0"/>
            </a:xfrm>
            <a:custGeom>
              <a:avLst/>
              <a:gdLst/>
              <a:ahLst/>
              <a:cxnLst/>
              <a:rect l="l" t="t" r="r" b="b"/>
              <a:pathLst>
                <a:path w="5662295">
                  <a:moveTo>
                    <a:pt x="0" y="0"/>
                  </a:moveTo>
                  <a:lnTo>
                    <a:pt x="5662131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386382" y="2385845"/>
            <a:ext cx="3462116" cy="47748"/>
            <a:chOff x="7232763" y="3934435"/>
            <a:chExt cx="5709285" cy="78740"/>
          </a:xfrm>
        </p:grpSpPr>
        <p:sp>
          <p:nvSpPr>
            <p:cNvPr id="6" name="object 6"/>
            <p:cNvSpPr/>
            <p:nvPr/>
          </p:nvSpPr>
          <p:spPr>
            <a:xfrm>
              <a:off x="7232763" y="4001186"/>
              <a:ext cx="5709285" cy="0"/>
            </a:xfrm>
            <a:custGeom>
              <a:avLst/>
              <a:gdLst/>
              <a:ahLst/>
              <a:cxnLst/>
              <a:rect l="l" t="t" r="r" b="b"/>
              <a:pathLst>
                <a:path w="5709284">
                  <a:moveTo>
                    <a:pt x="0" y="0"/>
                  </a:moveTo>
                  <a:lnTo>
                    <a:pt x="5709250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7" name="object 7"/>
            <p:cNvSpPr/>
            <p:nvPr/>
          </p:nvSpPr>
          <p:spPr>
            <a:xfrm>
              <a:off x="7256323" y="3946214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091347" y="2385845"/>
            <a:ext cx="3452874" cy="57375"/>
            <a:chOff x="13342525" y="3934435"/>
            <a:chExt cx="5694045" cy="94615"/>
          </a:xfrm>
        </p:grpSpPr>
        <p:sp>
          <p:nvSpPr>
            <p:cNvPr id="9" name="object 9"/>
            <p:cNvSpPr/>
            <p:nvPr/>
          </p:nvSpPr>
          <p:spPr>
            <a:xfrm>
              <a:off x="13342525" y="4016893"/>
              <a:ext cx="5694045" cy="0"/>
            </a:xfrm>
            <a:custGeom>
              <a:avLst/>
              <a:gdLst/>
              <a:ahLst/>
              <a:cxnLst/>
              <a:rect l="l" t="t" r="r" b="b"/>
              <a:pathLst>
                <a:path w="5694044">
                  <a:moveTo>
                    <a:pt x="0" y="0"/>
                  </a:moveTo>
                  <a:lnTo>
                    <a:pt x="5693544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350378" y="3977627"/>
              <a:ext cx="5670550" cy="0"/>
            </a:xfrm>
            <a:custGeom>
              <a:avLst/>
              <a:gdLst/>
              <a:ahLst/>
              <a:cxnLst/>
              <a:rect l="l" t="t" r="r" b="b"/>
              <a:pathLst>
                <a:path w="5670550">
                  <a:moveTo>
                    <a:pt x="0" y="0"/>
                  </a:moveTo>
                  <a:lnTo>
                    <a:pt x="5669984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3373937" y="3946214"/>
              <a:ext cx="5622925" cy="0"/>
            </a:xfrm>
            <a:custGeom>
              <a:avLst/>
              <a:gdLst/>
              <a:ahLst/>
              <a:cxnLst/>
              <a:rect l="l" t="t" r="r" b="b"/>
              <a:pathLst>
                <a:path w="5622925">
                  <a:moveTo>
                    <a:pt x="0" y="0"/>
                  </a:moveTo>
                  <a:lnTo>
                    <a:pt x="5622865" y="0"/>
                  </a:lnTo>
                </a:path>
              </a:pathLst>
            </a:custGeom>
            <a:ln w="23559">
              <a:solidFill>
                <a:srgbClr val="0C2B38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517218" y="403931"/>
            <a:ext cx="6376669" cy="438785"/>
          </a:xfrm>
          <a:prstGeom prst="rect">
            <a:avLst/>
          </a:prstGeom>
        </p:spPr>
        <p:txBody>
          <a:bodyPr vert="horz" wrap="square" lIns="0" tIns="10397" rIns="0" bIns="0" rtlCol="0" anchor="ctr">
            <a:spAutoFit/>
          </a:bodyPr>
          <a:lstStyle/>
          <a:p>
            <a:pPr marL="212090">
              <a:lnSpc>
                <a:spcPct val="100000"/>
              </a:lnSpc>
              <a:spcBef>
                <a:spcPts val="80"/>
              </a:spcBef>
            </a:pPr>
            <a:r>
              <a:rPr sz="2790" spc="188" dirty="0">
                <a:solidFill>
                  <a:srgbClr val="082A36"/>
                </a:solidFill>
                <a:latin typeface="Calibri" panose="020F0502020204030204"/>
                <a:cs typeface="Calibri" panose="020F0502020204030204"/>
              </a:rPr>
              <a:t>CONCLUSIONES</a:t>
            </a:r>
            <a:r>
              <a:rPr sz="2790" spc="367" dirty="0">
                <a:solidFill>
                  <a:srgbClr val="082A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790" spc="248" dirty="0">
                <a:solidFill>
                  <a:srgbClr val="052A36"/>
                </a:solidFill>
                <a:latin typeface="Calibri" panose="020F0502020204030204"/>
                <a:cs typeface="Calibri" panose="020F0502020204030204"/>
              </a:rPr>
              <a:t>CLAVE</a:t>
            </a:r>
            <a:r>
              <a:rPr lang="en-US" sz="2790" spc="248" dirty="0">
                <a:solidFill>
                  <a:srgbClr val="052A36"/>
                </a:solidFill>
                <a:latin typeface="Calibri" panose="020F0502020204030204"/>
                <a:cs typeface="Calibri" panose="020F0502020204030204"/>
              </a:rPr>
              <a:t>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7705" y="3272637"/>
            <a:ext cx="2758218" cy="1335512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30" spc="103" dirty="0">
                <a:solidFill>
                  <a:srgbClr val="072F46"/>
                </a:solidFill>
                <a:latin typeface="Calibri" panose="020F0502020204030204"/>
                <a:cs typeface="Calibri" panose="020F0502020204030204"/>
              </a:rPr>
              <a:t>Cultura</a:t>
            </a:r>
            <a:r>
              <a:rPr sz="2030" spc="-61" dirty="0">
                <a:solidFill>
                  <a:srgbClr val="072F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spc="85" dirty="0">
                <a:solidFill>
                  <a:srgbClr val="00283F"/>
                </a:solidFill>
                <a:latin typeface="Calibri" panose="020F0502020204030204"/>
                <a:cs typeface="Calibri" panose="020F0502020204030204"/>
              </a:rPr>
              <a:t>vs.</a:t>
            </a:r>
            <a:r>
              <a:rPr sz="2030" spc="-218" dirty="0">
                <a:solidFill>
                  <a:srgbClr val="0028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spc="100" dirty="0">
                <a:solidFill>
                  <a:srgbClr val="082B3A"/>
                </a:solidFill>
                <a:latin typeface="Calibri" panose="020F0502020204030204"/>
                <a:cs typeface="Calibri" panose="020F0502020204030204"/>
              </a:rPr>
              <a:t>Papel</a:t>
            </a:r>
            <a:endParaRPr sz="2030">
              <a:latin typeface="Calibri" panose="020F0502020204030204"/>
              <a:cs typeface="Calibri" panose="020F0502020204030204"/>
            </a:endParaRPr>
          </a:p>
          <a:p>
            <a:pPr marL="12065" marR="3175" indent="3175">
              <a:lnSpc>
                <a:spcPct val="111000"/>
              </a:lnSpc>
              <a:spcBef>
                <a:spcPts val="860"/>
              </a:spcBef>
            </a:pPr>
            <a:r>
              <a:rPr sz="1335" spc="33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Los</a:t>
            </a:r>
            <a:r>
              <a:rPr sz="1335" spc="-103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manuales</a:t>
            </a:r>
            <a:r>
              <a:rPr sz="1335" spc="3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estáticos</a:t>
            </a:r>
            <a:r>
              <a:rPr sz="1335" spc="-55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archivados</a:t>
            </a:r>
            <a:r>
              <a:rPr sz="1335" spc="-15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1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no </a:t>
            </a:r>
            <a:r>
              <a:rPr sz="133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salvan</a:t>
            </a:r>
            <a:r>
              <a:rPr sz="1335" spc="-5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empresas</a:t>
            </a:r>
            <a:r>
              <a:rPr sz="1335" spc="-39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335" spc="-11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un</a:t>
            </a:r>
            <a:r>
              <a:rPr sz="1335" spc="-94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18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juicio.</a:t>
            </a:r>
            <a:r>
              <a:rPr sz="1335" spc="-9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Solo</a:t>
            </a:r>
            <a:r>
              <a:rPr sz="1335" spc="-100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1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una </a:t>
            </a:r>
            <a:r>
              <a:rPr sz="133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cultura</a:t>
            </a:r>
            <a:r>
              <a:rPr sz="1335" spc="33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ética</a:t>
            </a:r>
            <a:r>
              <a:rPr sz="1335" spc="-3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viva,</a:t>
            </a:r>
            <a:r>
              <a:rPr sz="1335" spc="27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activa</a:t>
            </a:r>
            <a:r>
              <a:rPr sz="1335" spc="1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52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335" spc="-42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internalizada </a:t>
            </a:r>
            <a:r>
              <a:rPr sz="1335" spc="-6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por</a:t>
            </a:r>
            <a:r>
              <a:rPr sz="1335" spc="-3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727E93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335" spc="-91" dirty="0">
                <a:solidFill>
                  <a:srgbClr val="727E9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personal</a:t>
            </a:r>
            <a:r>
              <a:rPr sz="1335" spc="24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sirve</a:t>
            </a:r>
            <a:r>
              <a:rPr sz="1335" spc="-4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15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como</a:t>
            </a:r>
            <a:r>
              <a:rPr sz="1335" spc="-73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defensa</a:t>
            </a:r>
            <a:r>
              <a:rPr sz="1335" spc="-21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35" spc="-6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real.</a:t>
            </a:r>
            <a:endParaRPr sz="13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9651" y="3124216"/>
            <a:ext cx="2795954" cy="1709770"/>
          </a:xfrm>
          <a:prstGeom prst="rect">
            <a:avLst/>
          </a:prstGeom>
        </p:spPr>
        <p:txBody>
          <a:bodyPr vert="horz" wrap="square" lIns="0" tIns="175204" rIns="0" bIns="0" rtlCol="0">
            <a:spAutoFit/>
          </a:bodyPr>
          <a:lstStyle/>
          <a:p>
            <a:pPr marL="7620">
              <a:spcBef>
                <a:spcPts val="1380"/>
              </a:spcBef>
            </a:pPr>
            <a:r>
              <a:rPr sz="1880" spc="130" dirty="0">
                <a:solidFill>
                  <a:srgbClr val="113D46"/>
                </a:solidFill>
                <a:latin typeface="Calibri" panose="020F0502020204030204"/>
                <a:cs typeface="Calibri" panose="020F0502020204030204"/>
              </a:rPr>
              <a:t>Evidenciar</a:t>
            </a:r>
            <a:r>
              <a:rPr sz="1880" spc="69" dirty="0">
                <a:solidFill>
                  <a:srgbClr val="113D4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80" spc="112" dirty="0">
                <a:solidFill>
                  <a:srgbClr val="0C2B42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880" spc="94" dirty="0">
                <a:solidFill>
                  <a:srgbClr val="0C2B42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80" spc="158" dirty="0">
                <a:solidFill>
                  <a:srgbClr val="083649"/>
                </a:solidFill>
                <a:latin typeface="Calibri" panose="020F0502020204030204"/>
                <a:cs typeface="Calibri" panose="020F0502020204030204"/>
              </a:rPr>
              <a:t>Eficacia</a:t>
            </a:r>
            <a:endParaRPr sz="1880">
              <a:latin typeface="Calibri" panose="020F0502020204030204"/>
              <a:cs typeface="Calibri" panose="020F0502020204030204"/>
            </a:endParaRPr>
          </a:p>
          <a:p>
            <a:pPr marL="9525" marR="3175" indent="635">
              <a:lnSpc>
                <a:spcPct val="106000"/>
              </a:lnSpc>
              <a:spcBef>
                <a:spcPts val="895"/>
              </a:spcBef>
            </a:pPr>
            <a:r>
              <a:rPr sz="1395" spc="-1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Ante</a:t>
            </a:r>
            <a:r>
              <a:rPr sz="1395" spc="-8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95" spc="-130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fiscalía,</a:t>
            </a:r>
            <a:r>
              <a:rPr sz="1395" spc="12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95" spc="-121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3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buena</a:t>
            </a:r>
            <a:r>
              <a:rPr sz="1395" spc="-73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fe</a:t>
            </a:r>
            <a:r>
              <a:rPr sz="1395" spc="-124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395" spc="-139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basta.</a:t>
            </a:r>
            <a:r>
              <a:rPr sz="1395" spc="-36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4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La </a:t>
            </a:r>
            <a:r>
              <a:rPr sz="139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carga</a:t>
            </a:r>
            <a:r>
              <a:rPr sz="1395" spc="-76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97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95" spc="-118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4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prueba</a:t>
            </a:r>
            <a:r>
              <a:rPr sz="1395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recae</a:t>
            </a:r>
            <a:r>
              <a:rPr sz="1395" spc="-67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1" dirty="0">
                <a:solidFill>
                  <a:srgbClr val="414141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1395" spc="-91" dirty="0">
                <a:solidFill>
                  <a:srgbClr val="41414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5" dirty="0">
                <a:solidFill>
                  <a:srgbClr val="3D3D3D"/>
                </a:solidFill>
                <a:latin typeface="Calibri" panose="020F0502020204030204"/>
                <a:cs typeface="Calibri" panose="020F0502020204030204"/>
              </a:rPr>
              <a:t>la </a:t>
            </a:r>
            <a:r>
              <a:rPr sz="1395" spc="-30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organización;</a:t>
            </a:r>
            <a:r>
              <a:rPr sz="1395" spc="-15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1395" spc="-121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0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obligatorio</a:t>
            </a:r>
            <a:r>
              <a:rPr sz="1395" spc="-27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1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documentar </a:t>
            </a:r>
            <a:r>
              <a:rPr sz="1395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100" dirty="0">
                <a:solidFill>
                  <a:srgbClr val="31313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1" dirty="0">
                <a:solidFill>
                  <a:srgbClr val="284459"/>
                </a:solidFill>
                <a:latin typeface="Calibri" panose="020F0502020204030204"/>
                <a:cs typeface="Calibri" panose="020F0502020204030204"/>
              </a:rPr>
              <a:t>forma</a:t>
            </a:r>
            <a:r>
              <a:rPr sz="1395" spc="-39" dirty="0">
                <a:solidFill>
                  <a:srgbClr val="2844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5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inmutable</a:t>
            </a:r>
            <a:r>
              <a:rPr sz="1395" dirty="0">
                <a:solidFill>
                  <a:srgbClr val="3F3F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cada</a:t>
            </a:r>
            <a:r>
              <a:rPr sz="1395" spc="-82" dirty="0">
                <a:solidFill>
                  <a:srgbClr val="2F2F2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control </a:t>
            </a:r>
            <a:r>
              <a:rPr sz="139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ejecutado.</a:t>
            </a:r>
            <a:endParaRPr sz="139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37193" y="3096084"/>
            <a:ext cx="2837926" cy="1514364"/>
          </a:xfrm>
          <a:prstGeom prst="rect">
            <a:avLst/>
          </a:prstGeom>
        </p:spPr>
        <p:txBody>
          <a:bodyPr vert="horz" wrap="square" lIns="0" tIns="184061" rIns="0" bIns="0" rtlCol="0">
            <a:spAutoFit/>
          </a:bodyPr>
          <a:lstStyle/>
          <a:p>
            <a:pPr marL="11430">
              <a:spcBef>
                <a:spcPts val="1450"/>
              </a:spcBef>
            </a:pPr>
            <a:r>
              <a:rPr sz="2030" spc="69" dirty="0">
                <a:solidFill>
                  <a:srgbClr val="0C364F"/>
                </a:solidFill>
                <a:latin typeface="Calibri" panose="020F0502020204030204"/>
                <a:cs typeface="Calibri" panose="020F0502020204030204"/>
              </a:rPr>
              <a:t>Sostenibilidad</a:t>
            </a:r>
            <a:r>
              <a:rPr sz="2030" spc="-130" dirty="0">
                <a:solidFill>
                  <a:srgbClr val="0C364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30" spc="94" dirty="0">
                <a:solidFill>
                  <a:srgbClr val="032A3D"/>
                </a:solidFill>
                <a:latin typeface="Calibri" panose="020F0502020204030204"/>
                <a:cs typeface="Calibri" panose="020F0502020204030204"/>
              </a:rPr>
              <a:t>Activa</a:t>
            </a:r>
            <a:endParaRPr sz="2030">
              <a:latin typeface="Calibri" panose="020F0502020204030204"/>
              <a:cs typeface="Calibri" panose="020F0502020204030204"/>
            </a:endParaRPr>
          </a:p>
          <a:p>
            <a:pPr marL="7620" marR="3175" indent="2540">
              <a:lnSpc>
                <a:spcPct val="106000"/>
              </a:lnSpc>
              <a:spcBef>
                <a:spcPts val="875"/>
              </a:spcBef>
            </a:pPr>
            <a:r>
              <a:rPr sz="1395" spc="3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395" spc="-13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compliance</a:t>
            </a:r>
            <a:r>
              <a:rPr sz="139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8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efectivo</a:t>
            </a:r>
            <a:r>
              <a:rPr sz="1395" spc="-69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4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ya</a:t>
            </a:r>
            <a:r>
              <a:rPr sz="1395" spc="-121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395" spc="-133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1395" spc="-143" dirty="0">
                <a:solidFill>
                  <a:srgbClr val="3B3B3B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2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un</a:t>
            </a:r>
            <a:r>
              <a:rPr sz="1395" spc="-127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centro </a:t>
            </a:r>
            <a:r>
              <a:rPr sz="139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100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6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costos</a:t>
            </a:r>
            <a:r>
              <a:rPr sz="1395" spc="-88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5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opcional,</a:t>
            </a:r>
            <a:r>
              <a:rPr sz="1395" spc="12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sino</a:t>
            </a:r>
            <a:r>
              <a:rPr sz="1395" spc="-121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1395" spc="-11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262626"/>
                </a:solidFill>
                <a:latin typeface="Calibri" panose="020F0502020204030204"/>
                <a:cs typeface="Calibri" panose="020F0502020204030204"/>
              </a:rPr>
              <a:t>escudo </a:t>
            </a:r>
            <a:r>
              <a:rPr sz="1395" spc="-21" dirty="0">
                <a:solidFill>
                  <a:srgbClr val="242424"/>
                </a:solidFill>
                <a:latin typeface="Calibri" panose="020F0502020204030204"/>
                <a:cs typeface="Calibri" panose="020F0502020204030204"/>
              </a:rPr>
              <a:t>estratégico</a:t>
            </a:r>
            <a:r>
              <a:rPr sz="1395" spc="-61" dirty="0">
                <a:solidFill>
                  <a:srgbClr val="24242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3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indispensable</a:t>
            </a:r>
            <a:r>
              <a:rPr sz="1395" spc="6" dirty="0">
                <a:solidFill>
                  <a:srgbClr val="333333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7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que</a:t>
            </a:r>
            <a:r>
              <a:rPr sz="1395" spc="-61" dirty="0">
                <a:solidFill>
                  <a:srgbClr val="3A3A3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5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asegura</a:t>
            </a:r>
            <a:r>
              <a:rPr sz="1395" spc="-42" dirty="0">
                <a:solidFill>
                  <a:srgbClr val="38383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15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la </a:t>
            </a:r>
            <a:r>
              <a:rPr sz="1395" spc="-18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supervivencia</a:t>
            </a:r>
            <a:r>
              <a:rPr sz="1395" spc="30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24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legal</a:t>
            </a:r>
            <a:r>
              <a:rPr sz="1395" spc="-100" dirty="0">
                <a:solidFill>
                  <a:srgbClr val="36363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1395" spc="-82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33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1395" spc="-82" dirty="0">
                <a:solidFill>
                  <a:srgbClr val="343434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95" spc="-6" dirty="0">
                <a:solidFill>
                  <a:srgbClr val="2D2D2D"/>
                </a:solidFill>
                <a:latin typeface="Calibri" panose="020F0502020204030204"/>
                <a:cs typeface="Calibri" panose="020F0502020204030204"/>
              </a:rPr>
              <a:t>marca.</a:t>
            </a:r>
            <a:endParaRPr sz="1395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4860" y="2185035"/>
            <a:ext cx="10084435" cy="3280410"/>
          </a:xfrm>
          <a:prstGeom prst="rect">
            <a:avLst/>
          </a:prstGeom>
        </p:spPr>
        <p:txBody>
          <a:bodyPr vert="horz" wrap="square" lIns="0" tIns="4621" rIns="0" bIns="0" rtlCol="0">
            <a:noAutofit/>
          </a:bodyPr>
          <a:lstStyle/>
          <a:p>
            <a:pPr marL="7620" marR="3175" indent="-33020" algn="just">
              <a:lnSpc>
                <a:spcPct val="111000"/>
              </a:lnSpc>
              <a:spcBef>
                <a:spcPts val="35"/>
              </a:spcBef>
            </a:pPr>
            <a:r>
              <a:rPr sz="3200" i="1" spc="-27" dirty="0">
                <a:solidFill>
                  <a:srgbClr val="0F3142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Sin</a:t>
            </a:r>
            <a:r>
              <a:rPr sz="3200" i="1" spc="-67" dirty="0">
                <a:solidFill>
                  <a:srgbClr val="0F3142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33" dirty="0">
                <a:solidFill>
                  <a:srgbClr val="0A2D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importar</a:t>
            </a:r>
            <a:r>
              <a:rPr sz="3200" i="1" spc="76" dirty="0">
                <a:solidFill>
                  <a:srgbClr val="0A2D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27" dirty="0">
                <a:solidFill>
                  <a:srgbClr val="133B48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tu</a:t>
            </a:r>
            <a:r>
              <a:rPr sz="3200" i="1" spc="18" dirty="0">
                <a:solidFill>
                  <a:srgbClr val="133B48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70" dirty="0">
                <a:solidFill>
                  <a:srgbClr val="08283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tamaño</a:t>
            </a:r>
            <a:r>
              <a:rPr sz="3200" i="1" spc="-12" dirty="0">
                <a:solidFill>
                  <a:srgbClr val="08283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85" dirty="0">
                <a:solidFill>
                  <a:srgbClr val="1134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</a:t>
            </a:r>
            <a:r>
              <a:rPr sz="3200" i="1" spc="-52" dirty="0">
                <a:solidFill>
                  <a:srgbClr val="1134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64" dirty="0">
                <a:solidFill>
                  <a:srgbClr val="0C2D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sector,</a:t>
            </a:r>
            <a:r>
              <a:rPr sz="3200" i="1" spc="-173" dirty="0">
                <a:solidFill>
                  <a:srgbClr val="0C2D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76" dirty="0">
                <a:solidFill>
                  <a:srgbClr val="18384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el</a:t>
            </a:r>
            <a:r>
              <a:rPr sz="3200" i="1" spc="-115" dirty="0">
                <a:solidFill>
                  <a:srgbClr val="18384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21" dirty="0">
                <a:solidFill>
                  <a:srgbClr val="163648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complionce</a:t>
            </a:r>
            <a:r>
              <a:rPr sz="3200" i="1" spc="55" dirty="0">
                <a:solidFill>
                  <a:srgbClr val="163648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dirty="0">
                <a:solidFill>
                  <a:srgbClr val="0E34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es</a:t>
            </a:r>
            <a:r>
              <a:rPr sz="3200" i="1" spc="12" dirty="0">
                <a:solidFill>
                  <a:srgbClr val="0E34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06" dirty="0">
                <a:solidFill>
                  <a:srgbClr val="0E3342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uno </a:t>
            </a:r>
            <a:r>
              <a:rPr sz="3200" i="1" spc="97" dirty="0">
                <a:solidFill>
                  <a:srgbClr val="073A4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realidad</a:t>
            </a:r>
            <a:r>
              <a:rPr sz="3200" i="1" spc="3" dirty="0">
                <a:solidFill>
                  <a:srgbClr val="073A4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21" dirty="0">
                <a:solidFill>
                  <a:srgbClr val="082F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y</a:t>
            </a:r>
            <a:r>
              <a:rPr sz="3200" i="1" spc="-24" dirty="0">
                <a:solidFill>
                  <a:srgbClr val="082F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85" dirty="0">
                <a:solidFill>
                  <a:srgbClr val="032D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lo</a:t>
            </a:r>
            <a:r>
              <a:rPr sz="3200" i="1" spc="-58" dirty="0">
                <a:solidFill>
                  <a:srgbClr val="032D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03" dirty="0">
                <a:solidFill>
                  <a:srgbClr val="00233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efectividad</a:t>
            </a:r>
            <a:r>
              <a:rPr sz="3200" i="1" spc="39" dirty="0">
                <a:solidFill>
                  <a:srgbClr val="00233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dirty="0">
                <a:solidFill>
                  <a:srgbClr val="012A3B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es</a:t>
            </a:r>
            <a:r>
              <a:rPr sz="3200" i="1" spc="9" dirty="0">
                <a:solidFill>
                  <a:srgbClr val="012A3B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dirty="0">
                <a:solidFill>
                  <a:srgbClr val="0A2F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tu</a:t>
            </a:r>
            <a:r>
              <a:rPr sz="3200" i="1" spc="255" dirty="0">
                <a:solidFill>
                  <a:srgbClr val="0A2F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00" dirty="0">
                <a:solidFill>
                  <a:srgbClr val="082A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garantía</a:t>
            </a:r>
            <a:r>
              <a:rPr sz="3200" i="1" spc="139" dirty="0">
                <a:solidFill>
                  <a:srgbClr val="082A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09" dirty="0">
                <a:solidFill>
                  <a:srgbClr val="052F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paro</a:t>
            </a:r>
            <a:r>
              <a:rPr sz="3200" i="1" spc="21" dirty="0">
                <a:solidFill>
                  <a:srgbClr val="052F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06" dirty="0">
                <a:solidFill>
                  <a:srgbClr val="052F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blindor</a:t>
            </a:r>
            <a:r>
              <a:rPr sz="3200" i="1" spc="82" dirty="0">
                <a:solidFill>
                  <a:srgbClr val="052F4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94" dirty="0">
                <a:solidFill>
                  <a:srgbClr val="072D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tu </a:t>
            </a:r>
            <a:r>
              <a:rPr sz="3200" i="1" spc="85" dirty="0">
                <a:solidFill>
                  <a:srgbClr val="082F4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negocio</a:t>
            </a:r>
            <a:r>
              <a:rPr sz="3200" i="1" spc="33" dirty="0">
                <a:solidFill>
                  <a:srgbClr val="082F4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85" dirty="0">
                <a:solidFill>
                  <a:srgbClr val="052F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de</a:t>
            </a:r>
            <a:r>
              <a:rPr sz="3200" i="1" spc="-82" dirty="0">
                <a:solidFill>
                  <a:srgbClr val="052F3F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76" dirty="0">
                <a:solidFill>
                  <a:srgbClr val="0E31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sanciones</a:t>
            </a:r>
            <a:r>
              <a:rPr sz="3200" i="1" spc="167" dirty="0">
                <a:solidFill>
                  <a:srgbClr val="0E31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67" dirty="0">
                <a:solidFill>
                  <a:srgbClr val="082D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penales</a:t>
            </a:r>
            <a:r>
              <a:rPr sz="3200" i="1" spc="85" dirty="0">
                <a:solidFill>
                  <a:srgbClr val="082D3D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76" dirty="0">
                <a:solidFill>
                  <a:srgbClr val="032F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y</a:t>
            </a:r>
            <a:r>
              <a:rPr sz="3200" i="1" spc="15" dirty="0">
                <a:solidFill>
                  <a:srgbClr val="032F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85" dirty="0">
                <a:solidFill>
                  <a:srgbClr val="0C334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de</a:t>
            </a:r>
            <a:r>
              <a:rPr sz="3200" i="1" spc="-82" dirty="0">
                <a:solidFill>
                  <a:srgbClr val="0C3346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52" dirty="0" err="1">
                <a:solidFill>
                  <a:srgbClr val="0C38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riesgo</a:t>
            </a:r>
            <a:r>
              <a:rPr sz="3200" i="1" spc="115" dirty="0">
                <a:solidFill>
                  <a:srgbClr val="0C38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200" i="1" spc="100" dirty="0" err="1">
                <a:solidFill>
                  <a:srgbClr val="0C38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reput</a:t>
            </a:r>
            <a:r>
              <a:rPr lang="en-US" sz="3200" i="1" spc="100" dirty="0" err="1">
                <a:solidFill>
                  <a:srgbClr val="0C38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acional</a:t>
            </a:r>
            <a:r>
              <a:rPr lang="en-US" sz="3200" i="1" spc="100" dirty="0">
                <a:solidFill>
                  <a:srgbClr val="0C3844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sz="3200" i="1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0" y="736600"/>
            <a:ext cx="7403465" cy="26117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i="1">
                <a:solidFill>
                  <a:schemeClr val="tx1"/>
                </a:solidFill>
                <a:uFillTx/>
                <a:ea typeface="Malgun Gothic" panose="020B0503020000020004" charset="-127"/>
              </a:rPr>
              <a:t>MUCHISIMAS GRACIAS!!!</a:t>
            </a: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673600" y="3797935"/>
            <a:ext cx="6875780" cy="1303020"/>
          </a:xfrm>
          <a:prstGeom prst="rect">
            <a:avLst/>
          </a:prstGeom>
        </p:spPr>
        <p:txBody>
          <a:bodyPr vert="horz" lIns="91440" tIns="45720" rIns="91440" bIns="45720" rtlCol="0">
            <a:normAutofit fontScale="57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buNone/>
            </a:pPr>
            <a:r>
              <a:rPr lang="en-US" sz="6000" b="1" i="1">
                <a:solidFill>
                  <a:schemeClr val="tx1"/>
                </a:solidFill>
                <a:uFillTx/>
                <a:ea typeface="Malgun Gothic" panose="020B0503020000020004" charset="-127"/>
              </a:rPr>
              <a:t>RUTH DE LOS SANTOS MAZARA</a:t>
            </a:r>
          </a:p>
          <a:p>
            <a:pPr marL="0" indent="0" fontAlgn="ctr">
              <a:buNone/>
            </a:pPr>
            <a:r>
              <a:rPr lang="en-US" sz="6000" b="1" i="1">
                <a:solidFill>
                  <a:schemeClr val="tx1"/>
                </a:solidFill>
                <a:uFillTx/>
                <a:ea typeface="Malgun Gothic" panose="020B0503020000020004" charset="-127"/>
              </a:rPr>
              <a:t>ruthdelossantosmazara@gmail.com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" y="996315"/>
            <a:ext cx="3724910" cy="5019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417F.tmp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ppt417F.tmp</Template>
  <TotalTime>6</TotalTime>
  <Words>1675</Words>
  <Application>Microsoft Office PowerPoint</Application>
  <PresentationFormat>Panorámica</PresentationFormat>
  <Paragraphs>165</Paragraphs>
  <Slides>28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42" baseType="lpstr">
      <vt:lpstr>Malgun Gothic</vt:lpstr>
      <vt:lpstr>Abadi</vt:lpstr>
      <vt:lpstr>ADLaM Display</vt:lpstr>
      <vt:lpstr>Aptos</vt:lpstr>
      <vt:lpstr>Aptos Black</vt:lpstr>
      <vt:lpstr>Aptos Display</vt:lpstr>
      <vt:lpstr>Arial</vt:lpstr>
      <vt:lpstr>Arial MT</vt:lpstr>
      <vt:lpstr>Calibri</vt:lpstr>
      <vt:lpstr>Cambria</vt:lpstr>
      <vt:lpstr>Georgia</vt:lpstr>
      <vt:lpstr>Lucida Sans Unicode</vt:lpstr>
      <vt:lpstr>Times New Roman</vt:lpstr>
      <vt:lpstr>ppt417F.tmp</vt:lpstr>
      <vt:lpstr>Presentación de PowerPoint</vt:lpstr>
      <vt:lpstr>“Compliance 2026.   El fin del modelo tradicional. Cumplir ya no  es suficiente: hay que anticiparse”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1 LA JUSTICIA GLOBAL</vt:lpstr>
      <vt:lpstr>Presentación de PowerPoint</vt:lpstr>
      <vt:lpstr>Presentación de PowerPoint</vt:lpstr>
      <vt:lpstr>REVOLUCIÓN TECNOLÓGICA</vt:lpstr>
      <vt:lpstr>Presentación de PowerPoint</vt:lpstr>
      <vt:lpstr>Presentación de PowerPoint</vt:lpstr>
      <vt:lpstr>EL GIRO DE LA RESPONSABILIDAD</vt:lpstr>
      <vt:lpstr>EL RIESGO REPUTACIONAL</vt:lpstr>
      <vt:lpstr>LA MUERTE JURÍDICA</vt:lpstr>
      <vt:lpstr>1 EL REPROCHE CORPORATIVO</vt:lpstr>
      <vt:lpstr>DEMOSTRAR PARA ATENUAR</vt:lpstr>
      <vt:lpstr>DEMOSTRAR PARA EXIMIR</vt:lpstr>
      <vt:lpstr>Presentación de PowerPoint</vt:lpstr>
      <vt:lpstr>CONCLUSIONES CLAVES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Amin Montero Vicente</dc:creator>
  <cp:lastModifiedBy>Amin Montero Vicente</cp:lastModifiedBy>
  <cp:revision>8</cp:revision>
  <dcterms:created xsi:type="dcterms:W3CDTF">2026-06-26T12:19:00Z</dcterms:created>
  <dcterms:modified xsi:type="dcterms:W3CDTF">2026-06-26T19:34:20Z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5720D9350C554E75917DAC85A1333725_13</vt:lpwstr>
  </property>
  <property fmtid="{D5CDD505-2E9C-101B-9397-08002B2CF9AE}" pid="3" name="KSOProductBuildVer">
    <vt:lpwstr>1033-12.9.0.21555</vt:lpwstr>
  </property>
</Properties>
</file>